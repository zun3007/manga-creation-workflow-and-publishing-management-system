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charts/chart1.xml" ContentType="application/vnd.openxmlformats-officedocument.drawingml.chart+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notesMasterIdLst>
    <p:notesMasterId r:id="rId4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notesMaster" Target="notesMasters/notesMaster1.xml"/><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heme" Target="theme/theme1.xml"/><Relationship Id="rId4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Automated checks</c:v>
                </c:pt>
              </c:strCache>
            </c:strRef>
          </c:tx>
          <c:spPr>
            <a:solidFill>
              <a:srgbClr val="1E2761"/>
            </a:solidFill>
            <a:effectLst/>
          </c:spPr>
          <c:invertIfNegative val="0"/>
          <c:dLbls>
            <c:numFmt formatCode="#,##0" sourceLinked="0"/>
            <c:txPr>
              <a:bodyPr/>
              <a:lstStyle/>
              <a:p>
                <a:pPr>
                  <a:defRPr b="0" i="0" strike="noStrike" sz="1300" u="none">
                    <a:solidFill>
                      <a:srgbClr val="1E293B"/>
                    </a:solidFill>
                    <a:latin typeface="Arial"/>
                  </a:defRPr>
                </a:pPr>
              </a:p>
            </c:txPr>
            <c:showLegendKey val="0"/>
            <c:showVal val="1"/>
            <c:showCatName val="0"/>
            <c:showSerName val="0"/>
            <c:showPercent val="0"/>
            <c:showBubbleSize val="0"/>
            <c:showLeaderLines val="0"/>
          </c:dLbls>
          <c:dPt>
            <c:idx val="0"/>
            <c:invertIfNegative val="0"/>
            <c:bubble3D val="0"/>
            <c:spPr>
              <a:solidFill>
                <a:srgbClr val="1E2761"/>
              </a:solidFill>
              <a:effectLst/>
            </c:spPr>
          </c:dPt>
          <c:dPt>
            <c:idx val="1"/>
            <c:invertIfNegative val="0"/>
            <c:bubble3D val="0"/>
            <c:spPr>
              <a:solidFill>
                <a:srgbClr val="0EA5E9"/>
              </a:solidFill>
              <a:effectLst/>
            </c:spPr>
          </c:dPt>
          <c:dPt>
            <c:idx val="2"/>
            <c:invertIfNegative val="0"/>
            <c:bubble3D val="0"/>
            <c:spPr>
              <a:solidFill>
                <a:srgbClr val="10B981"/>
              </a:solidFill>
              <a:effectLst/>
            </c:spPr>
          </c:dPt>
          <c:cat>
            <c:multiLvlStrRef>
              <c:f>Sheet1!$A$2:$A$4</c:f>
              <c:multiLvlStrCache>
                <c:ptCount val="3"/>
                <c:lvl>
                  <c:pt idx="0">
                    <c:v>API tests</c:v>
                  </c:pt>
                  <c:pt idx="1">
                    <c:v>Web tests</c:v>
                  </c:pt>
                  <c:pt idx="2">
                    <c:v>Smoke assertions</c:v>
                  </c:pt>
                </c:lvl>
              </c:multiLvlStrCache>
            </c:multiLvlStrRef>
          </c:cat>
          <c:val>
            <c:numRef>
              <c:f>Sheet1!$B$2:$B$4</c:f>
              <c:numCache>
                <c:formatCode>General</c:formatCode>
                <c:ptCount val="3"/>
                <c:pt idx="0">
                  <c:v>46</c:v>
                </c:pt>
                <c:pt idx="1">
                  <c:v>124</c:v>
                </c:pt>
                <c:pt idx="2">
                  <c:v>43</c:v>
                </c:pt>
              </c:numCache>
            </c:numRef>
          </c:val>
        </c:ser>
        <c:dLbls>
          <c:numFmt formatCode="#,##0" sourceLinked="0"/>
          <c:txPr>
            <a:bodyPr/>
            <a:lstStyle/>
            <a:p>
              <a:pPr>
                <a:defRPr b="0" i="0" strike="noStrike" sz="13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EF2F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This is an internal studio operations tool that digitizes the full manga production pipeline — from a mangaka's series pitch through board approval, production, editorial review, publishing, reader-style board voting, editorial decisions, and assistant earnings/disputes. Emphasize up front that it is NOT a reader app; the audience is studio staff across five roles.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of the talk: start with the why and the operating model, then go technical (architecture, data, security), then walk each role and the concrete feature flows, cover the differentiating in-browser AI Studio, and finish with quality evidence and a live-demo 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 frames the business problem and the end-to-end operating model before any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pain is coordination and truth. A studio runs many series in parallel, each with a mangaka, assistants, an assigned editor, and board oversight. Without one system, status is ambiguous, work and versions get lost, and — critically — money (per-task pricing and assistant earnings) is tracked by hand and disputed. This platform makes the whole pipeline explicit, authoritative, and auditable.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sharply. The product is an internal operational tool — the value is in coordinating staff and money, not in serving manga to readers. AI is a built-in assist that runs in the browser, so there is no per-call cloud cost and no images leave the client. Payments are recorded and reconciled, not processed.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single diagram is the spine of the whole system. A proposal is approved by the board, which creates a Series. The mangaka builds chapters → pages → regions, then creates priced tasks. Assistants submit work; the mangaka reviews it; the assigned editor reviews the chapter; it is published. After publishing, the board runs voting periods that compute a ranking and a risk level, which inform an editorial decision (continue / change frequency / hiatus / cancel). Earnings accrue along the way and can be disputed. Every arrow here maps to a real endpoint and a real status transition.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roles, each with its own profile, navigation, and re-skinned dashboard. Mangaka and Assistant are the production pair; the Tantou (assigned) Editor is the quality gate; the Editorial Board is governance — both the front gate (approvals) and the steering wheel (voting and decisions); Admin runs accounts and adjudicates earnings disputes. RBAC is enforced by JWT plus role guards on every endpoint.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2 is the technical architecture: the monorepo, the stack with versions, the request lifecycle, and the small workflow state-machine engine.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shape is deliberately simple: a React SPA, a single NestJS service, and MySQL. The API uses raw parameterized SQL through a thin DbService rather than an ORM. The shared package holds the status enums and transition maps consumed by both the API (as runtime values) and the web app (imported directly via a Vite alias). The browser also hosts the drawing Studio and the optional on-device AI, which never call the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is current-generation: React 19, Vite 8, TypeScript 6 on the web (which forbids enums, hence the shared enums build to runtime values for the API side). The API is NestJS 11 on TypeScript 5.7. Persistence is deliberately raw SQL via mysql2 for transparency. The drawing core is compiled AssemblyScript to WASM, and AI inference is ONNX Runtime Web. Tests are jest on the API and vitest + React Testing Library on the web.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pnpm workspace keeps the web app, API, shared types, and the WASM drawing core in one repo with explicit dependencies. The shared package is the linchpin: status enums and their legal-transition maps are defined once and consumed by both sides, so the front and back end can never disagree about what states exist or which transitions are legal. The database schema and seed are versioned in db/ and brought up with Docker.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request carries a Bearer JWT. The JwtAuthGuard validates it and RolesGuard checks the endpoint's @Roles. The global ValidationPipe whitelists and validates the DTO, stripping unknown fields. The controller calls a service, which runs parameterized SQL through DbService (query / queryOne / insert). Errors come back in NestJS's consistent shape. This uniformity is what makes the system easy to reason about and secure by default.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correctness. Instead of scattering if-statements, each stateful entity has a transition map (e.g. SUBMITTED can only go to APPROVED or REVISION_REQUIRED). A tiny canTransition() helper guards every status change in the services. Attempting an illegal jump returns a 400 — the data model can never enter an invalid state. Six entities use this pattern; Series, Vote Period and Publication statuses are driven directly by their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3 covers the relational model and the entity lifecycles.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slide-friendly subset of the full ER diagram (the complete 29-table dictionary is in the docs). It shows the backbone: a User authors a Proposal that becomes a Series; the Series contains Chapters, which contain Pages, which carry Regions; each Region drives a priced Task that receives Submissions and can be disputed. On the governance side, a Series has Vote Periods that collect Votes, yield a Ranking, and inform a Decision. Foreign keys keep all of this consistent.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entity clusters worth knowing. Identity splits a base User from four profile tables — note that assistant earnings accrue on Assistant_Profile.total_earnings. Production is a clean hierarchy from chapter down to region, where regions become priced tasks. Annotations are polymorphic — one table annotates pages, manuscripts, or submissions. The governance cluster snapshots votes into a ranking and a decision per period.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of the six enforced lifecycles, shown as real state diagrams. Proposal is a one-way approval flow. Chapter loops back to IN_PROGRESS when the editor requests changes. Task and Submission carry the revision loop that powers iterative review between assistant and mangaka. Each arrow is exactly what canTransition() permits — these images are generated from the same transition maps the code enforces.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4 covers how identity and permissions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Users authenticate locally (email + bcrypt-hashed password) or via Google OAuth, in which case the local password is null. On success the API signs a JWT containing the user id, email, name, and role. The SPA stores it and attaches it as a Bearer token to every call. The role claim is what downstream guards use for authorization — so authentication and authorization share one token.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Authorization is endpoint-level via @Roles plus data-level via ownership checks. The matrix shows who can call each group: only mangaka author proposals and production data; only the board decides proposals, assigns editors, and runs governance; only assistants submit work and open disputes; only the assigned editor reviews chapters; only admins resolve disputes and manage users. Beyond roles, mangaka see only their own series, assistants only their own tasks, and editors only series they are assigned to. A last-admin guard prevents removing the final administrator.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5 walks each role's day-to-day: navigation, responsibilities, the endpoints they touch, and the statuses they drive.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map of who does what. Note the System itself is an actor: it sends notifications on key events, auto-prices tasks from the price rules, accrues earnings on approval, and computes rankings when a vote period closes. The next five slides drill into each human role.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Mangaka — 漫画家 · Series Author. Responsibilities: Pitch and submit series proposals; Create chapters, pages, and regions; Create priced tasks and assign assistants; Review submissions: approve or request revision. They primarily work through these endpoints: POST /api/proposals, POST /api/chapters · /pages · /regions, POST /api/tasks  (auto-priced), PATCH /api/submissions/:id/review. The statuses they move: Proposal · Chapter · Task · Submission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Assistant — アシスタント · Production Artist. Responsibilities: Pick up and start assigned tasks; Draw in the in-browser Studio (optional AI); Upload and submit work for review; Track earnings; file a dispute if needed. They primarily work through these endpoints: GET /api/tasks/mine · PATCH /:id/start, POST /api/uploads · /api/submissions, GET /api/earnings/mine, POST /api/disputes. The statuses they move: Task start/submit · Submission · Dispute (open).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Tantou Editor — 担当編集 · Series Editor. Responsibilities: See a queue scoped to assigned series only; Page through a chapter under review; Leave categorized annotations on pages; Approve the chapter or request changes. They primarily work through these endpoints: GET /api/chapters/review-queue, GET /api/chapters/:id/pages, POST /api/annotations · PATCH /:id/resolve, PATCH /api/chapters/:id/editor-review. The statuses they move: Chapter → EDITOR_APPROVED / IN_PROGRESS.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Editorial Board — 編集委員会 · Governance. Responsibilities: Approve or reject proposals (→ Series); Assign / unassign the Tantou editor; Open vote periods and cast scored votes; Close periods → ranking; record decisions. They primarily work through these endpoints: PATCH /api/proposals/:id/decision, PUT/DELETE /api/series/:id/editor, POST /api/vote-periods · /votes · /:id/close, POST /api/decisions. The statuses they move: Proposal · Vote Period · Series status.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Admin — システム管理者 · Platform Admin. Responsibilities: See a system overview / metrics; Activate users and assign roles; Guarded so the last admin can't be removed; Adjudicate earning disputes (adjust amount). They primarily work through these endpoints: GET /api/admin/overview · /users, PATCH /api/admin/users/:id, GET /api/disputes, PATCH /api/disputes/:id/review · /resolve. The statuses they move: User activation/role · Earning Dispute.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6 traces the concrete end-to-end flows with real endpoints and side effects.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front gate. A mangaka creates a proposal (DRAFT), submits it (SUBMITTED), and the board works a review queue. On APPROVED, the API transactionally creates the Series and notifies the mangaka. REJECTED ends the flow. This is where governance meets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money loop. When the mangaka creates a task, its payment is set automatically from the active price rule for that region type. The assistant starts it, optionally uses the Studio + AI, and submits. The mangaka either approves — which accrues the payment onto the assistant's total_earnings — or requests a revision, which sends the task back to IN_PROGRESS. This loop is the revision engine enforced by the Task and Submission state machines.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Drill into the review decision. Submissions follow PENDING → UNDER_REVIEW → APPROVED / REVISION_REQUIRED / REJECTED. Crucially, earnings only accrue when the mangaka approves — the service adds the task's payment_amount to the assistant's total_earnings at that moment. A revision request keeps the loop open. Later, an admin resolving a dispute can adjust the amount by a delta. These three rules — auto-price, accrue-on-approve, adjust-by-delta — are the entire earnings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steering wheel. The board opens a vote period; each member casts one scored vote (enforced by a unique key). Closing the period computes a Ranking with rank position, total score, and a risk level — and can flip the series to AT_RISK with an alert. The board then records a Decision that updates the series status. This is how the studio decides what to keep publishing.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the loop on money. An assistant sees per-task earnings and can open a dispute, which notifies admins. An admin moves it to UNDER_REVIEW and resolves it — RESOLVED or REJECTED — optionally adjusting the amount, which updates both the task's payment and the assistant's total_earnings by the delta, then notifies the assistant. Every change is explicit and traceable.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7 is the differentiator: a real drawing Studio in the browser, accelerated by WASM, with optional AI that runs entirely on-device.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Assistants don't leave the platform to draw. The Studio is a real raster editor — layers with undo/redo, a brush engine, selection and transform tools, manga-specific helpers (panels, tone, lines, symmetry), text and speech bubbles, and import/export. The pixel-heavy operations are compiled from AssemblyScript to WebAssembly so it performs well without a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standout feature. AI assists run with ONNX Runtime Web inside web workers — panel detection with a YOLO model, smart selection with MobileSAM, and colorization with a DeOldify model — with a fast heuristic fallback when models aren't loaded. Because everything runs on-device, manuscript artwork never leaves the browser (a real privacy win for unpublished work) and there is no per-inference cloud bill. Models are lazy-loaded only when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8 is the evidence of quality, the honest backlog, and a demo 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Quality isn't claimed, it's measured. The API has 46 jest tests and builds clean; the web app has 124 vitest tests plus a passing TypeScript project build; and three live smoke scripts exercise the real API against the real database end-to-end, with 43 assertions and zero failures. These caught integration bugs that mocked unit tests missed. The whole thing integrates through pull request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about scope. The full pipeline, all five roles, RBAC, notifications, the Studio + AI, and the enforced data model are shipped and verified. The backlog is mostly cross-cutting polish: wiring the Audit_Log and System_Config tables (present in the schema but not yet used), profile-edit and price-rule admin screens, and production hardening like object storage for uploads, refresh-token rotation, and rate limiting.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six-step demo that exercises the entire pipeline across four logins. Start as the board (approve + assign), switch to the mangaka (build a chapter and tasks), then the assistant (draw and submit), back to the mangaka (approve, earnings move), and finish with editor approval, publish, and a board vote + decision. The demo accounts share a throwaway local seed password.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invite questions, and run the live demo. Point the audience to the documents/ folder for the full written documentation set that backs every claim in this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612880" y="6455664"/>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latin typeface="Calibri"/>
                <a:ea typeface="Calibri"/>
                <a:cs typeface="Calibri"/>
              </a:defRPr>
            </a:lvl1pPr>
          </a:lstStyle>
          <a:p>
            <a:pPr algn="l"/>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612880" y="6455664"/>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42B"/>
        </a:solidFill>
      </p:bgPr>
    </p:bg>
    <p:spTree>
      <p:nvGrpSpPr>
        <p:cNvPr id="1" name=""/>
        <p:cNvGrpSpPr/>
        <p:nvPr/>
      </p:nvGrpSpPr>
      <p:grpSpPr>
        <a:xfrm>
          <a:off x="0" y="0"/>
          <a:ext cx="0" cy="0"/>
          <a:chOff x="0" y="0"/>
          <a:chExt cx="0" cy="0"/>
        </a:xfrm>
      </p:grpSpPr>
      <p:sp>
        <p:nvSpPr>
          <p:cNvPr id="2" name="Shape 0"/>
          <p:cNvSpPr/>
          <p:nvPr/>
        </p:nvSpPr>
        <p:spPr>
          <a:xfrm>
            <a:off x="10149840" y="-1280160"/>
            <a:ext cx="3291840" cy="3291840"/>
          </a:xfrm>
          <a:prstGeom prst="ellipse">
            <a:avLst/>
          </a:prstGeom>
          <a:solidFill>
            <a:srgbClr val="1E2761"/>
          </a:solidFill>
          <a:ln/>
        </p:spPr>
      </p:sp>
      <p:sp>
        <p:nvSpPr>
          <p:cNvPr id="3" name="Shape 1"/>
          <p:cNvSpPr/>
          <p:nvPr/>
        </p:nvSpPr>
        <p:spPr>
          <a:xfrm>
            <a:off x="-1005840" y="5120640"/>
            <a:ext cx="3108960" cy="3108960"/>
          </a:xfrm>
          <a:prstGeom prst="ellipse">
            <a:avLst/>
          </a:prstGeom>
          <a:solidFill>
            <a:srgbClr val="20204A"/>
          </a:solidFill>
          <a:ln/>
        </p:spPr>
      </p:sp>
      <p:sp>
        <p:nvSpPr>
          <p:cNvPr id="4" name="Text 2"/>
          <p:cNvSpPr/>
          <p:nvPr/>
        </p:nvSpPr>
        <p:spPr>
          <a:xfrm>
            <a:off x="822960" y="1097280"/>
            <a:ext cx="10058400" cy="365760"/>
          </a:xfrm>
          <a:prstGeom prst="rect">
            <a:avLst/>
          </a:prstGeom>
          <a:noFill/>
          <a:ln/>
        </p:spPr>
        <p:txBody>
          <a:bodyPr wrap="square" lIns="0" tIns="0" rIns="0" bIns="0" rtlCol="0" anchor="ctr"/>
          <a:lstStyle/>
          <a:p>
            <a:pPr indent="0" marL="0">
              <a:buNone/>
            </a:pPr>
            <a:r>
              <a:rPr lang="en-US" sz="1300" b="1" spc="300" kern="0" dirty="0">
                <a:solidFill>
                  <a:srgbClr val="FF5A5F"/>
                </a:solidFill>
                <a:latin typeface="Calibri" pitchFamily="34" charset="0"/>
                <a:ea typeface="Calibri" pitchFamily="34" charset="-122"/>
                <a:cs typeface="Calibri" pitchFamily="34" charset="-120"/>
              </a:rPr>
              <a:t>SWP391 CAPSTONE · 2026</a:t>
            </a:r>
            <a:endParaRPr lang="en-US" sz="1300" dirty="0"/>
          </a:p>
        </p:txBody>
      </p:sp>
      <p:sp>
        <p:nvSpPr>
          <p:cNvPr id="5" name="Text 3"/>
          <p:cNvSpPr/>
          <p:nvPr/>
        </p:nvSpPr>
        <p:spPr>
          <a:xfrm>
            <a:off x="786384" y="1737360"/>
            <a:ext cx="10607040" cy="2011680"/>
          </a:xfrm>
          <a:prstGeom prst="rect">
            <a:avLst/>
          </a:prstGeom>
          <a:noFill/>
          <a:ln/>
        </p:spPr>
        <p:txBody>
          <a:bodyPr wrap="square" lIns="0" tIns="0" rIns="0" bIns="0" rtlCol="0" anchor="ctr"/>
          <a:lstStyle/>
          <a:p>
            <a:pPr indent="0" marL="0">
              <a:lnSpc>
                <a:spcPct val="102000"/>
              </a:lnSpc>
              <a:buNone/>
            </a:pPr>
            <a:r>
              <a:rPr lang="en-US" sz="4600" b="1" dirty="0">
                <a:solidFill>
                  <a:srgbClr val="FFFFFF"/>
                </a:solidFill>
                <a:latin typeface="Georgia" pitchFamily="34" charset="0"/>
                <a:ea typeface="Georgia" pitchFamily="34" charset="-122"/>
                <a:cs typeface="Georgia" pitchFamily="34" charset="-120"/>
              </a:rPr>
              <a:t>Manga Creation Workflow &amp;</a:t>
            </a:r>
            <a:endParaRPr lang="en-US" sz="4600" dirty="0"/>
          </a:p>
          <a:p>
            <a:pPr indent="0" marL="0">
              <a:lnSpc>
                <a:spcPct val="102000"/>
              </a:lnSpc>
              <a:buNone/>
            </a:pPr>
            <a:r>
              <a:rPr lang="en-US" sz="4600" b="1" dirty="0">
                <a:solidFill>
                  <a:srgbClr val="FFFFFF"/>
                </a:solidFill>
                <a:latin typeface="Georgia" pitchFamily="34" charset="0"/>
                <a:ea typeface="Georgia" pitchFamily="34" charset="-122"/>
                <a:cs typeface="Georgia" pitchFamily="34" charset="-120"/>
              </a:rPr>
              <a:t>Publishing Management System</a:t>
            </a:r>
            <a:endParaRPr lang="en-US" sz="4600" dirty="0"/>
          </a:p>
        </p:txBody>
      </p:sp>
      <p:sp>
        <p:nvSpPr>
          <p:cNvPr id="6" name="Text 4"/>
          <p:cNvSpPr/>
          <p:nvPr/>
        </p:nvSpPr>
        <p:spPr>
          <a:xfrm>
            <a:off x="822960" y="3886200"/>
            <a:ext cx="10424160" cy="914400"/>
          </a:xfrm>
          <a:prstGeom prst="rect">
            <a:avLst/>
          </a:prstGeom>
          <a:noFill/>
          <a:ln/>
        </p:spPr>
        <p:txBody>
          <a:bodyPr wrap="square" lIns="0" tIns="0" rIns="0" bIns="0" rtlCol="0" anchor="ctr"/>
          <a:lstStyle/>
          <a:p>
            <a:pPr indent="0" marL="0">
              <a:buNone/>
            </a:pPr>
            <a:r>
              <a:rPr lang="en-US" sz="1800" dirty="0">
                <a:solidFill>
                  <a:srgbClr val="E8EDF9"/>
                </a:solidFill>
                <a:latin typeface="Calibri" pitchFamily="34" charset="0"/>
                <a:ea typeface="Calibri" pitchFamily="34" charset="-122"/>
                <a:cs typeface="Calibri" pitchFamily="34" charset="-120"/>
              </a:rPr>
              <a:t>An internal production &amp; publishing platform for a manga studio</a:t>
            </a:r>
            <a:endParaRPr lang="en-US" sz="1800" dirty="0"/>
          </a:p>
          <a:p>
            <a:pPr indent="0" marL="0">
              <a:buNone/>
            </a:pPr>
            <a:r>
              <a:rPr lang="en-US" sz="1500" i="1" dirty="0">
                <a:solidFill>
                  <a:srgbClr val="94A3B8"/>
                </a:solidFill>
                <a:latin typeface="Calibri" pitchFamily="34" charset="0"/>
                <a:ea typeface="Calibri" pitchFamily="34" charset="-122"/>
                <a:cs typeface="Calibri" pitchFamily="34" charset="-120"/>
              </a:rPr>
              <a:t>— it is an operational tool, not a manga reader.</a:t>
            </a:r>
            <a:endParaRPr lang="en-US" sz="1800" dirty="0"/>
          </a:p>
        </p:txBody>
      </p:sp>
      <p:sp>
        <p:nvSpPr>
          <p:cNvPr id="7" name="Text 5"/>
          <p:cNvSpPr/>
          <p:nvPr/>
        </p:nvSpPr>
        <p:spPr>
          <a:xfrm>
            <a:off x="822960" y="5212080"/>
            <a:ext cx="10607040" cy="4572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5 roles</a:t>
            </a:r>
            <a:pPr indent="0" marL="0">
              <a:buNone/>
            </a:pPr>
            <a:r>
              <a:rPr lang="en-US" sz="1500" dirty="0">
                <a:solidFill>
                  <a:srgbClr val="FF5A5F"/>
                </a:solidFill>
                <a:latin typeface="Calibri" pitchFamily="34" charset="0"/>
                <a:ea typeface="Calibri" pitchFamily="34" charset="-122"/>
                <a:cs typeface="Calibri" pitchFamily="34" charset="-120"/>
              </a:rPr>
              <a:t>   ·   </a:t>
            </a:r>
            <a:pPr indent="0" marL="0">
              <a:buNone/>
            </a:pPr>
            <a:r>
              <a:rPr lang="en-US" sz="1500" b="1" dirty="0">
                <a:solidFill>
                  <a:srgbClr val="FFFFFF"/>
                </a:solidFill>
                <a:latin typeface="Calibri" pitchFamily="34" charset="0"/>
                <a:ea typeface="Calibri" pitchFamily="34" charset="-122"/>
                <a:cs typeface="Calibri" pitchFamily="34" charset="-120"/>
              </a:rPr>
              <a:t>29 tables</a:t>
            </a:r>
            <a:pPr indent="0" marL="0">
              <a:buNone/>
            </a:pPr>
            <a:r>
              <a:rPr lang="en-US" sz="1500" dirty="0">
                <a:solidFill>
                  <a:srgbClr val="FF5A5F"/>
                </a:solidFill>
                <a:latin typeface="Calibri" pitchFamily="34" charset="0"/>
                <a:ea typeface="Calibri" pitchFamily="34" charset="-122"/>
                <a:cs typeface="Calibri" pitchFamily="34" charset="-120"/>
              </a:rPr>
              <a:t>   ·   </a:t>
            </a:r>
            <a:pPr indent="0" marL="0">
              <a:buNone/>
            </a:pPr>
            <a:r>
              <a:rPr lang="en-US" sz="1500" b="1" dirty="0">
                <a:solidFill>
                  <a:srgbClr val="FFFFFF"/>
                </a:solidFill>
                <a:latin typeface="Calibri" pitchFamily="34" charset="0"/>
                <a:ea typeface="Calibri" pitchFamily="34" charset="-122"/>
                <a:cs typeface="Calibri" pitchFamily="34" charset="-120"/>
              </a:rPr>
              <a:t>66 REST endpoints</a:t>
            </a:r>
            <a:pPr indent="0" marL="0">
              <a:buNone/>
            </a:pPr>
            <a:r>
              <a:rPr lang="en-US" sz="1500" dirty="0">
                <a:solidFill>
                  <a:srgbClr val="FF5A5F"/>
                </a:solidFill>
                <a:latin typeface="Calibri" pitchFamily="34" charset="0"/>
                <a:ea typeface="Calibri" pitchFamily="34" charset="-122"/>
                <a:cs typeface="Calibri" pitchFamily="34" charset="-120"/>
              </a:rPr>
              <a:t>   ·   </a:t>
            </a:r>
            <a:pPr indent="0" marL="0">
              <a:buNone/>
            </a:pPr>
            <a:r>
              <a:rPr lang="en-US" sz="1500" b="1" dirty="0">
                <a:solidFill>
                  <a:srgbClr val="FFFFFF"/>
                </a:solidFill>
                <a:latin typeface="Calibri" pitchFamily="34" charset="0"/>
                <a:ea typeface="Calibri" pitchFamily="34" charset="-122"/>
                <a:cs typeface="Calibri" pitchFamily="34" charset="-120"/>
              </a:rPr>
              <a:t>in-browser AI Studio</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Georgia" pitchFamily="34" charset="0"/>
                <a:ea typeface="Georgia" pitchFamily="34" charset="-122"/>
                <a:cs typeface="Georgia" pitchFamily="34" charset="-120"/>
              </a:rPr>
              <a:t>Agenda</a:t>
            </a:r>
            <a:endParaRPr lang="en-US" sz="3000" dirty="0"/>
          </a:p>
        </p:txBody>
      </p:sp>
      <p:sp>
        <p:nvSpPr>
          <p:cNvPr id="3" name="Shape 1"/>
          <p:cNvSpPr/>
          <p:nvPr/>
        </p:nvSpPr>
        <p:spPr>
          <a:xfrm>
            <a:off x="640080" y="1554480"/>
            <a:ext cx="566928" cy="566928"/>
          </a:xfrm>
          <a:prstGeom prst="ellipse">
            <a:avLst/>
          </a:prstGeom>
          <a:solidFill>
            <a:srgbClr val="1E2761"/>
          </a:solidFill>
          <a:ln/>
        </p:spPr>
      </p:sp>
      <p:sp>
        <p:nvSpPr>
          <p:cNvPr id="4" name="Text 2"/>
          <p:cNvSpPr/>
          <p:nvPr/>
        </p:nvSpPr>
        <p:spPr>
          <a:xfrm>
            <a:off x="640080" y="155448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01</a:t>
            </a:r>
            <a:endParaRPr lang="en-US" sz="1600" dirty="0"/>
          </a:p>
        </p:txBody>
      </p:sp>
      <p:sp>
        <p:nvSpPr>
          <p:cNvPr id="5" name="Text 3"/>
          <p:cNvSpPr/>
          <p:nvPr/>
        </p:nvSpPr>
        <p:spPr>
          <a:xfrm>
            <a:off x="1371600" y="1517904"/>
            <a:ext cx="4663440" cy="365760"/>
          </a:xfrm>
          <a:prstGeom prst="rect">
            <a:avLst/>
          </a:prstGeom>
          <a:noFill/>
          <a:ln/>
        </p:spPr>
        <p:txBody>
          <a:bodyPr wrap="square" lIns="0" tIns="0" rIns="0" bIns="0" rtlCol="0" anchor="ctr"/>
          <a:lstStyle/>
          <a:p>
            <a:pPr indent="0" marL="0">
              <a:buNone/>
            </a:pPr>
            <a:r>
              <a:rPr lang="en-US" sz="1650" b="1" dirty="0">
                <a:solidFill>
                  <a:srgbClr val="1E2761"/>
                </a:solidFill>
                <a:latin typeface="Georgia" pitchFamily="34" charset="0"/>
                <a:ea typeface="Georgia" pitchFamily="34" charset="-122"/>
                <a:cs typeface="Georgia" pitchFamily="34" charset="-120"/>
              </a:rPr>
              <a:t>The Product &amp; Why</a:t>
            </a:r>
            <a:endParaRPr lang="en-US" sz="1650" dirty="0"/>
          </a:p>
        </p:txBody>
      </p:sp>
      <p:sp>
        <p:nvSpPr>
          <p:cNvPr id="6" name="Text 4"/>
          <p:cNvSpPr/>
          <p:nvPr/>
        </p:nvSpPr>
        <p:spPr>
          <a:xfrm>
            <a:off x="1371600" y="1920240"/>
            <a:ext cx="4663440" cy="45720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What it solves and the operating model</a:t>
            </a:r>
            <a:endParaRPr lang="en-US" sz="1200" dirty="0"/>
          </a:p>
        </p:txBody>
      </p:sp>
      <p:sp>
        <p:nvSpPr>
          <p:cNvPr id="7" name="Shape 5"/>
          <p:cNvSpPr/>
          <p:nvPr/>
        </p:nvSpPr>
        <p:spPr>
          <a:xfrm>
            <a:off x="640080" y="2724912"/>
            <a:ext cx="566928" cy="566928"/>
          </a:xfrm>
          <a:prstGeom prst="ellipse">
            <a:avLst/>
          </a:prstGeom>
          <a:solidFill>
            <a:srgbClr val="1E2761"/>
          </a:solidFill>
          <a:ln/>
        </p:spPr>
      </p:sp>
      <p:sp>
        <p:nvSpPr>
          <p:cNvPr id="8" name="Text 6"/>
          <p:cNvSpPr/>
          <p:nvPr/>
        </p:nvSpPr>
        <p:spPr>
          <a:xfrm>
            <a:off x="640080" y="2724912"/>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02</a:t>
            </a:r>
            <a:endParaRPr lang="en-US" sz="1600" dirty="0"/>
          </a:p>
        </p:txBody>
      </p:sp>
      <p:sp>
        <p:nvSpPr>
          <p:cNvPr id="9" name="Text 7"/>
          <p:cNvSpPr/>
          <p:nvPr/>
        </p:nvSpPr>
        <p:spPr>
          <a:xfrm>
            <a:off x="1371600" y="2688336"/>
            <a:ext cx="4663440" cy="365760"/>
          </a:xfrm>
          <a:prstGeom prst="rect">
            <a:avLst/>
          </a:prstGeom>
          <a:noFill/>
          <a:ln/>
        </p:spPr>
        <p:txBody>
          <a:bodyPr wrap="square" lIns="0" tIns="0" rIns="0" bIns="0" rtlCol="0" anchor="ctr"/>
          <a:lstStyle/>
          <a:p>
            <a:pPr indent="0" marL="0">
              <a:buNone/>
            </a:pPr>
            <a:r>
              <a:rPr lang="en-US" sz="1650" b="1" dirty="0">
                <a:solidFill>
                  <a:srgbClr val="1E2761"/>
                </a:solidFill>
                <a:latin typeface="Georgia" pitchFamily="34" charset="0"/>
                <a:ea typeface="Georgia" pitchFamily="34" charset="-122"/>
                <a:cs typeface="Georgia" pitchFamily="34" charset="-120"/>
              </a:rPr>
              <a:t>Architecture &amp; Technology</a:t>
            </a:r>
            <a:endParaRPr lang="en-US" sz="1650" dirty="0"/>
          </a:p>
        </p:txBody>
      </p:sp>
      <p:sp>
        <p:nvSpPr>
          <p:cNvPr id="10" name="Text 8"/>
          <p:cNvSpPr/>
          <p:nvPr/>
        </p:nvSpPr>
        <p:spPr>
          <a:xfrm>
            <a:off x="1371600" y="3090672"/>
            <a:ext cx="4663440" cy="45720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Monorepo, stack, request flow, workflow engine</a:t>
            </a:r>
            <a:endParaRPr lang="en-US" sz="1200" dirty="0"/>
          </a:p>
        </p:txBody>
      </p:sp>
      <p:sp>
        <p:nvSpPr>
          <p:cNvPr id="11" name="Shape 9"/>
          <p:cNvSpPr/>
          <p:nvPr/>
        </p:nvSpPr>
        <p:spPr>
          <a:xfrm>
            <a:off x="640080" y="3895344"/>
            <a:ext cx="566928" cy="566928"/>
          </a:xfrm>
          <a:prstGeom prst="ellipse">
            <a:avLst/>
          </a:prstGeom>
          <a:solidFill>
            <a:srgbClr val="1E2761"/>
          </a:solidFill>
          <a:ln/>
        </p:spPr>
      </p:sp>
      <p:sp>
        <p:nvSpPr>
          <p:cNvPr id="12" name="Text 10"/>
          <p:cNvSpPr/>
          <p:nvPr/>
        </p:nvSpPr>
        <p:spPr>
          <a:xfrm>
            <a:off x="640080" y="3895344"/>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03</a:t>
            </a:r>
            <a:endParaRPr lang="en-US" sz="1600" dirty="0"/>
          </a:p>
        </p:txBody>
      </p:sp>
      <p:sp>
        <p:nvSpPr>
          <p:cNvPr id="13" name="Text 11"/>
          <p:cNvSpPr/>
          <p:nvPr/>
        </p:nvSpPr>
        <p:spPr>
          <a:xfrm>
            <a:off x="1371600" y="3858768"/>
            <a:ext cx="4663440" cy="365760"/>
          </a:xfrm>
          <a:prstGeom prst="rect">
            <a:avLst/>
          </a:prstGeom>
          <a:noFill/>
          <a:ln/>
        </p:spPr>
        <p:txBody>
          <a:bodyPr wrap="square" lIns="0" tIns="0" rIns="0" bIns="0" rtlCol="0" anchor="ctr"/>
          <a:lstStyle/>
          <a:p>
            <a:pPr indent="0" marL="0">
              <a:buNone/>
            </a:pPr>
            <a:r>
              <a:rPr lang="en-US" sz="1650" b="1" dirty="0">
                <a:solidFill>
                  <a:srgbClr val="1E2761"/>
                </a:solidFill>
                <a:latin typeface="Georgia" pitchFamily="34" charset="0"/>
                <a:ea typeface="Georgia" pitchFamily="34" charset="-122"/>
                <a:cs typeface="Georgia" pitchFamily="34" charset="-120"/>
              </a:rPr>
              <a:t>Data Model</a:t>
            </a:r>
            <a:endParaRPr lang="en-US" sz="1650" dirty="0"/>
          </a:p>
        </p:txBody>
      </p:sp>
      <p:sp>
        <p:nvSpPr>
          <p:cNvPr id="14" name="Text 12"/>
          <p:cNvSpPr/>
          <p:nvPr/>
        </p:nvSpPr>
        <p:spPr>
          <a:xfrm>
            <a:off x="1371600" y="4261104"/>
            <a:ext cx="4663440" cy="45720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29 tables, relationships, state machines</a:t>
            </a:r>
            <a:endParaRPr lang="en-US" sz="1200" dirty="0"/>
          </a:p>
        </p:txBody>
      </p:sp>
      <p:sp>
        <p:nvSpPr>
          <p:cNvPr id="15" name="Shape 13"/>
          <p:cNvSpPr/>
          <p:nvPr/>
        </p:nvSpPr>
        <p:spPr>
          <a:xfrm>
            <a:off x="640080" y="5065776"/>
            <a:ext cx="566928" cy="566928"/>
          </a:xfrm>
          <a:prstGeom prst="ellipse">
            <a:avLst/>
          </a:prstGeom>
          <a:solidFill>
            <a:srgbClr val="1E2761"/>
          </a:solidFill>
          <a:ln/>
        </p:spPr>
      </p:sp>
      <p:sp>
        <p:nvSpPr>
          <p:cNvPr id="16" name="Text 14"/>
          <p:cNvSpPr/>
          <p:nvPr/>
        </p:nvSpPr>
        <p:spPr>
          <a:xfrm>
            <a:off x="640080" y="5065776"/>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04</a:t>
            </a:r>
            <a:endParaRPr lang="en-US" sz="1600" dirty="0"/>
          </a:p>
        </p:txBody>
      </p:sp>
      <p:sp>
        <p:nvSpPr>
          <p:cNvPr id="17" name="Text 15"/>
          <p:cNvSpPr/>
          <p:nvPr/>
        </p:nvSpPr>
        <p:spPr>
          <a:xfrm>
            <a:off x="1371600" y="5029200"/>
            <a:ext cx="4663440" cy="365760"/>
          </a:xfrm>
          <a:prstGeom prst="rect">
            <a:avLst/>
          </a:prstGeom>
          <a:noFill/>
          <a:ln/>
        </p:spPr>
        <p:txBody>
          <a:bodyPr wrap="square" lIns="0" tIns="0" rIns="0" bIns="0" rtlCol="0" anchor="ctr"/>
          <a:lstStyle/>
          <a:p>
            <a:pPr indent="0" marL="0">
              <a:buNone/>
            </a:pPr>
            <a:r>
              <a:rPr lang="en-US" sz="1650" b="1" dirty="0">
                <a:solidFill>
                  <a:srgbClr val="1E2761"/>
                </a:solidFill>
                <a:latin typeface="Georgia" pitchFamily="34" charset="0"/>
                <a:ea typeface="Georgia" pitchFamily="34" charset="-122"/>
                <a:cs typeface="Georgia" pitchFamily="34" charset="-120"/>
              </a:rPr>
              <a:t>Security &amp; Access Control</a:t>
            </a:r>
            <a:endParaRPr lang="en-US" sz="1650" dirty="0"/>
          </a:p>
        </p:txBody>
      </p:sp>
      <p:sp>
        <p:nvSpPr>
          <p:cNvPr id="18" name="Text 16"/>
          <p:cNvSpPr/>
          <p:nvPr/>
        </p:nvSpPr>
        <p:spPr>
          <a:xfrm>
            <a:off x="1371600" y="5431536"/>
            <a:ext cx="4663440" cy="45720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JWT/OAuth and role-based permissions</a:t>
            </a:r>
            <a:endParaRPr lang="en-US" sz="1200" dirty="0"/>
          </a:p>
        </p:txBody>
      </p:sp>
      <p:sp>
        <p:nvSpPr>
          <p:cNvPr id="19" name="Shape 17"/>
          <p:cNvSpPr/>
          <p:nvPr/>
        </p:nvSpPr>
        <p:spPr>
          <a:xfrm>
            <a:off x="6309360" y="1554480"/>
            <a:ext cx="566928" cy="566928"/>
          </a:xfrm>
          <a:prstGeom prst="ellipse">
            <a:avLst/>
          </a:prstGeom>
          <a:solidFill>
            <a:srgbClr val="1E2761"/>
          </a:solidFill>
          <a:ln/>
        </p:spPr>
      </p:sp>
      <p:sp>
        <p:nvSpPr>
          <p:cNvPr id="20" name="Text 18"/>
          <p:cNvSpPr/>
          <p:nvPr/>
        </p:nvSpPr>
        <p:spPr>
          <a:xfrm>
            <a:off x="6309360" y="155448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05</a:t>
            </a:r>
            <a:endParaRPr lang="en-US" sz="1600" dirty="0"/>
          </a:p>
        </p:txBody>
      </p:sp>
      <p:sp>
        <p:nvSpPr>
          <p:cNvPr id="21" name="Text 19"/>
          <p:cNvSpPr/>
          <p:nvPr/>
        </p:nvSpPr>
        <p:spPr>
          <a:xfrm>
            <a:off x="7040880" y="1517904"/>
            <a:ext cx="4663440" cy="365760"/>
          </a:xfrm>
          <a:prstGeom prst="rect">
            <a:avLst/>
          </a:prstGeom>
          <a:noFill/>
          <a:ln/>
        </p:spPr>
        <p:txBody>
          <a:bodyPr wrap="square" lIns="0" tIns="0" rIns="0" bIns="0" rtlCol="0" anchor="ctr"/>
          <a:lstStyle/>
          <a:p>
            <a:pPr indent="0" marL="0">
              <a:buNone/>
            </a:pPr>
            <a:r>
              <a:rPr lang="en-US" sz="1650" b="1" dirty="0">
                <a:solidFill>
                  <a:srgbClr val="1E2761"/>
                </a:solidFill>
                <a:latin typeface="Georgia" pitchFamily="34" charset="0"/>
                <a:ea typeface="Georgia" pitchFamily="34" charset="-122"/>
                <a:cs typeface="Georgia" pitchFamily="34" charset="-120"/>
              </a:rPr>
              <a:t>The Five Roles in Action</a:t>
            </a:r>
            <a:endParaRPr lang="en-US" sz="1650" dirty="0"/>
          </a:p>
        </p:txBody>
      </p:sp>
      <p:sp>
        <p:nvSpPr>
          <p:cNvPr id="22" name="Text 20"/>
          <p:cNvSpPr/>
          <p:nvPr/>
        </p:nvSpPr>
        <p:spPr>
          <a:xfrm>
            <a:off x="7040880" y="1920240"/>
            <a:ext cx="4663440" cy="45720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What each role does, screen by screen</a:t>
            </a:r>
            <a:endParaRPr lang="en-US" sz="1200" dirty="0"/>
          </a:p>
        </p:txBody>
      </p:sp>
      <p:sp>
        <p:nvSpPr>
          <p:cNvPr id="23" name="Shape 21"/>
          <p:cNvSpPr/>
          <p:nvPr/>
        </p:nvSpPr>
        <p:spPr>
          <a:xfrm>
            <a:off x="6309360" y="2724912"/>
            <a:ext cx="566928" cy="566928"/>
          </a:xfrm>
          <a:prstGeom prst="ellipse">
            <a:avLst/>
          </a:prstGeom>
          <a:solidFill>
            <a:srgbClr val="1E2761"/>
          </a:solidFill>
          <a:ln/>
        </p:spPr>
      </p:sp>
      <p:sp>
        <p:nvSpPr>
          <p:cNvPr id="24" name="Text 22"/>
          <p:cNvSpPr/>
          <p:nvPr/>
        </p:nvSpPr>
        <p:spPr>
          <a:xfrm>
            <a:off x="6309360" y="2724912"/>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06</a:t>
            </a:r>
            <a:endParaRPr lang="en-US" sz="1600" dirty="0"/>
          </a:p>
        </p:txBody>
      </p:sp>
      <p:sp>
        <p:nvSpPr>
          <p:cNvPr id="25" name="Text 23"/>
          <p:cNvSpPr/>
          <p:nvPr/>
        </p:nvSpPr>
        <p:spPr>
          <a:xfrm>
            <a:off x="7040880" y="2688336"/>
            <a:ext cx="4663440" cy="365760"/>
          </a:xfrm>
          <a:prstGeom prst="rect">
            <a:avLst/>
          </a:prstGeom>
          <a:noFill/>
          <a:ln/>
        </p:spPr>
        <p:txBody>
          <a:bodyPr wrap="square" lIns="0" tIns="0" rIns="0" bIns="0" rtlCol="0" anchor="ctr"/>
          <a:lstStyle/>
          <a:p>
            <a:pPr indent="0" marL="0">
              <a:buNone/>
            </a:pPr>
            <a:r>
              <a:rPr lang="en-US" sz="1650" b="1" dirty="0">
                <a:solidFill>
                  <a:srgbClr val="1E2761"/>
                </a:solidFill>
                <a:latin typeface="Georgia" pitchFamily="34" charset="0"/>
                <a:ea typeface="Georgia" pitchFamily="34" charset="-122"/>
                <a:cs typeface="Georgia" pitchFamily="34" charset="-120"/>
              </a:rPr>
              <a:t>Key Feature Flows</a:t>
            </a:r>
            <a:endParaRPr lang="en-US" sz="1650" dirty="0"/>
          </a:p>
        </p:txBody>
      </p:sp>
      <p:sp>
        <p:nvSpPr>
          <p:cNvPr id="26" name="Text 24"/>
          <p:cNvSpPr/>
          <p:nvPr/>
        </p:nvSpPr>
        <p:spPr>
          <a:xfrm>
            <a:off x="7040880" y="3090672"/>
            <a:ext cx="4663440" cy="45720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Proposal, production, governance, disputes</a:t>
            </a:r>
            <a:endParaRPr lang="en-US" sz="1200" dirty="0"/>
          </a:p>
        </p:txBody>
      </p:sp>
      <p:sp>
        <p:nvSpPr>
          <p:cNvPr id="27" name="Shape 25"/>
          <p:cNvSpPr/>
          <p:nvPr/>
        </p:nvSpPr>
        <p:spPr>
          <a:xfrm>
            <a:off x="6309360" y="3895344"/>
            <a:ext cx="566928" cy="566928"/>
          </a:xfrm>
          <a:prstGeom prst="ellipse">
            <a:avLst/>
          </a:prstGeom>
          <a:solidFill>
            <a:srgbClr val="1E2761"/>
          </a:solidFill>
          <a:ln/>
        </p:spPr>
      </p:sp>
      <p:sp>
        <p:nvSpPr>
          <p:cNvPr id="28" name="Text 26"/>
          <p:cNvSpPr/>
          <p:nvPr/>
        </p:nvSpPr>
        <p:spPr>
          <a:xfrm>
            <a:off x="6309360" y="3895344"/>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07</a:t>
            </a:r>
            <a:endParaRPr lang="en-US" sz="1600" dirty="0"/>
          </a:p>
        </p:txBody>
      </p:sp>
      <p:sp>
        <p:nvSpPr>
          <p:cNvPr id="29" name="Text 27"/>
          <p:cNvSpPr/>
          <p:nvPr/>
        </p:nvSpPr>
        <p:spPr>
          <a:xfrm>
            <a:off x="7040880" y="3858768"/>
            <a:ext cx="4663440" cy="365760"/>
          </a:xfrm>
          <a:prstGeom prst="rect">
            <a:avLst/>
          </a:prstGeom>
          <a:noFill/>
          <a:ln/>
        </p:spPr>
        <p:txBody>
          <a:bodyPr wrap="square" lIns="0" tIns="0" rIns="0" bIns="0" rtlCol="0" anchor="ctr"/>
          <a:lstStyle/>
          <a:p>
            <a:pPr indent="0" marL="0">
              <a:buNone/>
            </a:pPr>
            <a:r>
              <a:rPr lang="en-US" sz="1650" b="1" dirty="0">
                <a:solidFill>
                  <a:srgbClr val="1E2761"/>
                </a:solidFill>
                <a:latin typeface="Georgia" pitchFamily="34" charset="0"/>
                <a:ea typeface="Georgia" pitchFamily="34" charset="-122"/>
                <a:cs typeface="Georgia" pitchFamily="34" charset="-120"/>
              </a:rPr>
              <a:t>Studio &amp; On-Device AI</a:t>
            </a:r>
            <a:endParaRPr lang="en-US" sz="1650" dirty="0"/>
          </a:p>
        </p:txBody>
      </p:sp>
      <p:sp>
        <p:nvSpPr>
          <p:cNvPr id="30" name="Text 28"/>
          <p:cNvSpPr/>
          <p:nvPr/>
        </p:nvSpPr>
        <p:spPr>
          <a:xfrm>
            <a:off x="7040880" y="4261104"/>
            <a:ext cx="4663440" cy="45720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In-browser drawing + ONNX assists</a:t>
            </a:r>
            <a:endParaRPr lang="en-US" sz="1200" dirty="0"/>
          </a:p>
        </p:txBody>
      </p:sp>
      <p:sp>
        <p:nvSpPr>
          <p:cNvPr id="31" name="Shape 29"/>
          <p:cNvSpPr/>
          <p:nvPr/>
        </p:nvSpPr>
        <p:spPr>
          <a:xfrm>
            <a:off x="6309360" y="5065776"/>
            <a:ext cx="566928" cy="566928"/>
          </a:xfrm>
          <a:prstGeom prst="ellipse">
            <a:avLst/>
          </a:prstGeom>
          <a:solidFill>
            <a:srgbClr val="1E2761"/>
          </a:solidFill>
          <a:ln/>
        </p:spPr>
      </p:sp>
      <p:sp>
        <p:nvSpPr>
          <p:cNvPr id="32" name="Text 30"/>
          <p:cNvSpPr/>
          <p:nvPr/>
        </p:nvSpPr>
        <p:spPr>
          <a:xfrm>
            <a:off x="6309360" y="5065776"/>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08</a:t>
            </a:r>
            <a:endParaRPr lang="en-US" sz="1600" dirty="0"/>
          </a:p>
        </p:txBody>
      </p:sp>
      <p:sp>
        <p:nvSpPr>
          <p:cNvPr id="33" name="Text 31"/>
          <p:cNvSpPr/>
          <p:nvPr/>
        </p:nvSpPr>
        <p:spPr>
          <a:xfrm>
            <a:off x="7040880" y="5029200"/>
            <a:ext cx="4663440" cy="365760"/>
          </a:xfrm>
          <a:prstGeom prst="rect">
            <a:avLst/>
          </a:prstGeom>
          <a:noFill/>
          <a:ln/>
        </p:spPr>
        <p:txBody>
          <a:bodyPr wrap="square" lIns="0" tIns="0" rIns="0" bIns="0" rtlCol="0" anchor="ctr"/>
          <a:lstStyle/>
          <a:p>
            <a:pPr indent="0" marL="0">
              <a:buNone/>
            </a:pPr>
            <a:r>
              <a:rPr lang="en-US" sz="1650" b="1" dirty="0">
                <a:solidFill>
                  <a:srgbClr val="1E2761"/>
                </a:solidFill>
                <a:latin typeface="Georgia" pitchFamily="34" charset="0"/>
                <a:ea typeface="Georgia" pitchFamily="34" charset="-122"/>
                <a:cs typeface="Georgia" pitchFamily="34" charset="-120"/>
              </a:rPr>
              <a:t>Quality &amp; Roadmap</a:t>
            </a:r>
            <a:endParaRPr lang="en-US" sz="1650" dirty="0"/>
          </a:p>
        </p:txBody>
      </p:sp>
      <p:sp>
        <p:nvSpPr>
          <p:cNvPr id="34" name="Text 32"/>
          <p:cNvSpPr/>
          <p:nvPr/>
        </p:nvSpPr>
        <p:spPr>
          <a:xfrm>
            <a:off x="7040880" y="5431536"/>
            <a:ext cx="4663440" cy="45720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Verification, backlog, live demo</a:t>
            </a:r>
            <a:endParaRPr lang="en-US" sz="1200" dirty="0"/>
          </a:p>
        </p:txBody>
      </p:sp>
      <p:sp>
        <p:nvSpPr>
          <p:cNvPr id="25" name="Slide Number Placeholder 0"/>
          <p:cNvSpPr>
            <a:spLocks noGrp="1"/>
          </p:cNvSpPr>
          <p:nvPr>
            <p:ph type="sldNum" sz="quarter" idx="4294967295"/>
          </p:nvPr>
        </p:nvSpPr>
        <p:spPr>
          <a:xfrm>
            <a:off x="11612880" y="6455664"/>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latin typeface="Calibri"/>
                <a:ea typeface="Calibri"/>
                <a:cs typeface="Calib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142B"/>
        </a:solidFill>
      </p:bgPr>
    </p:bg>
    <p:spTree>
      <p:nvGrpSpPr>
        <p:cNvPr id="1" name=""/>
        <p:cNvGrpSpPr/>
        <p:nvPr/>
      </p:nvGrpSpPr>
      <p:grpSpPr>
        <a:xfrm>
          <a:off x="0" y="0"/>
          <a:ext cx="0" cy="0"/>
          <a:chOff x="0" y="0"/>
          <a:chExt cx="0" cy="0"/>
        </a:xfrm>
      </p:grpSpPr>
      <p:sp>
        <p:nvSpPr>
          <p:cNvPr id="2" name="Text 0"/>
          <p:cNvSpPr/>
          <p:nvPr/>
        </p:nvSpPr>
        <p:spPr>
          <a:xfrm>
            <a:off x="731520" y="1280160"/>
            <a:ext cx="3657600" cy="2194560"/>
          </a:xfrm>
          <a:prstGeom prst="rect">
            <a:avLst/>
          </a:prstGeom>
          <a:noFill/>
          <a:ln/>
        </p:spPr>
        <p:txBody>
          <a:bodyPr wrap="square" lIns="0" tIns="0" rIns="0" bIns="0" rtlCol="0" anchor="ctr"/>
          <a:lstStyle/>
          <a:p>
            <a:pPr indent="0" marL="0">
              <a:buNone/>
            </a:pPr>
            <a:r>
              <a:rPr lang="en-US" sz="15000" b="1" dirty="0">
                <a:solidFill>
                  <a:srgbClr val="FF5A5F"/>
                </a:solidFill>
                <a:latin typeface="Georgia" pitchFamily="34" charset="0"/>
                <a:ea typeface="Georgia" pitchFamily="34" charset="-122"/>
                <a:cs typeface="Georgia" pitchFamily="34" charset="-120"/>
              </a:rPr>
              <a:t>01</a:t>
            </a:r>
            <a:endParaRPr lang="en-US" sz="15000" dirty="0"/>
          </a:p>
        </p:txBody>
      </p:sp>
      <p:sp>
        <p:nvSpPr>
          <p:cNvPr id="3" name="Text 1"/>
          <p:cNvSpPr/>
          <p:nvPr/>
        </p:nvSpPr>
        <p:spPr>
          <a:xfrm>
            <a:off x="822960" y="3657600"/>
            <a:ext cx="10515600" cy="1097280"/>
          </a:xfrm>
          <a:prstGeom prst="rect">
            <a:avLst/>
          </a:prstGeom>
          <a:noFill/>
          <a:ln/>
        </p:spPr>
        <p:txBody>
          <a:bodyPr wrap="square" lIns="0" tIns="0" rIns="0" bIns="0"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The Product &amp; Why</a:t>
            </a:r>
            <a:endParaRPr lang="en-US" sz="4000" dirty="0"/>
          </a:p>
        </p:txBody>
      </p:sp>
      <p:sp>
        <p:nvSpPr>
          <p:cNvPr id="4" name="Text 2"/>
          <p:cNvSpPr/>
          <p:nvPr/>
        </p:nvSpPr>
        <p:spPr>
          <a:xfrm>
            <a:off x="868680" y="4709160"/>
            <a:ext cx="10058400" cy="1097280"/>
          </a:xfrm>
          <a:prstGeom prst="rect">
            <a:avLst/>
          </a:prstGeom>
          <a:noFill/>
          <a:ln/>
        </p:spPr>
        <p:txBody>
          <a:bodyPr wrap="square" lIns="0" tIns="0" rIns="0" bIns="0" rtlCol="0" anchor="ctr"/>
          <a:lstStyle/>
          <a:p>
            <a:pPr indent="0" marL="0">
              <a:buNone/>
            </a:pPr>
            <a:r>
              <a:rPr lang="en-US" sz="1600" dirty="0">
                <a:solidFill>
                  <a:srgbClr val="E8EDF9"/>
                </a:solidFill>
                <a:latin typeface="Calibri" pitchFamily="34" charset="0"/>
                <a:ea typeface="Calibri" pitchFamily="34" charset="-122"/>
                <a:cs typeface="Calibri" pitchFamily="34" charset="-120"/>
              </a:rPr>
              <a:t>Why a studio needs this, and how the pipeline works end to end</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01752"/>
            <a:ext cx="11064240" cy="274320"/>
          </a:xfrm>
          <a:prstGeom prst="rect">
            <a:avLst/>
          </a:prstGeom>
          <a:noFill/>
          <a:ln/>
        </p:spPr>
        <p:txBody>
          <a:bodyPr wrap="square" lIns="0" tIns="0" rIns="0" bIns="0" rtlCol="0" anchor="ctr"/>
          <a:lstStyle/>
          <a:p>
            <a:pPr indent="0" marL="0">
              <a:buNone/>
            </a:pPr>
            <a:r>
              <a:rPr lang="en-US" sz="1100" b="1" spc="200" kern="0" dirty="0">
                <a:solidFill>
                  <a:srgbClr val="FF5A5F"/>
                </a:solidFill>
                <a:latin typeface="Calibri" pitchFamily="34" charset="0"/>
                <a:ea typeface="Calibri" pitchFamily="34" charset="-122"/>
                <a:cs typeface="Calibri" pitchFamily="34" charset="-120"/>
              </a:rPr>
              <a:t>01 · PRODUCT</a:t>
            </a:r>
            <a:endParaRPr lang="en-US" sz="110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Georgia" pitchFamily="34" charset="0"/>
                <a:ea typeface="Georgia" pitchFamily="34" charset="-122"/>
                <a:cs typeface="Georgia" pitchFamily="34" charset="-120"/>
              </a:rPr>
              <a:t>The problem we solve</a:t>
            </a:r>
            <a:endParaRPr lang="en-US" sz="3000" dirty="0"/>
          </a:p>
        </p:txBody>
      </p:sp>
      <p:sp>
        <p:nvSpPr>
          <p:cNvPr id="4" name="Text 2"/>
          <p:cNvSpPr/>
          <p:nvPr/>
        </p:nvSpPr>
        <p:spPr>
          <a:xfrm>
            <a:off x="640080" y="1554480"/>
            <a:ext cx="6126480" cy="4389120"/>
          </a:xfrm>
          <a:prstGeom prst="rect">
            <a:avLst/>
          </a:prstGeom>
          <a:noFill/>
          <a:ln/>
        </p:spPr>
        <p:txBody>
          <a:bodyPr wrap="square" lIns="0" tIns="0" rIns="0" bIns="0" rtlCol="0" anchor="t">
            <a:spAutoFit/>
          </a:bodyPr>
          <a:lstStyle/>
          <a:p>
            <a:pPr marL="203200" indent="-203200">
              <a:spcAft>
                <a:spcPts val="1000"/>
              </a:spcAft>
              <a:buSzPct val="100000"/>
              <a:buChar char="•"/>
            </a:pPr>
            <a:r>
              <a:rPr lang="en-US" sz="1550" b="1" dirty="0">
                <a:solidFill>
                  <a:srgbClr val="1E293B"/>
                </a:solidFill>
                <a:latin typeface="Calibri" pitchFamily="34" charset="0"/>
                <a:ea typeface="Calibri" pitchFamily="34" charset="-122"/>
                <a:cs typeface="Calibri" pitchFamily="34" charset="-120"/>
              </a:rPr>
              <a:t>A manga studio coordinates many people around one series</a:t>
            </a:r>
            <a:endParaRPr lang="en-US" sz="1550" dirty="0"/>
          </a:p>
          <a:p>
            <a:pPr marL="203200" indent="-203200">
              <a:spcAft>
                <a:spcPts val="1000"/>
              </a:spcAft>
              <a:buSzPct val="100000"/>
              <a:buChar char="•"/>
            </a:pPr>
            <a:r>
              <a:rPr lang="en-US" sz="1550" b="1" dirty="0">
                <a:solidFill>
                  <a:srgbClr val="1E293B"/>
                </a:solidFill>
                <a:latin typeface="Calibri" pitchFamily="34" charset="0"/>
                <a:ea typeface="Calibri" pitchFamily="34" charset="-122"/>
                <a:cs typeface="Calibri" pitchFamily="34" charset="-120"/>
              </a:rPr>
              <a:t>Mangaka pitch series; a board decides what gets greenlit</a:t>
            </a:r>
            <a:endParaRPr lang="en-US" sz="1550" dirty="0"/>
          </a:p>
          <a:p>
            <a:pPr marL="203200" indent="-203200">
              <a:spcAft>
                <a:spcPts val="1000"/>
              </a:spcAft>
              <a:buSzPct val="100000"/>
              <a:buChar char="•"/>
            </a:pPr>
            <a:r>
              <a:rPr lang="en-US" sz="1550" b="1" dirty="0">
                <a:solidFill>
                  <a:srgbClr val="1E293B"/>
                </a:solidFill>
                <a:latin typeface="Calibri" pitchFamily="34" charset="0"/>
                <a:ea typeface="Calibri" pitchFamily="34" charset="-122"/>
                <a:cs typeface="Calibri" pitchFamily="34" charset="-120"/>
              </a:rPr>
              <a:t>Assistants do paid production work (backgrounds, characters, effects…)</a:t>
            </a:r>
            <a:endParaRPr lang="en-US" sz="1550" dirty="0"/>
          </a:p>
          <a:p>
            <a:pPr marL="203200" indent="-203200">
              <a:spcAft>
                <a:spcPts val="1000"/>
              </a:spcAft>
              <a:buSzPct val="100000"/>
              <a:buChar char="•"/>
            </a:pPr>
            <a:r>
              <a:rPr lang="en-US" sz="1550" b="1" dirty="0">
                <a:solidFill>
                  <a:srgbClr val="1E293B"/>
                </a:solidFill>
                <a:latin typeface="Calibri" pitchFamily="34" charset="0"/>
                <a:ea typeface="Calibri" pitchFamily="34" charset="-122"/>
                <a:cs typeface="Calibri" pitchFamily="34" charset="-120"/>
              </a:rPr>
              <a:t>Editors review chapters; the board governs which series continue</a:t>
            </a:r>
            <a:endParaRPr lang="en-US" sz="1550" dirty="0"/>
          </a:p>
          <a:p>
            <a:pPr marL="203200" indent="-203200">
              <a:spcAft>
                <a:spcPts val="1000"/>
              </a:spcAft>
              <a:buSzPct val="100000"/>
              <a:buChar char="•"/>
            </a:pPr>
            <a:r>
              <a:rPr lang="en-US" sz="1550" b="1" dirty="0">
                <a:solidFill>
                  <a:srgbClr val="1E293B"/>
                </a:solidFill>
                <a:latin typeface="Calibri" pitchFamily="34" charset="0"/>
                <a:ea typeface="Calibri" pitchFamily="34" charset="-122"/>
                <a:cs typeface="Calibri" pitchFamily="34" charset="-120"/>
              </a:rPr>
              <a:t>Today this lives in spreadsheets, chat and email — no single source of truth</a:t>
            </a:r>
            <a:endParaRPr lang="en-US" sz="1550" dirty="0"/>
          </a:p>
        </p:txBody>
      </p:sp>
      <p:sp>
        <p:nvSpPr>
          <p:cNvPr id="5" name="Shape 3"/>
          <p:cNvSpPr/>
          <p:nvPr/>
        </p:nvSpPr>
        <p:spPr>
          <a:xfrm>
            <a:off x="7040880" y="1554480"/>
            <a:ext cx="4572000" cy="1234440"/>
          </a:xfrm>
          <a:prstGeom prst="rect">
            <a:avLst/>
          </a:prstGeom>
          <a:solidFill>
            <a:srgbClr val="F8FAFC"/>
          </a:solidFill>
          <a:ln w="9525">
            <a:solidFill>
              <a:srgbClr val="CBD5E1"/>
            </a:solidFill>
            <a:prstDash val="solid"/>
          </a:ln>
          <a:effectLst>
            <a:outerShdw sx="100000" sy="100000" kx="0" ky="0" algn="bl" rotWithShape="0" blurRad="88900" dist="38100" dir="8100000">
              <a:srgbClr val="000000">
                <a:alpha val="16000"/>
              </a:srgbClr>
            </a:outerShdw>
          </a:effectLst>
        </p:spPr>
      </p:sp>
      <p:sp>
        <p:nvSpPr>
          <p:cNvPr id="6" name="Shape 4"/>
          <p:cNvSpPr/>
          <p:nvPr/>
        </p:nvSpPr>
        <p:spPr>
          <a:xfrm>
            <a:off x="7040880" y="1554480"/>
            <a:ext cx="64008" cy="1234440"/>
          </a:xfrm>
          <a:prstGeom prst="rect">
            <a:avLst/>
          </a:prstGeom>
          <a:solidFill>
            <a:srgbClr val="FF5A5F"/>
          </a:solidFill>
          <a:ln/>
        </p:spPr>
      </p:sp>
      <p:sp>
        <p:nvSpPr>
          <p:cNvPr id="7" name="Text 5"/>
          <p:cNvSpPr/>
          <p:nvPr/>
        </p:nvSpPr>
        <p:spPr>
          <a:xfrm>
            <a:off x="7269480" y="1719072"/>
            <a:ext cx="4206240" cy="365760"/>
          </a:xfrm>
          <a:prstGeom prst="rect">
            <a:avLst/>
          </a:prstGeom>
          <a:noFill/>
          <a:ln/>
        </p:spPr>
        <p:txBody>
          <a:bodyPr wrap="square" lIns="0" tIns="0" rIns="0" bIns="0" rtlCol="0" anchor="ctr"/>
          <a:lstStyle/>
          <a:p>
            <a:pPr indent="0" marL="0">
              <a:buNone/>
            </a:pPr>
            <a:r>
              <a:rPr lang="en-US" sz="1500" b="1" dirty="0">
                <a:solidFill>
                  <a:srgbClr val="1E2761"/>
                </a:solidFill>
                <a:latin typeface="Georgia" pitchFamily="34" charset="0"/>
                <a:ea typeface="Georgia" pitchFamily="34" charset="-122"/>
                <a:cs typeface="Georgia" pitchFamily="34" charset="-120"/>
              </a:rPr>
              <a:t>Lost work &amp; versions</a:t>
            </a:r>
            <a:endParaRPr lang="en-US" sz="1500" dirty="0"/>
          </a:p>
        </p:txBody>
      </p:sp>
      <p:sp>
        <p:nvSpPr>
          <p:cNvPr id="8" name="Text 6"/>
          <p:cNvSpPr/>
          <p:nvPr/>
        </p:nvSpPr>
        <p:spPr>
          <a:xfrm>
            <a:off x="7269480" y="2121408"/>
            <a:ext cx="4206240" cy="548640"/>
          </a:xfrm>
          <a:prstGeom prst="rect">
            <a:avLst/>
          </a:prstGeom>
          <a:noFill/>
          <a:ln/>
        </p:spPr>
        <p:txBody>
          <a:bodyPr wrap="square" lIns="0" tIns="0" rIns="0" bIns="0" rtlCol="0" anchor="ctr"/>
          <a:lstStyle/>
          <a:p>
            <a:pPr indent="0" marL="0">
              <a:buNone/>
            </a:pPr>
            <a:r>
              <a:rPr lang="en-US" sz="1250" dirty="0">
                <a:solidFill>
                  <a:srgbClr val="64748B"/>
                </a:solidFill>
                <a:latin typeface="Calibri" pitchFamily="34" charset="0"/>
                <a:ea typeface="Calibri" pitchFamily="34" charset="-122"/>
                <a:cs typeface="Calibri" pitchFamily="34" charset="-120"/>
              </a:rPr>
              <a:t>Files and approvals scattered across tools</a:t>
            </a:r>
            <a:endParaRPr lang="en-US" sz="1250" dirty="0"/>
          </a:p>
        </p:txBody>
      </p:sp>
      <p:sp>
        <p:nvSpPr>
          <p:cNvPr id="9" name="Shape 7"/>
          <p:cNvSpPr/>
          <p:nvPr/>
        </p:nvSpPr>
        <p:spPr>
          <a:xfrm>
            <a:off x="7040880" y="2971800"/>
            <a:ext cx="4572000" cy="1234440"/>
          </a:xfrm>
          <a:prstGeom prst="rect">
            <a:avLst/>
          </a:prstGeom>
          <a:solidFill>
            <a:srgbClr val="F8FAFC"/>
          </a:solidFill>
          <a:ln w="9525">
            <a:solidFill>
              <a:srgbClr val="CBD5E1"/>
            </a:solidFill>
            <a:prstDash val="solid"/>
          </a:ln>
          <a:effectLst>
            <a:outerShdw sx="100000" sy="100000" kx="0" ky="0" algn="bl" rotWithShape="0" blurRad="88900" dist="38100" dir="8100000">
              <a:srgbClr val="000000">
                <a:alpha val="16000"/>
              </a:srgbClr>
            </a:outerShdw>
          </a:effectLst>
        </p:spPr>
      </p:sp>
      <p:sp>
        <p:nvSpPr>
          <p:cNvPr id="10" name="Shape 8"/>
          <p:cNvSpPr/>
          <p:nvPr/>
        </p:nvSpPr>
        <p:spPr>
          <a:xfrm>
            <a:off x="7040880" y="2971800"/>
            <a:ext cx="64008" cy="1234440"/>
          </a:xfrm>
          <a:prstGeom prst="rect">
            <a:avLst/>
          </a:prstGeom>
          <a:solidFill>
            <a:srgbClr val="FF5A5F"/>
          </a:solidFill>
          <a:ln/>
        </p:spPr>
      </p:sp>
      <p:sp>
        <p:nvSpPr>
          <p:cNvPr id="11" name="Text 9"/>
          <p:cNvSpPr/>
          <p:nvPr/>
        </p:nvSpPr>
        <p:spPr>
          <a:xfrm>
            <a:off x="7269480" y="3136392"/>
            <a:ext cx="4206240" cy="365760"/>
          </a:xfrm>
          <a:prstGeom prst="rect">
            <a:avLst/>
          </a:prstGeom>
          <a:noFill/>
          <a:ln/>
        </p:spPr>
        <p:txBody>
          <a:bodyPr wrap="square" lIns="0" tIns="0" rIns="0" bIns="0" rtlCol="0" anchor="ctr"/>
          <a:lstStyle/>
          <a:p>
            <a:pPr indent="0" marL="0">
              <a:buNone/>
            </a:pPr>
            <a:r>
              <a:rPr lang="en-US" sz="1500" b="1" dirty="0">
                <a:solidFill>
                  <a:srgbClr val="1E2761"/>
                </a:solidFill>
                <a:latin typeface="Georgia" pitchFamily="34" charset="0"/>
                <a:ea typeface="Georgia" pitchFamily="34" charset="-122"/>
                <a:cs typeface="Georgia" pitchFamily="34" charset="-120"/>
              </a:rPr>
              <a:t>No status truth</a:t>
            </a:r>
            <a:endParaRPr lang="en-US" sz="1500" dirty="0"/>
          </a:p>
        </p:txBody>
      </p:sp>
      <p:sp>
        <p:nvSpPr>
          <p:cNvPr id="12" name="Text 10"/>
          <p:cNvSpPr/>
          <p:nvPr/>
        </p:nvSpPr>
        <p:spPr>
          <a:xfrm>
            <a:off x="7269480" y="3538728"/>
            <a:ext cx="4206240" cy="548640"/>
          </a:xfrm>
          <a:prstGeom prst="rect">
            <a:avLst/>
          </a:prstGeom>
          <a:noFill/>
          <a:ln/>
        </p:spPr>
        <p:txBody>
          <a:bodyPr wrap="square" lIns="0" tIns="0" rIns="0" bIns="0" rtlCol="0" anchor="ctr"/>
          <a:lstStyle/>
          <a:p>
            <a:pPr indent="0" marL="0">
              <a:buNone/>
            </a:pPr>
            <a:r>
              <a:rPr lang="en-US" sz="1250" dirty="0">
                <a:solidFill>
                  <a:srgbClr val="64748B"/>
                </a:solidFill>
                <a:latin typeface="Calibri" pitchFamily="34" charset="0"/>
                <a:ea typeface="Calibri" pitchFamily="34" charset="-122"/>
                <a:cs typeface="Calibri" pitchFamily="34" charset="-120"/>
              </a:rPr>
              <a:t>Nobody knows a chapter's real state</a:t>
            </a:r>
            <a:endParaRPr lang="en-US" sz="1250" dirty="0"/>
          </a:p>
        </p:txBody>
      </p:sp>
      <p:sp>
        <p:nvSpPr>
          <p:cNvPr id="13" name="Shape 11"/>
          <p:cNvSpPr/>
          <p:nvPr/>
        </p:nvSpPr>
        <p:spPr>
          <a:xfrm>
            <a:off x="7040880" y="4389120"/>
            <a:ext cx="4572000" cy="1234440"/>
          </a:xfrm>
          <a:prstGeom prst="rect">
            <a:avLst/>
          </a:prstGeom>
          <a:solidFill>
            <a:srgbClr val="F8FAFC"/>
          </a:solidFill>
          <a:ln w="9525">
            <a:solidFill>
              <a:srgbClr val="CBD5E1"/>
            </a:solidFill>
            <a:prstDash val="solid"/>
          </a:ln>
          <a:effectLst>
            <a:outerShdw sx="100000" sy="100000" kx="0" ky="0" algn="bl" rotWithShape="0" blurRad="88900" dist="38100" dir="8100000">
              <a:srgbClr val="000000">
                <a:alpha val="16000"/>
              </a:srgbClr>
            </a:outerShdw>
          </a:effectLst>
        </p:spPr>
      </p:sp>
      <p:sp>
        <p:nvSpPr>
          <p:cNvPr id="14" name="Shape 12"/>
          <p:cNvSpPr/>
          <p:nvPr/>
        </p:nvSpPr>
        <p:spPr>
          <a:xfrm>
            <a:off x="7040880" y="4389120"/>
            <a:ext cx="64008" cy="1234440"/>
          </a:xfrm>
          <a:prstGeom prst="rect">
            <a:avLst/>
          </a:prstGeom>
          <a:solidFill>
            <a:srgbClr val="FF5A5F"/>
          </a:solidFill>
          <a:ln/>
        </p:spPr>
      </p:sp>
      <p:sp>
        <p:nvSpPr>
          <p:cNvPr id="15" name="Text 13"/>
          <p:cNvSpPr/>
          <p:nvPr/>
        </p:nvSpPr>
        <p:spPr>
          <a:xfrm>
            <a:off x="7269480" y="4553712"/>
            <a:ext cx="4206240" cy="365760"/>
          </a:xfrm>
          <a:prstGeom prst="rect">
            <a:avLst/>
          </a:prstGeom>
          <a:noFill/>
          <a:ln/>
        </p:spPr>
        <p:txBody>
          <a:bodyPr wrap="square" lIns="0" tIns="0" rIns="0" bIns="0" rtlCol="0" anchor="ctr"/>
          <a:lstStyle/>
          <a:p>
            <a:pPr indent="0" marL="0">
              <a:buNone/>
            </a:pPr>
            <a:r>
              <a:rPr lang="en-US" sz="1500" b="1" dirty="0">
                <a:solidFill>
                  <a:srgbClr val="1E2761"/>
                </a:solidFill>
                <a:latin typeface="Georgia" pitchFamily="34" charset="0"/>
                <a:ea typeface="Georgia" pitchFamily="34" charset="-122"/>
                <a:cs typeface="Georgia" pitchFamily="34" charset="-120"/>
              </a:rPr>
              <a:t>Payment disputes</a:t>
            </a:r>
            <a:endParaRPr lang="en-US" sz="1500" dirty="0"/>
          </a:p>
        </p:txBody>
      </p:sp>
      <p:sp>
        <p:nvSpPr>
          <p:cNvPr id="16" name="Text 14"/>
          <p:cNvSpPr/>
          <p:nvPr/>
        </p:nvSpPr>
        <p:spPr>
          <a:xfrm>
            <a:off x="7269480" y="4956048"/>
            <a:ext cx="4206240" cy="548640"/>
          </a:xfrm>
          <a:prstGeom prst="rect">
            <a:avLst/>
          </a:prstGeom>
          <a:noFill/>
          <a:ln/>
        </p:spPr>
        <p:txBody>
          <a:bodyPr wrap="square" lIns="0" tIns="0" rIns="0" bIns="0" rtlCol="0" anchor="ctr"/>
          <a:lstStyle/>
          <a:p>
            <a:pPr indent="0" marL="0">
              <a:buNone/>
            </a:pPr>
            <a:r>
              <a:rPr lang="en-US" sz="1250" dirty="0">
                <a:solidFill>
                  <a:srgbClr val="64748B"/>
                </a:solidFill>
                <a:latin typeface="Calibri" pitchFamily="34" charset="0"/>
                <a:ea typeface="Calibri" pitchFamily="34" charset="-122"/>
                <a:cs typeface="Calibri" pitchFamily="34" charset="-120"/>
              </a:rPr>
              <a:t>Earnings computed by hand, hard to audit</a:t>
            </a:r>
            <a:endParaRPr lang="en-US" sz="1250" dirty="0"/>
          </a:p>
        </p:txBody>
      </p:sp>
      <p:sp>
        <p:nvSpPr>
          <p:cNvPr id="25" name="Slide Number Placeholder 0"/>
          <p:cNvSpPr>
            <a:spLocks noGrp="1"/>
          </p:cNvSpPr>
          <p:nvPr>
            <p:ph type="sldNum" sz="quarter" idx="4294967295"/>
          </p:nvPr>
        </p:nvSpPr>
        <p:spPr>
          <a:xfrm>
            <a:off x="11612880" y="6455664"/>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latin typeface="Calibri"/>
                <a:ea typeface="Calibri"/>
                <a:cs typeface="Calibr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01752"/>
            <a:ext cx="11064240" cy="274320"/>
          </a:xfrm>
          <a:prstGeom prst="rect">
            <a:avLst/>
          </a:prstGeom>
          <a:noFill/>
          <a:ln/>
        </p:spPr>
        <p:txBody>
          <a:bodyPr wrap="square" lIns="0" tIns="0" rIns="0" bIns="0" rtlCol="0" anchor="ctr"/>
          <a:lstStyle/>
          <a:p>
            <a:pPr indent="0" marL="0">
              <a:buNone/>
            </a:pPr>
            <a:r>
              <a:rPr lang="en-US" sz="1100" b="1" spc="200" kern="0" dirty="0">
                <a:solidFill>
                  <a:srgbClr val="FF5A5F"/>
                </a:solidFill>
                <a:latin typeface="Calibri" pitchFamily="34" charset="0"/>
                <a:ea typeface="Calibri" pitchFamily="34" charset="-122"/>
                <a:cs typeface="Calibri" pitchFamily="34" charset="-120"/>
              </a:rPr>
              <a:t>01 · PRODUCT</a:t>
            </a:r>
            <a:endParaRPr lang="en-US" sz="110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Georgia" pitchFamily="34" charset="0"/>
                <a:ea typeface="Georgia" pitchFamily="34" charset="-122"/>
                <a:cs typeface="Georgia" pitchFamily="34" charset="-120"/>
              </a:rPr>
              <a:t>What it is — and what it is not</a:t>
            </a:r>
            <a:endParaRPr lang="en-US" sz="3000" dirty="0"/>
          </a:p>
        </p:txBody>
      </p:sp>
      <p:sp>
        <p:nvSpPr>
          <p:cNvPr id="4" name="Shape 2"/>
          <p:cNvSpPr/>
          <p:nvPr/>
        </p:nvSpPr>
        <p:spPr>
          <a:xfrm>
            <a:off x="640080" y="1554480"/>
            <a:ext cx="5394960" cy="4297680"/>
          </a:xfrm>
          <a:prstGeom prst="rect">
            <a:avLst/>
          </a:prstGeom>
          <a:solidFill>
            <a:srgbClr val="F8FAFC"/>
          </a:solidFill>
          <a:ln w="9525">
            <a:solidFill>
              <a:srgbClr val="CBD5E1"/>
            </a:solidFill>
            <a:prstDash val="solid"/>
          </a:ln>
          <a:effectLst>
            <a:outerShdw sx="100000" sy="100000" kx="0" ky="0" algn="bl" rotWithShape="0" blurRad="88900" dist="38100" dir="8100000">
              <a:srgbClr val="000000">
                <a:alpha val="16000"/>
              </a:srgbClr>
            </a:outerShdw>
          </a:effectLst>
        </p:spPr>
      </p:sp>
      <p:sp>
        <p:nvSpPr>
          <p:cNvPr id="5" name="Shape 3"/>
          <p:cNvSpPr/>
          <p:nvPr/>
        </p:nvSpPr>
        <p:spPr>
          <a:xfrm>
            <a:off x="640080" y="1554480"/>
            <a:ext cx="64008" cy="4297680"/>
          </a:xfrm>
          <a:prstGeom prst="rect">
            <a:avLst/>
          </a:prstGeom>
          <a:solidFill>
            <a:srgbClr val="10B981"/>
          </a:solidFill>
          <a:ln/>
        </p:spPr>
      </p:sp>
      <p:sp>
        <p:nvSpPr>
          <p:cNvPr id="6" name="Text 4"/>
          <p:cNvSpPr/>
          <p:nvPr/>
        </p:nvSpPr>
        <p:spPr>
          <a:xfrm>
            <a:off x="868680" y="1737360"/>
            <a:ext cx="4937760" cy="365760"/>
          </a:xfrm>
          <a:prstGeom prst="rect">
            <a:avLst/>
          </a:prstGeom>
          <a:noFill/>
          <a:ln/>
        </p:spPr>
        <p:txBody>
          <a:bodyPr wrap="square" lIns="0" tIns="0" rIns="0" bIns="0" rtlCol="0" anchor="ctr"/>
          <a:lstStyle/>
          <a:p>
            <a:pPr indent="0" marL="0">
              <a:buNone/>
            </a:pPr>
            <a:r>
              <a:rPr lang="en-US" sz="1800" b="1" dirty="0">
                <a:solidFill>
                  <a:srgbClr val="10B981"/>
                </a:solidFill>
                <a:latin typeface="Georgia" pitchFamily="34" charset="0"/>
                <a:ea typeface="Georgia" pitchFamily="34" charset="-122"/>
                <a:cs typeface="Georgia" pitchFamily="34" charset="-120"/>
              </a:rPr>
              <a:t>IT IS</a:t>
            </a:r>
            <a:endParaRPr lang="en-US" sz="1800" dirty="0"/>
          </a:p>
        </p:txBody>
      </p:sp>
      <p:sp>
        <p:nvSpPr>
          <p:cNvPr id="7" name="Text 5"/>
          <p:cNvSpPr/>
          <p:nvPr/>
        </p:nvSpPr>
        <p:spPr>
          <a:xfrm>
            <a:off x="868680" y="2240280"/>
            <a:ext cx="4983480" cy="3383280"/>
          </a:xfrm>
          <a:prstGeom prst="rect">
            <a:avLst/>
          </a:prstGeom>
          <a:noFill/>
          <a:ln/>
        </p:spPr>
        <p:txBody>
          <a:bodyPr wrap="square" lIns="0" tIns="0" rIns="0" bIns="0" rtlCol="0" anchor="t">
            <a:spAutoFit/>
          </a:bodyPr>
          <a:lstStyle/>
          <a:p>
            <a:pPr marL="203200" indent="-203200">
              <a:spcAft>
                <a:spcPts val="900"/>
              </a:spcAft>
              <a:buSzPct val="100000"/>
              <a:buChar char="•"/>
            </a:pPr>
            <a:r>
              <a:rPr lang="en-US" sz="1450" b="1" dirty="0">
                <a:solidFill>
                  <a:srgbClr val="1E293B"/>
                </a:solidFill>
                <a:latin typeface="Calibri" pitchFamily="34" charset="0"/>
                <a:ea typeface="Calibri" pitchFamily="34" charset="-122"/>
                <a:cs typeface="Calibri" pitchFamily="34" charset="-120"/>
              </a:rPr>
              <a:t>An internal operations tool for studio staff</a:t>
            </a:r>
            <a:endParaRPr lang="en-US" sz="1450" dirty="0"/>
          </a:p>
          <a:p>
            <a:pPr marL="203200" indent="-203200">
              <a:spcAft>
                <a:spcPts val="900"/>
              </a:spcAft>
              <a:buSzPct val="100000"/>
              <a:buChar char="•"/>
            </a:pPr>
            <a:r>
              <a:rPr lang="en-US" sz="1450" b="1" dirty="0">
                <a:solidFill>
                  <a:srgbClr val="1E293B"/>
                </a:solidFill>
                <a:latin typeface="Calibri" pitchFamily="34" charset="0"/>
                <a:ea typeface="Calibri" pitchFamily="34" charset="-122"/>
                <a:cs typeface="Calibri" pitchFamily="34" charset="-120"/>
              </a:rPr>
              <a:t>A workflow engine for the production pipeline</a:t>
            </a:r>
            <a:endParaRPr lang="en-US" sz="1450" dirty="0"/>
          </a:p>
          <a:p>
            <a:pPr marL="203200" indent="-203200">
              <a:spcAft>
                <a:spcPts val="900"/>
              </a:spcAft>
              <a:buSzPct val="100000"/>
              <a:buChar char="•"/>
            </a:pPr>
            <a:r>
              <a:rPr lang="en-US" sz="1450" b="1" dirty="0">
                <a:solidFill>
                  <a:srgbClr val="1E293B"/>
                </a:solidFill>
                <a:latin typeface="Calibri" pitchFamily="34" charset="0"/>
                <a:ea typeface="Calibri" pitchFamily="34" charset="-122"/>
                <a:cs typeface="Calibri" pitchFamily="34" charset="-120"/>
              </a:rPr>
              <a:t>A role-based system (5 roles, RBAC)</a:t>
            </a:r>
            <a:endParaRPr lang="en-US" sz="1450" dirty="0"/>
          </a:p>
          <a:p>
            <a:pPr marL="203200" indent="-203200">
              <a:spcAft>
                <a:spcPts val="900"/>
              </a:spcAft>
              <a:buSzPct val="100000"/>
              <a:buChar char="•"/>
            </a:pPr>
            <a:r>
              <a:rPr lang="en-US" sz="1450" b="1" dirty="0">
                <a:solidFill>
                  <a:srgbClr val="1E293B"/>
                </a:solidFill>
                <a:latin typeface="Calibri" pitchFamily="34" charset="0"/>
                <a:ea typeface="Calibri" pitchFamily="34" charset="-122"/>
                <a:cs typeface="Calibri" pitchFamily="34" charset="-120"/>
              </a:rPr>
              <a:t>A pricing + earnings + dispute ledger</a:t>
            </a:r>
            <a:endParaRPr lang="en-US" sz="1450" dirty="0"/>
          </a:p>
          <a:p>
            <a:pPr marL="203200" indent="-203200">
              <a:spcAft>
                <a:spcPts val="900"/>
              </a:spcAft>
              <a:buSzPct val="100000"/>
              <a:buChar char="•"/>
            </a:pPr>
            <a:r>
              <a:rPr lang="en-US" sz="1450" b="1" dirty="0">
                <a:solidFill>
                  <a:srgbClr val="1E293B"/>
                </a:solidFill>
                <a:latin typeface="Calibri" pitchFamily="34" charset="0"/>
                <a:ea typeface="Calibri" pitchFamily="34" charset="-122"/>
                <a:cs typeface="Calibri" pitchFamily="34" charset="-120"/>
              </a:rPr>
              <a:t>A browser drawing Studio with optional AI</a:t>
            </a:r>
            <a:endParaRPr lang="en-US" sz="1450" dirty="0"/>
          </a:p>
        </p:txBody>
      </p:sp>
      <p:sp>
        <p:nvSpPr>
          <p:cNvPr id="8" name="Shape 6"/>
          <p:cNvSpPr/>
          <p:nvPr/>
        </p:nvSpPr>
        <p:spPr>
          <a:xfrm>
            <a:off x="6309360" y="1554480"/>
            <a:ext cx="5303520" cy="4297680"/>
          </a:xfrm>
          <a:prstGeom prst="rect">
            <a:avLst/>
          </a:prstGeom>
          <a:solidFill>
            <a:srgbClr val="F8FAFC"/>
          </a:solidFill>
          <a:ln w="9525">
            <a:solidFill>
              <a:srgbClr val="CBD5E1"/>
            </a:solidFill>
            <a:prstDash val="solid"/>
          </a:ln>
          <a:effectLst>
            <a:outerShdw sx="100000" sy="100000" kx="0" ky="0" algn="bl" rotWithShape="0" blurRad="88900" dist="38100" dir="8100000">
              <a:srgbClr val="000000">
                <a:alpha val="16000"/>
              </a:srgbClr>
            </a:outerShdw>
          </a:effectLst>
        </p:spPr>
      </p:sp>
      <p:sp>
        <p:nvSpPr>
          <p:cNvPr id="9" name="Shape 7"/>
          <p:cNvSpPr/>
          <p:nvPr/>
        </p:nvSpPr>
        <p:spPr>
          <a:xfrm>
            <a:off x="6309360" y="1554480"/>
            <a:ext cx="64008" cy="4297680"/>
          </a:xfrm>
          <a:prstGeom prst="rect">
            <a:avLst/>
          </a:prstGeom>
          <a:solidFill>
            <a:srgbClr val="FF5A5F"/>
          </a:solidFill>
          <a:ln/>
        </p:spPr>
      </p:sp>
      <p:sp>
        <p:nvSpPr>
          <p:cNvPr id="10" name="Text 8"/>
          <p:cNvSpPr/>
          <p:nvPr/>
        </p:nvSpPr>
        <p:spPr>
          <a:xfrm>
            <a:off x="6537960" y="1737360"/>
            <a:ext cx="4846320" cy="365760"/>
          </a:xfrm>
          <a:prstGeom prst="rect">
            <a:avLst/>
          </a:prstGeom>
          <a:noFill/>
          <a:ln/>
        </p:spPr>
        <p:txBody>
          <a:bodyPr wrap="square" lIns="0" tIns="0" rIns="0" bIns="0" rtlCol="0" anchor="ctr"/>
          <a:lstStyle/>
          <a:p>
            <a:pPr indent="0" marL="0">
              <a:buNone/>
            </a:pPr>
            <a:r>
              <a:rPr lang="en-US" sz="1800" b="1" dirty="0">
                <a:solidFill>
                  <a:srgbClr val="FF5A5F"/>
                </a:solidFill>
                <a:latin typeface="Georgia" pitchFamily="34" charset="0"/>
                <a:ea typeface="Georgia" pitchFamily="34" charset="-122"/>
                <a:cs typeface="Georgia" pitchFamily="34" charset="-120"/>
              </a:rPr>
              <a:t>IT IS NOT</a:t>
            </a:r>
            <a:endParaRPr lang="en-US" sz="1800" dirty="0"/>
          </a:p>
        </p:txBody>
      </p:sp>
      <p:sp>
        <p:nvSpPr>
          <p:cNvPr id="11" name="Text 9"/>
          <p:cNvSpPr/>
          <p:nvPr/>
        </p:nvSpPr>
        <p:spPr>
          <a:xfrm>
            <a:off x="6537960" y="2240280"/>
            <a:ext cx="4892040" cy="3383280"/>
          </a:xfrm>
          <a:prstGeom prst="rect">
            <a:avLst/>
          </a:prstGeom>
          <a:noFill/>
          <a:ln/>
        </p:spPr>
        <p:txBody>
          <a:bodyPr wrap="square" lIns="0" tIns="0" rIns="0" bIns="0" rtlCol="0" anchor="t">
            <a:spAutoFit/>
          </a:bodyPr>
          <a:lstStyle/>
          <a:p>
            <a:pPr marL="203200" indent="-203200">
              <a:spcAft>
                <a:spcPts val="900"/>
              </a:spcAft>
              <a:buSzPct val="100000"/>
              <a:buChar char="•"/>
            </a:pPr>
            <a:r>
              <a:rPr lang="en-US" sz="1450" b="1" dirty="0">
                <a:solidFill>
                  <a:srgbClr val="1E293B"/>
                </a:solidFill>
                <a:latin typeface="Calibri" pitchFamily="34" charset="0"/>
                <a:ea typeface="Calibri" pitchFamily="34" charset="-122"/>
                <a:cs typeface="Calibri" pitchFamily="34" charset="-120"/>
              </a:rPr>
              <a:t>A public manga reader / consumer app</a:t>
            </a:r>
            <a:endParaRPr lang="en-US" sz="1450" dirty="0"/>
          </a:p>
          <a:p>
            <a:pPr marL="203200" indent="-203200">
              <a:spcAft>
                <a:spcPts val="900"/>
              </a:spcAft>
              <a:buSzPct val="100000"/>
              <a:buChar char="•"/>
            </a:pPr>
            <a:r>
              <a:rPr lang="en-US" sz="1450" b="1" dirty="0">
                <a:solidFill>
                  <a:srgbClr val="1E293B"/>
                </a:solidFill>
                <a:latin typeface="Calibri" pitchFamily="34" charset="0"/>
                <a:ea typeface="Calibri" pitchFamily="34" charset="-122"/>
                <a:cs typeface="Calibri" pitchFamily="34" charset="-120"/>
              </a:rPr>
              <a:t>A payment gateway (it records, doesn't charge)</a:t>
            </a:r>
            <a:endParaRPr lang="en-US" sz="1450" dirty="0"/>
          </a:p>
          <a:p>
            <a:pPr marL="203200" indent="-203200">
              <a:spcAft>
                <a:spcPts val="900"/>
              </a:spcAft>
              <a:buSzPct val="100000"/>
              <a:buChar char="•"/>
            </a:pPr>
            <a:r>
              <a:rPr lang="en-US" sz="1450" b="1" dirty="0">
                <a:solidFill>
                  <a:srgbClr val="1E293B"/>
                </a:solidFill>
                <a:latin typeface="Calibri" pitchFamily="34" charset="0"/>
                <a:ea typeface="Calibri" pitchFamily="34" charset="-122"/>
                <a:cs typeface="Calibri" pitchFamily="34" charset="-120"/>
              </a:rPr>
              <a:t>A cloud AI service — AI runs on-device</a:t>
            </a:r>
            <a:endParaRPr lang="en-US" sz="1450" dirty="0"/>
          </a:p>
          <a:p>
            <a:pPr marL="203200" indent="-203200">
              <a:spcAft>
                <a:spcPts val="900"/>
              </a:spcAft>
              <a:buSzPct val="100000"/>
              <a:buChar char="•"/>
            </a:pPr>
            <a:r>
              <a:rPr lang="en-US" sz="1450" b="1" dirty="0">
                <a:solidFill>
                  <a:srgbClr val="1E293B"/>
                </a:solidFill>
                <a:latin typeface="Calibri" pitchFamily="34" charset="0"/>
                <a:ea typeface="Calibri" pitchFamily="34" charset="-122"/>
                <a:cs typeface="Calibri" pitchFamily="34" charset="-120"/>
              </a:rPr>
              <a:t>A CMS for marketing the manga</a:t>
            </a:r>
            <a:endParaRPr lang="en-US" sz="1450" dirty="0"/>
          </a:p>
          <a:p>
            <a:pPr marL="203200" indent="-203200">
              <a:spcAft>
                <a:spcPts val="900"/>
              </a:spcAft>
              <a:buSzPct val="100000"/>
              <a:buChar char="•"/>
            </a:pPr>
            <a:r>
              <a:rPr lang="en-US" sz="1450" b="1" dirty="0">
                <a:solidFill>
                  <a:srgbClr val="1E293B"/>
                </a:solidFill>
                <a:latin typeface="Calibri" pitchFamily="34" charset="0"/>
                <a:ea typeface="Calibri" pitchFamily="34" charset="-122"/>
                <a:cs typeface="Calibri" pitchFamily="34" charset="-120"/>
              </a:rPr>
              <a:t>Dependent on any paid third-party API</a:t>
            </a:r>
            <a:endParaRPr lang="en-US" sz="1450" dirty="0"/>
          </a:p>
        </p:txBody>
      </p:sp>
      <p:sp>
        <p:nvSpPr>
          <p:cNvPr id="25" name="Slide Number Placeholder 0"/>
          <p:cNvSpPr>
            <a:spLocks noGrp="1"/>
          </p:cNvSpPr>
          <p:nvPr>
            <p:ph type="sldNum" sz="quarter" idx="4294967295"/>
          </p:nvPr>
        </p:nvSpPr>
        <p:spPr>
          <a:xfrm>
            <a:off x="11612880" y="6455664"/>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latin typeface="Calibri"/>
                <a:ea typeface="Calibri"/>
                <a:cs typeface="Calibri"/>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01752"/>
            <a:ext cx="11064240" cy="274320"/>
          </a:xfrm>
          <a:prstGeom prst="rect">
            <a:avLst/>
          </a:prstGeom>
          <a:noFill/>
          <a:ln/>
        </p:spPr>
        <p:txBody>
          <a:bodyPr wrap="square" lIns="0" tIns="0" rIns="0" bIns="0" rtlCol="0" anchor="ctr"/>
          <a:lstStyle/>
          <a:p>
            <a:pPr indent="0" marL="0">
              <a:buNone/>
            </a:pPr>
            <a:r>
              <a:rPr lang="en-US" sz="1100" b="1" spc="200" kern="0" dirty="0">
                <a:solidFill>
                  <a:srgbClr val="FF5A5F"/>
                </a:solidFill>
                <a:latin typeface="Calibri" pitchFamily="34" charset="0"/>
                <a:ea typeface="Calibri" pitchFamily="34" charset="-122"/>
                <a:cs typeface="Calibri" pitchFamily="34" charset="-120"/>
              </a:rPr>
              <a:t>01 · PRODUCT</a:t>
            </a:r>
            <a:endParaRPr lang="en-US" sz="110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Georgia" pitchFamily="34" charset="0"/>
                <a:ea typeface="Georgia" pitchFamily="34" charset="-122"/>
                <a:cs typeface="Georgia" pitchFamily="34" charset="-120"/>
              </a:rPr>
              <a:t>The end-to-end pipeline</a:t>
            </a:r>
            <a:endParaRPr lang="en-US" sz="3000" dirty="0"/>
          </a:p>
        </p:txBody>
      </p:sp>
      <p:pic>
        <p:nvPicPr>
          <p:cNvPr id="4" name="Image 0" descr="pipeline">    </p:cNvPr>
          <p:cNvPicPr>
            <a:picLocks noChangeAspect="1"/>
          </p:cNvPicPr>
          <p:nvPr/>
        </p:nvPicPr>
        <p:blipFill>
          <a:blip r:embed="rId1"/>
          <a:stretch>
            <a:fillRect/>
          </a:stretch>
        </p:blipFill>
        <p:spPr>
          <a:xfrm>
            <a:off x="457200" y="2221576"/>
            <a:ext cx="11338560" cy="768927"/>
          </a:xfrm>
          <a:prstGeom prst="rect">
            <a:avLst/>
          </a:prstGeom>
        </p:spPr>
      </p:pic>
      <p:sp>
        <p:nvSpPr>
          <p:cNvPr id="5" name="Text 2"/>
          <p:cNvSpPr/>
          <p:nvPr/>
        </p:nvSpPr>
        <p:spPr>
          <a:xfrm>
            <a:off x="640080" y="4114800"/>
            <a:ext cx="10972800" cy="2011680"/>
          </a:xfrm>
          <a:prstGeom prst="rect">
            <a:avLst/>
          </a:prstGeom>
          <a:noFill/>
          <a:ln/>
        </p:spPr>
        <p:txBody>
          <a:bodyPr wrap="square" lIns="0" tIns="0" rIns="0" bIns="0" rtlCol="0" anchor="t">
            <a:spAutoFit/>
          </a:bodyPr>
          <a:lstStyle/>
          <a:p>
            <a:pPr marL="203200" indent="-203200">
              <a:spcAft>
                <a:spcPts val="900"/>
              </a:spcAft>
              <a:buSzPct val="100000"/>
              <a:buChar char="•"/>
            </a:pPr>
            <a:r>
              <a:rPr lang="en-US" sz="1500" b="1" dirty="0">
                <a:solidFill>
                  <a:srgbClr val="1E293B"/>
                </a:solidFill>
                <a:latin typeface="Calibri" pitchFamily="34" charset="0"/>
                <a:ea typeface="Calibri" pitchFamily="34" charset="-122"/>
                <a:cs typeface="Calibri" pitchFamily="34" charset="-120"/>
              </a:rPr>
              <a:t>One continuous flow from idea to governance to payment</a:t>
            </a:r>
            <a:endParaRPr lang="en-US" sz="1500" dirty="0"/>
          </a:p>
          <a:p>
            <a:pPr marL="203200" indent="-203200">
              <a:spcAft>
                <a:spcPts val="900"/>
              </a:spcAft>
              <a:buSzPct val="100000"/>
              <a:buChar char="•"/>
            </a:pPr>
            <a:r>
              <a:rPr lang="en-US" sz="1500" b="1" dirty="0">
                <a:solidFill>
                  <a:srgbClr val="1E293B"/>
                </a:solidFill>
                <a:latin typeface="Calibri" pitchFamily="34" charset="0"/>
                <a:ea typeface="Calibri" pitchFamily="34" charset="-122"/>
                <a:cs typeface="Calibri" pitchFamily="34" charset="-120"/>
              </a:rPr>
              <a:t>Each stage has an explicit status; illegal transitions are rejected server-side</a:t>
            </a:r>
            <a:endParaRPr lang="en-US" sz="1500" dirty="0"/>
          </a:p>
          <a:p>
            <a:pPr marL="203200" indent="-203200">
              <a:spcAft>
                <a:spcPts val="900"/>
              </a:spcAft>
              <a:buSzPct val="100000"/>
              <a:buChar char="•"/>
            </a:pPr>
            <a:r>
              <a:rPr lang="en-US" sz="1500" b="1" dirty="0">
                <a:solidFill>
                  <a:srgbClr val="1E293B"/>
                </a:solidFill>
                <a:latin typeface="Calibri" pitchFamily="34" charset="0"/>
                <a:ea typeface="Calibri" pitchFamily="34" charset="-122"/>
                <a:cs typeface="Calibri" pitchFamily="34" charset="-120"/>
              </a:rPr>
              <a:t>Approval auto-creates a Series; publishing schedules a release; voting drives ranking &amp; risk; decisions change a series' fate</a:t>
            </a:r>
            <a:endParaRPr lang="en-US" sz="1500" dirty="0"/>
          </a:p>
        </p:txBody>
      </p:sp>
      <p:sp>
        <p:nvSpPr>
          <p:cNvPr id="25" name="Slide Number Placeholder 0"/>
          <p:cNvSpPr>
            <a:spLocks noGrp="1"/>
          </p:cNvSpPr>
          <p:nvPr>
            <p:ph type="sldNum" sz="quarter" idx="4294967295"/>
          </p:nvPr>
        </p:nvSpPr>
        <p:spPr>
          <a:xfrm>
            <a:off x="11612880" y="6455664"/>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latin typeface="Calibri"/>
                <a:ea typeface="Calibri"/>
                <a:cs typeface="Calibri"/>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01752"/>
            <a:ext cx="11064240" cy="274320"/>
          </a:xfrm>
          <a:prstGeom prst="rect">
            <a:avLst/>
          </a:prstGeom>
          <a:noFill/>
          <a:ln/>
        </p:spPr>
        <p:txBody>
          <a:bodyPr wrap="square" lIns="0" tIns="0" rIns="0" bIns="0" rtlCol="0" anchor="ctr"/>
          <a:lstStyle/>
          <a:p>
            <a:pPr indent="0" marL="0">
              <a:buNone/>
            </a:pPr>
            <a:r>
              <a:rPr lang="en-US" sz="1100" b="1" spc="200" kern="0" dirty="0">
                <a:solidFill>
                  <a:srgbClr val="FF5A5F"/>
                </a:solidFill>
                <a:latin typeface="Calibri" pitchFamily="34" charset="0"/>
                <a:ea typeface="Calibri" pitchFamily="34" charset="-122"/>
                <a:cs typeface="Calibri" pitchFamily="34" charset="-120"/>
              </a:rPr>
              <a:t>01 · PRODUCT</a:t>
            </a:r>
            <a:endParaRPr lang="en-US" sz="110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Georgia" pitchFamily="34" charset="0"/>
                <a:ea typeface="Georgia" pitchFamily="34" charset="-122"/>
                <a:cs typeface="Georgia" pitchFamily="34" charset="-120"/>
              </a:rPr>
              <a:t>The five roles</a:t>
            </a:r>
            <a:endParaRPr lang="en-US" sz="3000" dirty="0"/>
          </a:p>
        </p:txBody>
      </p:sp>
      <p:sp>
        <p:nvSpPr>
          <p:cNvPr id="4" name="Shape 2"/>
          <p:cNvSpPr/>
          <p:nvPr/>
        </p:nvSpPr>
        <p:spPr>
          <a:xfrm>
            <a:off x="640080" y="1737360"/>
            <a:ext cx="2139696" cy="3840480"/>
          </a:xfrm>
          <a:prstGeom prst="rect">
            <a:avLst/>
          </a:prstGeom>
          <a:solidFill>
            <a:srgbClr val="FFFFFF"/>
          </a:solidFill>
          <a:ln w="9525">
            <a:solidFill>
              <a:srgbClr val="CBD5E1"/>
            </a:solidFill>
            <a:prstDash val="solid"/>
          </a:ln>
          <a:effectLst>
            <a:outerShdw sx="100000" sy="100000" kx="0" ky="0" algn="bl" rotWithShape="0" blurRad="88900" dist="38100" dir="8100000">
              <a:srgbClr val="000000">
                <a:alpha val="16000"/>
              </a:srgbClr>
            </a:outerShdw>
          </a:effectLst>
        </p:spPr>
      </p:sp>
      <p:sp>
        <p:nvSpPr>
          <p:cNvPr id="5" name="Shape 3"/>
          <p:cNvSpPr/>
          <p:nvPr/>
        </p:nvSpPr>
        <p:spPr>
          <a:xfrm>
            <a:off x="640080" y="1737360"/>
            <a:ext cx="2139696" cy="128016"/>
          </a:xfrm>
          <a:prstGeom prst="rect">
            <a:avLst/>
          </a:prstGeom>
          <a:solidFill>
            <a:srgbClr val="7C3AED"/>
          </a:solidFill>
          <a:ln/>
        </p:spPr>
      </p:sp>
      <p:sp>
        <p:nvSpPr>
          <p:cNvPr id="6" name="Shape 4"/>
          <p:cNvSpPr/>
          <p:nvPr/>
        </p:nvSpPr>
        <p:spPr>
          <a:xfrm>
            <a:off x="1325880" y="2194560"/>
            <a:ext cx="768096" cy="768096"/>
          </a:xfrm>
          <a:prstGeom prst="ellipse">
            <a:avLst/>
          </a:prstGeom>
          <a:solidFill>
            <a:srgbClr val="7C3AED"/>
          </a:solidFill>
          <a:ln/>
        </p:spPr>
      </p:sp>
      <p:sp>
        <p:nvSpPr>
          <p:cNvPr id="7" name="Text 5"/>
          <p:cNvSpPr/>
          <p:nvPr/>
        </p:nvSpPr>
        <p:spPr>
          <a:xfrm>
            <a:off x="1325880" y="2194560"/>
            <a:ext cx="768096" cy="768096"/>
          </a:xfrm>
          <a:prstGeom prst="rect">
            <a:avLst/>
          </a:prstGeom>
          <a:noFill/>
          <a:ln/>
        </p:spPr>
        <p:txBody>
          <a:bodyPr wrap="square" lIns="0" tIns="0" rIns="0" bIns="0" rtlCol="0" anchor="ctr"/>
          <a:lstStyle/>
          <a:p>
            <a:pPr algn="ctr" indent="0" marL="0">
              <a:buNone/>
            </a:pPr>
            <a:r>
              <a:rPr lang="en-US" sz="3000" b="1" dirty="0">
                <a:solidFill>
                  <a:srgbClr val="FFFFFF"/>
                </a:solidFill>
                <a:latin typeface="Georgia" pitchFamily="34" charset="0"/>
                <a:ea typeface="Georgia" pitchFamily="34" charset="-122"/>
                <a:cs typeface="Georgia" pitchFamily="34" charset="-120"/>
              </a:rPr>
              <a:t>M</a:t>
            </a:r>
            <a:endParaRPr lang="en-US" sz="3000" dirty="0"/>
          </a:p>
        </p:txBody>
      </p:sp>
      <p:sp>
        <p:nvSpPr>
          <p:cNvPr id="8" name="Text 6"/>
          <p:cNvSpPr/>
          <p:nvPr/>
        </p:nvSpPr>
        <p:spPr>
          <a:xfrm>
            <a:off x="749808" y="3154680"/>
            <a:ext cx="1920240" cy="640080"/>
          </a:xfrm>
          <a:prstGeom prst="rect">
            <a:avLst/>
          </a:prstGeom>
          <a:noFill/>
          <a:ln/>
        </p:spPr>
        <p:txBody>
          <a:bodyPr wrap="square" lIns="0" tIns="0" rIns="0" bIns="0" rtlCol="0" anchor="ctr"/>
          <a:lstStyle/>
          <a:p>
            <a:pPr algn="ctr" indent="0" marL="0">
              <a:buNone/>
            </a:pPr>
            <a:r>
              <a:rPr lang="en-US" sz="1550" b="1" dirty="0">
                <a:solidFill>
                  <a:srgbClr val="1E2761"/>
                </a:solidFill>
                <a:latin typeface="Georgia" pitchFamily="34" charset="0"/>
                <a:ea typeface="Georgia" pitchFamily="34" charset="-122"/>
                <a:cs typeface="Georgia" pitchFamily="34" charset="-120"/>
              </a:rPr>
              <a:t>Mangaka</a:t>
            </a:r>
            <a:endParaRPr lang="en-US" sz="1550" dirty="0"/>
          </a:p>
        </p:txBody>
      </p:sp>
      <p:sp>
        <p:nvSpPr>
          <p:cNvPr id="9" name="Text 7"/>
          <p:cNvSpPr/>
          <p:nvPr/>
        </p:nvSpPr>
        <p:spPr>
          <a:xfrm>
            <a:off x="768096" y="3794760"/>
            <a:ext cx="1883664" cy="914400"/>
          </a:xfrm>
          <a:prstGeom prst="rect">
            <a:avLst/>
          </a:prstGeom>
          <a:noFill/>
          <a:ln/>
        </p:spPr>
        <p:txBody>
          <a:bodyPr wrap="square" lIns="0" tIns="0" rIns="0" bIns="0" rtlCol="0" anchor="ctr"/>
          <a:lstStyle/>
          <a:p>
            <a:pPr algn="ctr" indent="0" marL="0">
              <a:buNone/>
            </a:pPr>
            <a:r>
              <a:rPr lang="en-US" sz="1250" dirty="0">
                <a:solidFill>
                  <a:srgbClr val="1E293B"/>
                </a:solidFill>
                <a:latin typeface="Calibri" pitchFamily="34" charset="0"/>
                <a:ea typeface="Calibri" pitchFamily="34" charset="-122"/>
                <a:cs typeface="Calibri" pitchFamily="34" charset="-120"/>
              </a:rPr>
              <a:t>Author &amp; produce series</a:t>
            </a:r>
            <a:endParaRPr lang="en-US" sz="1250" dirty="0"/>
          </a:p>
        </p:txBody>
      </p:sp>
      <p:sp>
        <p:nvSpPr>
          <p:cNvPr id="10" name="Text 8"/>
          <p:cNvSpPr/>
          <p:nvPr/>
        </p:nvSpPr>
        <p:spPr>
          <a:xfrm>
            <a:off x="768096" y="4709160"/>
            <a:ext cx="1883664" cy="777240"/>
          </a:xfrm>
          <a:prstGeom prst="rect">
            <a:avLst/>
          </a:prstGeom>
          <a:noFill/>
          <a:ln/>
        </p:spPr>
        <p:txBody>
          <a:bodyPr wrap="square" lIns="0" tIns="0" rIns="0" bIns="0" rtlCol="0" anchor="ctr"/>
          <a:lstStyle/>
          <a:p>
            <a:pPr algn="ctr" indent="0" marL="0">
              <a:buNone/>
            </a:pPr>
            <a:r>
              <a:rPr lang="en-US" sz="1100" i="1" dirty="0">
                <a:solidFill>
                  <a:srgbClr val="64748B"/>
                </a:solidFill>
                <a:latin typeface="Calibri" pitchFamily="34" charset="0"/>
                <a:ea typeface="Calibri" pitchFamily="34" charset="-122"/>
                <a:cs typeface="Calibri" pitchFamily="34" charset="-120"/>
              </a:rPr>
              <a:t>Proposals · Series · Tasks · Review</a:t>
            </a:r>
            <a:endParaRPr lang="en-US" sz="1100" dirty="0"/>
          </a:p>
        </p:txBody>
      </p:sp>
      <p:sp>
        <p:nvSpPr>
          <p:cNvPr id="11" name="Shape 9"/>
          <p:cNvSpPr/>
          <p:nvPr/>
        </p:nvSpPr>
        <p:spPr>
          <a:xfrm>
            <a:off x="2935224" y="1737360"/>
            <a:ext cx="2139696" cy="3840480"/>
          </a:xfrm>
          <a:prstGeom prst="rect">
            <a:avLst/>
          </a:prstGeom>
          <a:solidFill>
            <a:srgbClr val="FFFFFF"/>
          </a:solidFill>
          <a:ln w="9525">
            <a:solidFill>
              <a:srgbClr val="CBD5E1"/>
            </a:solidFill>
            <a:prstDash val="solid"/>
          </a:ln>
          <a:effectLst>
            <a:outerShdw sx="100000" sy="100000" kx="0" ky="0" algn="bl" rotWithShape="0" blurRad="88900" dist="38100" dir="8100000">
              <a:srgbClr val="000000">
                <a:alpha val="16000"/>
              </a:srgbClr>
            </a:outerShdw>
          </a:effectLst>
        </p:spPr>
      </p:sp>
      <p:sp>
        <p:nvSpPr>
          <p:cNvPr id="12" name="Shape 10"/>
          <p:cNvSpPr/>
          <p:nvPr/>
        </p:nvSpPr>
        <p:spPr>
          <a:xfrm>
            <a:off x="2935224" y="1737360"/>
            <a:ext cx="2139696" cy="128016"/>
          </a:xfrm>
          <a:prstGeom prst="rect">
            <a:avLst/>
          </a:prstGeom>
          <a:solidFill>
            <a:srgbClr val="0EA5E9"/>
          </a:solidFill>
          <a:ln/>
        </p:spPr>
      </p:sp>
      <p:sp>
        <p:nvSpPr>
          <p:cNvPr id="13" name="Shape 11"/>
          <p:cNvSpPr/>
          <p:nvPr/>
        </p:nvSpPr>
        <p:spPr>
          <a:xfrm>
            <a:off x="3621024" y="2194560"/>
            <a:ext cx="768096" cy="768096"/>
          </a:xfrm>
          <a:prstGeom prst="ellipse">
            <a:avLst/>
          </a:prstGeom>
          <a:solidFill>
            <a:srgbClr val="0EA5E9"/>
          </a:solidFill>
          <a:ln/>
        </p:spPr>
      </p:sp>
      <p:sp>
        <p:nvSpPr>
          <p:cNvPr id="14" name="Text 12"/>
          <p:cNvSpPr/>
          <p:nvPr/>
        </p:nvSpPr>
        <p:spPr>
          <a:xfrm>
            <a:off x="3621024" y="2194560"/>
            <a:ext cx="768096" cy="768096"/>
          </a:xfrm>
          <a:prstGeom prst="rect">
            <a:avLst/>
          </a:prstGeom>
          <a:noFill/>
          <a:ln/>
        </p:spPr>
        <p:txBody>
          <a:bodyPr wrap="square" lIns="0" tIns="0" rIns="0" bIns="0" rtlCol="0" anchor="ctr"/>
          <a:lstStyle/>
          <a:p>
            <a:pPr algn="ctr" indent="0" marL="0">
              <a:buNone/>
            </a:pPr>
            <a:r>
              <a:rPr lang="en-US" sz="3000" b="1" dirty="0">
                <a:solidFill>
                  <a:srgbClr val="FFFFFF"/>
                </a:solidFill>
                <a:latin typeface="Georgia" pitchFamily="34" charset="0"/>
                <a:ea typeface="Georgia" pitchFamily="34" charset="-122"/>
                <a:cs typeface="Georgia" pitchFamily="34" charset="-120"/>
              </a:rPr>
              <a:t>A</a:t>
            </a:r>
            <a:endParaRPr lang="en-US" sz="3000" dirty="0"/>
          </a:p>
        </p:txBody>
      </p:sp>
      <p:sp>
        <p:nvSpPr>
          <p:cNvPr id="15" name="Text 13"/>
          <p:cNvSpPr/>
          <p:nvPr/>
        </p:nvSpPr>
        <p:spPr>
          <a:xfrm>
            <a:off x="3044952" y="3154680"/>
            <a:ext cx="1920240" cy="640080"/>
          </a:xfrm>
          <a:prstGeom prst="rect">
            <a:avLst/>
          </a:prstGeom>
          <a:noFill/>
          <a:ln/>
        </p:spPr>
        <p:txBody>
          <a:bodyPr wrap="square" lIns="0" tIns="0" rIns="0" bIns="0" rtlCol="0" anchor="ctr"/>
          <a:lstStyle/>
          <a:p>
            <a:pPr algn="ctr" indent="0" marL="0">
              <a:buNone/>
            </a:pPr>
            <a:r>
              <a:rPr lang="en-US" sz="1550" b="1" dirty="0">
                <a:solidFill>
                  <a:srgbClr val="1E2761"/>
                </a:solidFill>
                <a:latin typeface="Georgia" pitchFamily="34" charset="0"/>
                <a:ea typeface="Georgia" pitchFamily="34" charset="-122"/>
                <a:cs typeface="Georgia" pitchFamily="34" charset="-120"/>
              </a:rPr>
              <a:t>Assistant</a:t>
            </a:r>
            <a:endParaRPr lang="en-US" sz="1550" dirty="0"/>
          </a:p>
        </p:txBody>
      </p:sp>
      <p:sp>
        <p:nvSpPr>
          <p:cNvPr id="16" name="Text 14"/>
          <p:cNvSpPr/>
          <p:nvPr/>
        </p:nvSpPr>
        <p:spPr>
          <a:xfrm>
            <a:off x="3063240" y="3794760"/>
            <a:ext cx="1883664" cy="914400"/>
          </a:xfrm>
          <a:prstGeom prst="rect">
            <a:avLst/>
          </a:prstGeom>
          <a:noFill/>
          <a:ln/>
        </p:spPr>
        <p:txBody>
          <a:bodyPr wrap="square" lIns="0" tIns="0" rIns="0" bIns="0" rtlCol="0" anchor="ctr"/>
          <a:lstStyle/>
          <a:p>
            <a:pPr algn="ctr" indent="0" marL="0">
              <a:buNone/>
            </a:pPr>
            <a:r>
              <a:rPr lang="en-US" sz="1250" dirty="0">
                <a:solidFill>
                  <a:srgbClr val="1E293B"/>
                </a:solidFill>
                <a:latin typeface="Calibri" pitchFamily="34" charset="0"/>
                <a:ea typeface="Calibri" pitchFamily="34" charset="-122"/>
                <a:cs typeface="Calibri" pitchFamily="34" charset="-120"/>
              </a:rPr>
              <a:t>Execute paid production tasks</a:t>
            </a:r>
            <a:endParaRPr lang="en-US" sz="1250" dirty="0"/>
          </a:p>
        </p:txBody>
      </p:sp>
      <p:sp>
        <p:nvSpPr>
          <p:cNvPr id="17" name="Text 15"/>
          <p:cNvSpPr/>
          <p:nvPr/>
        </p:nvSpPr>
        <p:spPr>
          <a:xfrm>
            <a:off x="3063240" y="4709160"/>
            <a:ext cx="1883664" cy="777240"/>
          </a:xfrm>
          <a:prstGeom prst="rect">
            <a:avLst/>
          </a:prstGeom>
          <a:noFill/>
          <a:ln/>
        </p:spPr>
        <p:txBody>
          <a:bodyPr wrap="square" lIns="0" tIns="0" rIns="0" bIns="0" rtlCol="0" anchor="ctr"/>
          <a:lstStyle/>
          <a:p>
            <a:pPr algn="ctr" indent="0" marL="0">
              <a:buNone/>
            </a:pPr>
            <a:r>
              <a:rPr lang="en-US" sz="1100" i="1" dirty="0">
                <a:solidFill>
                  <a:srgbClr val="64748B"/>
                </a:solidFill>
                <a:latin typeface="Calibri" pitchFamily="34" charset="0"/>
                <a:ea typeface="Calibri" pitchFamily="34" charset="-122"/>
                <a:cs typeface="Calibri" pitchFamily="34" charset="-120"/>
              </a:rPr>
              <a:t>My Tasks · Studio · Earnings</a:t>
            </a:r>
            <a:endParaRPr lang="en-US" sz="1100" dirty="0"/>
          </a:p>
        </p:txBody>
      </p:sp>
      <p:sp>
        <p:nvSpPr>
          <p:cNvPr id="18" name="Shape 16"/>
          <p:cNvSpPr/>
          <p:nvPr/>
        </p:nvSpPr>
        <p:spPr>
          <a:xfrm>
            <a:off x="5230368" y="1737360"/>
            <a:ext cx="2139696" cy="3840480"/>
          </a:xfrm>
          <a:prstGeom prst="rect">
            <a:avLst/>
          </a:prstGeom>
          <a:solidFill>
            <a:srgbClr val="FFFFFF"/>
          </a:solidFill>
          <a:ln w="9525">
            <a:solidFill>
              <a:srgbClr val="CBD5E1"/>
            </a:solidFill>
            <a:prstDash val="solid"/>
          </a:ln>
          <a:effectLst>
            <a:outerShdw sx="100000" sy="100000" kx="0" ky="0" algn="bl" rotWithShape="0" blurRad="88900" dist="38100" dir="8100000">
              <a:srgbClr val="000000">
                <a:alpha val="16000"/>
              </a:srgbClr>
            </a:outerShdw>
          </a:effectLst>
        </p:spPr>
      </p:sp>
      <p:sp>
        <p:nvSpPr>
          <p:cNvPr id="19" name="Shape 17"/>
          <p:cNvSpPr/>
          <p:nvPr/>
        </p:nvSpPr>
        <p:spPr>
          <a:xfrm>
            <a:off x="5230368" y="1737360"/>
            <a:ext cx="2139696" cy="128016"/>
          </a:xfrm>
          <a:prstGeom prst="rect">
            <a:avLst/>
          </a:prstGeom>
          <a:solidFill>
            <a:srgbClr val="F59E0B"/>
          </a:solidFill>
          <a:ln/>
        </p:spPr>
      </p:sp>
      <p:sp>
        <p:nvSpPr>
          <p:cNvPr id="20" name="Shape 18"/>
          <p:cNvSpPr/>
          <p:nvPr/>
        </p:nvSpPr>
        <p:spPr>
          <a:xfrm>
            <a:off x="5916168" y="2194560"/>
            <a:ext cx="768096" cy="768096"/>
          </a:xfrm>
          <a:prstGeom prst="ellipse">
            <a:avLst/>
          </a:prstGeom>
          <a:solidFill>
            <a:srgbClr val="F59E0B"/>
          </a:solidFill>
          <a:ln/>
        </p:spPr>
      </p:sp>
      <p:sp>
        <p:nvSpPr>
          <p:cNvPr id="21" name="Text 19"/>
          <p:cNvSpPr/>
          <p:nvPr/>
        </p:nvSpPr>
        <p:spPr>
          <a:xfrm>
            <a:off x="5916168" y="2194560"/>
            <a:ext cx="768096" cy="768096"/>
          </a:xfrm>
          <a:prstGeom prst="rect">
            <a:avLst/>
          </a:prstGeom>
          <a:noFill/>
          <a:ln/>
        </p:spPr>
        <p:txBody>
          <a:bodyPr wrap="square" lIns="0" tIns="0" rIns="0" bIns="0" rtlCol="0" anchor="ctr"/>
          <a:lstStyle/>
          <a:p>
            <a:pPr algn="ctr" indent="0" marL="0">
              <a:buNone/>
            </a:pPr>
            <a:r>
              <a:rPr lang="en-US" sz="3000" b="1" dirty="0">
                <a:solidFill>
                  <a:srgbClr val="FFFFFF"/>
                </a:solidFill>
                <a:latin typeface="Georgia" pitchFamily="34" charset="0"/>
                <a:ea typeface="Georgia" pitchFamily="34" charset="-122"/>
                <a:cs typeface="Georgia" pitchFamily="34" charset="-120"/>
              </a:rPr>
              <a:t>T</a:t>
            </a:r>
            <a:endParaRPr lang="en-US" sz="3000" dirty="0"/>
          </a:p>
        </p:txBody>
      </p:sp>
      <p:sp>
        <p:nvSpPr>
          <p:cNvPr id="22" name="Text 20"/>
          <p:cNvSpPr/>
          <p:nvPr/>
        </p:nvSpPr>
        <p:spPr>
          <a:xfrm>
            <a:off x="5340096" y="3154680"/>
            <a:ext cx="1920240" cy="640080"/>
          </a:xfrm>
          <a:prstGeom prst="rect">
            <a:avLst/>
          </a:prstGeom>
          <a:noFill/>
          <a:ln/>
        </p:spPr>
        <p:txBody>
          <a:bodyPr wrap="square" lIns="0" tIns="0" rIns="0" bIns="0" rtlCol="0" anchor="ctr"/>
          <a:lstStyle/>
          <a:p>
            <a:pPr algn="ctr" indent="0" marL="0">
              <a:buNone/>
            </a:pPr>
            <a:r>
              <a:rPr lang="en-US" sz="1550" b="1" dirty="0">
                <a:solidFill>
                  <a:srgbClr val="1E2761"/>
                </a:solidFill>
                <a:latin typeface="Georgia" pitchFamily="34" charset="0"/>
                <a:ea typeface="Georgia" pitchFamily="34" charset="-122"/>
                <a:cs typeface="Georgia" pitchFamily="34" charset="-120"/>
              </a:rPr>
              <a:t>Tantou Editor</a:t>
            </a:r>
            <a:endParaRPr lang="en-US" sz="1550" dirty="0"/>
          </a:p>
        </p:txBody>
      </p:sp>
      <p:sp>
        <p:nvSpPr>
          <p:cNvPr id="23" name="Text 21"/>
          <p:cNvSpPr/>
          <p:nvPr/>
        </p:nvSpPr>
        <p:spPr>
          <a:xfrm>
            <a:off x="5358384" y="3794760"/>
            <a:ext cx="1883664" cy="914400"/>
          </a:xfrm>
          <a:prstGeom prst="rect">
            <a:avLst/>
          </a:prstGeom>
          <a:noFill/>
          <a:ln/>
        </p:spPr>
        <p:txBody>
          <a:bodyPr wrap="square" lIns="0" tIns="0" rIns="0" bIns="0" rtlCol="0" anchor="ctr"/>
          <a:lstStyle/>
          <a:p>
            <a:pPr algn="ctr" indent="0" marL="0">
              <a:buNone/>
            </a:pPr>
            <a:r>
              <a:rPr lang="en-US" sz="1250" dirty="0">
                <a:solidFill>
                  <a:srgbClr val="1E293B"/>
                </a:solidFill>
                <a:latin typeface="Calibri" pitchFamily="34" charset="0"/>
                <a:ea typeface="Calibri" pitchFamily="34" charset="-122"/>
                <a:cs typeface="Calibri" pitchFamily="34" charset="-120"/>
              </a:rPr>
              <a:t>Review &amp; annotate chapters</a:t>
            </a:r>
            <a:endParaRPr lang="en-US" sz="1250" dirty="0"/>
          </a:p>
        </p:txBody>
      </p:sp>
      <p:sp>
        <p:nvSpPr>
          <p:cNvPr id="24" name="Text 22"/>
          <p:cNvSpPr/>
          <p:nvPr/>
        </p:nvSpPr>
        <p:spPr>
          <a:xfrm>
            <a:off x="5358384" y="4709160"/>
            <a:ext cx="1883664" cy="777240"/>
          </a:xfrm>
          <a:prstGeom prst="rect">
            <a:avLst/>
          </a:prstGeom>
          <a:noFill/>
          <a:ln/>
        </p:spPr>
        <p:txBody>
          <a:bodyPr wrap="square" lIns="0" tIns="0" rIns="0" bIns="0" rtlCol="0" anchor="ctr"/>
          <a:lstStyle/>
          <a:p>
            <a:pPr algn="ctr" indent="0" marL="0">
              <a:buNone/>
            </a:pPr>
            <a:r>
              <a:rPr lang="en-US" sz="1100" i="1" dirty="0">
                <a:solidFill>
                  <a:srgbClr val="64748B"/>
                </a:solidFill>
                <a:latin typeface="Calibri" pitchFamily="34" charset="0"/>
                <a:ea typeface="Calibri" pitchFamily="34" charset="-122"/>
                <a:cs typeface="Calibri" pitchFamily="34" charset="-120"/>
              </a:rPr>
              <a:t>Review queue · Annotations</a:t>
            </a:r>
            <a:endParaRPr lang="en-US" sz="1100" dirty="0"/>
          </a:p>
        </p:txBody>
      </p:sp>
      <p:sp>
        <p:nvSpPr>
          <p:cNvPr id="25" name="Shape 23"/>
          <p:cNvSpPr/>
          <p:nvPr/>
        </p:nvSpPr>
        <p:spPr>
          <a:xfrm>
            <a:off x="7525512" y="1737360"/>
            <a:ext cx="2139696" cy="3840480"/>
          </a:xfrm>
          <a:prstGeom prst="rect">
            <a:avLst/>
          </a:prstGeom>
          <a:solidFill>
            <a:srgbClr val="FFFFFF"/>
          </a:solidFill>
          <a:ln w="9525">
            <a:solidFill>
              <a:srgbClr val="CBD5E1"/>
            </a:solidFill>
            <a:prstDash val="solid"/>
          </a:ln>
          <a:effectLst>
            <a:outerShdw sx="100000" sy="100000" kx="0" ky="0" algn="bl" rotWithShape="0" blurRad="88900" dist="38100" dir="8100000">
              <a:srgbClr val="000000">
                <a:alpha val="16000"/>
              </a:srgbClr>
            </a:outerShdw>
          </a:effectLst>
        </p:spPr>
      </p:sp>
      <p:sp>
        <p:nvSpPr>
          <p:cNvPr id="26" name="Shape 24"/>
          <p:cNvSpPr/>
          <p:nvPr/>
        </p:nvSpPr>
        <p:spPr>
          <a:xfrm>
            <a:off x="7525512" y="1737360"/>
            <a:ext cx="2139696" cy="128016"/>
          </a:xfrm>
          <a:prstGeom prst="rect">
            <a:avLst/>
          </a:prstGeom>
          <a:solidFill>
            <a:srgbClr val="10B981"/>
          </a:solidFill>
          <a:ln/>
        </p:spPr>
      </p:sp>
      <p:sp>
        <p:nvSpPr>
          <p:cNvPr id="27" name="Shape 25"/>
          <p:cNvSpPr/>
          <p:nvPr/>
        </p:nvSpPr>
        <p:spPr>
          <a:xfrm>
            <a:off x="8211312" y="2194560"/>
            <a:ext cx="768096" cy="768096"/>
          </a:xfrm>
          <a:prstGeom prst="ellipse">
            <a:avLst/>
          </a:prstGeom>
          <a:solidFill>
            <a:srgbClr val="10B981"/>
          </a:solidFill>
          <a:ln/>
        </p:spPr>
      </p:sp>
      <p:sp>
        <p:nvSpPr>
          <p:cNvPr id="28" name="Text 26"/>
          <p:cNvSpPr/>
          <p:nvPr/>
        </p:nvSpPr>
        <p:spPr>
          <a:xfrm>
            <a:off x="8211312" y="2194560"/>
            <a:ext cx="768096" cy="768096"/>
          </a:xfrm>
          <a:prstGeom prst="rect">
            <a:avLst/>
          </a:prstGeom>
          <a:noFill/>
          <a:ln/>
        </p:spPr>
        <p:txBody>
          <a:bodyPr wrap="square" lIns="0" tIns="0" rIns="0" bIns="0" rtlCol="0" anchor="ctr"/>
          <a:lstStyle/>
          <a:p>
            <a:pPr algn="ctr" indent="0" marL="0">
              <a:buNone/>
            </a:pPr>
            <a:r>
              <a:rPr lang="en-US" sz="3000" b="1" dirty="0">
                <a:solidFill>
                  <a:srgbClr val="FFFFFF"/>
                </a:solidFill>
                <a:latin typeface="Georgia" pitchFamily="34" charset="0"/>
                <a:ea typeface="Georgia" pitchFamily="34" charset="-122"/>
                <a:cs typeface="Georgia" pitchFamily="34" charset="-120"/>
              </a:rPr>
              <a:t>E</a:t>
            </a:r>
            <a:endParaRPr lang="en-US" sz="3000" dirty="0"/>
          </a:p>
        </p:txBody>
      </p:sp>
      <p:sp>
        <p:nvSpPr>
          <p:cNvPr id="29" name="Text 27"/>
          <p:cNvSpPr/>
          <p:nvPr/>
        </p:nvSpPr>
        <p:spPr>
          <a:xfrm>
            <a:off x="7635240" y="3154680"/>
            <a:ext cx="1920240" cy="640080"/>
          </a:xfrm>
          <a:prstGeom prst="rect">
            <a:avLst/>
          </a:prstGeom>
          <a:noFill/>
          <a:ln/>
        </p:spPr>
        <p:txBody>
          <a:bodyPr wrap="square" lIns="0" tIns="0" rIns="0" bIns="0" rtlCol="0" anchor="ctr"/>
          <a:lstStyle/>
          <a:p>
            <a:pPr algn="ctr" indent="0" marL="0">
              <a:buNone/>
            </a:pPr>
            <a:r>
              <a:rPr lang="en-US" sz="1550" b="1" dirty="0">
                <a:solidFill>
                  <a:srgbClr val="1E2761"/>
                </a:solidFill>
                <a:latin typeface="Georgia" pitchFamily="34" charset="0"/>
                <a:ea typeface="Georgia" pitchFamily="34" charset="-122"/>
                <a:cs typeface="Georgia" pitchFamily="34" charset="-120"/>
              </a:rPr>
              <a:t>Editorial Board</a:t>
            </a:r>
            <a:endParaRPr lang="en-US" sz="1550" dirty="0"/>
          </a:p>
        </p:txBody>
      </p:sp>
      <p:sp>
        <p:nvSpPr>
          <p:cNvPr id="30" name="Text 28"/>
          <p:cNvSpPr/>
          <p:nvPr/>
        </p:nvSpPr>
        <p:spPr>
          <a:xfrm>
            <a:off x="7653528" y="3794760"/>
            <a:ext cx="1883664" cy="914400"/>
          </a:xfrm>
          <a:prstGeom prst="rect">
            <a:avLst/>
          </a:prstGeom>
          <a:noFill/>
          <a:ln/>
        </p:spPr>
        <p:txBody>
          <a:bodyPr wrap="square" lIns="0" tIns="0" rIns="0" bIns="0" rtlCol="0" anchor="ctr"/>
          <a:lstStyle/>
          <a:p>
            <a:pPr algn="ctr" indent="0" marL="0">
              <a:buNone/>
            </a:pPr>
            <a:r>
              <a:rPr lang="en-US" sz="1250" dirty="0">
                <a:solidFill>
                  <a:srgbClr val="1E293B"/>
                </a:solidFill>
                <a:latin typeface="Calibri" pitchFamily="34" charset="0"/>
                <a:ea typeface="Calibri" pitchFamily="34" charset="-122"/>
                <a:cs typeface="Calibri" pitchFamily="34" charset="-120"/>
              </a:rPr>
              <a:t>Govern: approve, vote, decide</a:t>
            </a:r>
            <a:endParaRPr lang="en-US" sz="1250" dirty="0"/>
          </a:p>
        </p:txBody>
      </p:sp>
      <p:sp>
        <p:nvSpPr>
          <p:cNvPr id="31" name="Text 29"/>
          <p:cNvSpPr/>
          <p:nvPr/>
        </p:nvSpPr>
        <p:spPr>
          <a:xfrm>
            <a:off x="7653528" y="4709160"/>
            <a:ext cx="1883664" cy="777240"/>
          </a:xfrm>
          <a:prstGeom prst="rect">
            <a:avLst/>
          </a:prstGeom>
          <a:noFill/>
          <a:ln/>
        </p:spPr>
        <p:txBody>
          <a:bodyPr wrap="square" lIns="0" tIns="0" rIns="0" bIns="0" rtlCol="0" anchor="ctr"/>
          <a:lstStyle/>
          <a:p>
            <a:pPr algn="ctr" indent="0" marL="0">
              <a:buNone/>
            </a:pPr>
            <a:r>
              <a:rPr lang="en-US" sz="1100" i="1" dirty="0">
                <a:solidFill>
                  <a:srgbClr val="64748B"/>
                </a:solidFill>
                <a:latin typeface="Calibri" pitchFamily="34" charset="0"/>
                <a:ea typeface="Calibri" pitchFamily="34" charset="-122"/>
                <a:cs typeface="Calibri" pitchFamily="34" charset="-120"/>
              </a:rPr>
              <a:t>Proposals · Assign · Rankings</a:t>
            </a:r>
            <a:endParaRPr lang="en-US" sz="1100" dirty="0"/>
          </a:p>
        </p:txBody>
      </p:sp>
      <p:sp>
        <p:nvSpPr>
          <p:cNvPr id="32" name="Shape 30"/>
          <p:cNvSpPr/>
          <p:nvPr/>
        </p:nvSpPr>
        <p:spPr>
          <a:xfrm>
            <a:off x="9820656" y="1737360"/>
            <a:ext cx="2139696" cy="3840480"/>
          </a:xfrm>
          <a:prstGeom prst="rect">
            <a:avLst/>
          </a:prstGeom>
          <a:solidFill>
            <a:srgbClr val="FFFFFF"/>
          </a:solidFill>
          <a:ln w="9525">
            <a:solidFill>
              <a:srgbClr val="CBD5E1"/>
            </a:solidFill>
            <a:prstDash val="solid"/>
          </a:ln>
          <a:effectLst>
            <a:outerShdw sx="100000" sy="100000" kx="0" ky="0" algn="bl" rotWithShape="0" blurRad="88900" dist="38100" dir="8100000">
              <a:srgbClr val="000000">
                <a:alpha val="16000"/>
              </a:srgbClr>
            </a:outerShdw>
          </a:effectLst>
        </p:spPr>
      </p:sp>
      <p:sp>
        <p:nvSpPr>
          <p:cNvPr id="33" name="Shape 31"/>
          <p:cNvSpPr/>
          <p:nvPr/>
        </p:nvSpPr>
        <p:spPr>
          <a:xfrm>
            <a:off x="9820656" y="1737360"/>
            <a:ext cx="2139696" cy="128016"/>
          </a:xfrm>
          <a:prstGeom prst="rect">
            <a:avLst/>
          </a:prstGeom>
          <a:solidFill>
            <a:srgbClr val="EF4444"/>
          </a:solidFill>
          <a:ln/>
        </p:spPr>
      </p:sp>
      <p:sp>
        <p:nvSpPr>
          <p:cNvPr id="34" name="Shape 32"/>
          <p:cNvSpPr/>
          <p:nvPr/>
        </p:nvSpPr>
        <p:spPr>
          <a:xfrm>
            <a:off x="10506456" y="2194560"/>
            <a:ext cx="768096" cy="768096"/>
          </a:xfrm>
          <a:prstGeom prst="ellipse">
            <a:avLst/>
          </a:prstGeom>
          <a:solidFill>
            <a:srgbClr val="EF4444"/>
          </a:solidFill>
          <a:ln/>
        </p:spPr>
      </p:sp>
      <p:sp>
        <p:nvSpPr>
          <p:cNvPr id="35" name="Text 33"/>
          <p:cNvSpPr/>
          <p:nvPr/>
        </p:nvSpPr>
        <p:spPr>
          <a:xfrm>
            <a:off x="10506456" y="2194560"/>
            <a:ext cx="768096" cy="768096"/>
          </a:xfrm>
          <a:prstGeom prst="rect">
            <a:avLst/>
          </a:prstGeom>
          <a:noFill/>
          <a:ln/>
        </p:spPr>
        <p:txBody>
          <a:bodyPr wrap="square" lIns="0" tIns="0" rIns="0" bIns="0" rtlCol="0" anchor="ctr"/>
          <a:lstStyle/>
          <a:p>
            <a:pPr algn="ctr" indent="0" marL="0">
              <a:buNone/>
            </a:pPr>
            <a:r>
              <a:rPr lang="en-US" sz="3000" b="1" dirty="0">
                <a:solidFill>
                  <a:srgbClr val="FFFFFF"/>
                </a:solidFill>
                <a:latin typeface="Georgia" pitchFamily="34" charset="0"/>
                <a:ea typeface="Georgia" pitchFamily="34" charset="-122"/>
                <a:cs typeface="Georgia" pitchFamily="34" charset="-120"/>
              </a:rPr>
              <a:t>A</a:t>
            </a:r>
            <a:endParaRPr lang="en-US" sz="3000" dirty="0"/>
          </a:p>
        </p:txBody>
      </p:sp>
      <p:sp>
        <p:nvSpPr>
          <p:cNvPr id="36" name="Text 34"/>
          <p:cNvSpPr/>
          <p:nvPr/>
        </p:nvSpPr>
        <p:spPr>
          <a:xfrm>
            <a:off x="9930384" y="3154680"/>
            <a:ext cx="1920240" cy="640080"/>
          </a:xfrm>
          <a:prstGeom prst="rect">
            <a:avLst/>
          </a:prstGeom>
          <a:noFill/>
          <a:ln/>
        </p:spPr>
        <p:txBody>
          <a:bodyPr wrap="square" lIns="0" tIns="0" rIns="0" bIns="0" rtlCol="0" anchor="ctr"/>
          <a:lstStyle/>
          <a:p>
            <a:pPr algn="ctr" indent="0" marL="0">
              <a:buNone/>
            </a:pPr>
            <a:r>
              <a:rPr lang="en-US" sz="1550" b="1" dirty="0">
                <a:solidFill>
                  <a:srgbClr val="1E2761"/>
                </a:solidFill>
                <a:latin typeface="Georgia" pitchFamily="34" charset="0"/>
                <a:ea typeface="Georgia" pitchFamily="34" charset="-122"/>
                <a:cs typeface="Georgia" pitchFamily="34" charset="-120"/>
              </a:rPr>
              <a:t>Admin</a:t>
            </a:r>
            <a:endParaRPr lang="en-US" sz="1550" dirty="0"/>
          </a:p>
        </p:txBody>
      </p:sp>
      <p:sp>
        <p:nvSpPr>
          <p:cNvPr id="37" name="Text 35"/>
          <p:cNvSpPr/>
          <p:nvPr/>
        </p:nvSpPr>
        <p:spPr>
          <a:xfrm>
            <a:off x="9948672" y="3794760"/>
            <a:ext cx="1883664" cy="914400"/>
          </a:xfrm>
          <a:prstGeom prst="rect">
            <a:avLst/>
          </a:prstGeom>
          <a:noFill/>
          <a:ln/>
        </p:spPr>
        <p:txBody>
          <a:bodyPr wrap="square" lIns="0" tIns="0" rIns="0" bIns="0" rtlCol="0" anchor="ctr"/>
          <a:lstStyle/>
          <a:p>
            <a:pPr algn="ctr" indent="0" marL="0">
              <a:buNone/>
            </a:pPr>
            <a:r>
              <a:rPr lang="en-US" sz="1250" dirty="0">
                <a:solidFill>
                  <a:srgbClr val="1E293B"/>
                </a:solidFill>
                <a:latin typeface="Calibri" pitchFamily="34" charset="0"/>
                <a:ea typeface="Calibri" pitchFamily="34" charset="-122"/>
                <a:cs typeface="Calibri" pitchFamily="34" charset="-120"/>
              </a:rPr>
              <a:t>Operate users &amp; disputes</a:t>
            </a:r>
            <a:endParaRPr lang="en-US" sz="1250" dirty="0"/>
          </a:p>
        </p:txBody>
      </p:sp>
      <p:sp>
        <p:nvSpPr>
          <p:cNvPr id="38" name="Text 36"/>
          <p:cNvSpPr/>
          <p:nvPr/>
        </p:nvSpPr>
        <p:spPr>
          <a:xfrm>
            <a:off x="9948672" y="4709160"/>
            <a:ext cx="1883664" cy="777240"/>
          </a:xfrm>
          <a:prstGeom prst="rect">
            <a:avLst/>
          </a:prstGeom>
          <a:noFill/>
          <a:ln/>
        </p:spPr>
        <p:txBody>
          <a:bodyPr wrap="square" lIns="0" tIns="0" rIns="0" bIns="0" rtlCol="0" anchor="ctr"/>
          <a:lstStyle/>
          <a:p>
            <a:pPr algn="ctr" indent="0" marL="0">
              <a:buNone/>
            </a:pPr>
            <a:r>
              <a:rPr lang="en-US" sz="1100" i="1" dirty="0">
                <a:solidFill>
                  <a:srgbClr val="64748B"/>
                </a:solidFill>
                <a:latin typeface="Calibri" pitchFamily="34" charset="0"/>
                <a:ea typeface="Calibri" pitchFamily="34" charset="-122"/>
                <a:cs typeface="Calibri" pitchFamily="34" charset="-120"/>
              </a:rPr>
              <a:t>Console · Disputes</a:t>
            </a:r>
            <a:endParaRPr lang="en-US" sz="1100" dirty="0"/>
          </a:p>
        </p:txBody>
      </p:sp>
      <p:sp>
        <p:nvSpPr>
          <p:cNvPr id="25" name="Slide Number Placeholder 0"/>
          <p:cNvSpPr>
            <a:spLocks noGrp="1"/>
          </p:cNvSpPr>
          <p:nvPr>
            <p:ph type="sldNum" sz="quarter" idx="4294967295"/>
          </p:nvPr>
        </p:nvSpPr>
        <p:spPr>
          <a:xfrm>
            <a:off x="11612880" y="6455664"/>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latin typeface="Calibri"/>
                <a:ea typeface="Calibri"/>
                <a:cs typeface="Calibri"/>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142B"/>
        </a:solidFill>
      </p:bgPr>
    </p:bg>
    <p:spTree>
      <p:nvGrpSpPr>
        <p:cNvPr id="1" name=""/>
        <p:cNvGrpSpPr/>
        <p:nvPr/>
      </p:nvGrpSpPr>
      <p:grpSpPr>
        <a:xfrm>
          <a:off x="0" y="0"/>
          <a:ext cx="0" cy="0"/>
          <a:chOff x="0" y="0"/>
          <a:chExt cx="0" cy="0"/>
        </a:xfrm>
      </p:grpSpPr>
      <p:sp>
        <p:nvSpPr>
          <p:cNvPr id="2" name="Text 0"/>
          <p:cNvSpPr/>
          <p:nvPr/>
        </p:nvSpPr>
        <p:spPr>
          <a:xfrm>
            <a:off x="731520" y="1280160"/>
            <a:ext cx="3657600" cy="2194560"/>
          </a:xfrm>
          <a:prstGeom prst="rect">
            <a:avLst/>
          </a:prstGeom>
          <a:noFill/>
          <a:ln/>
        </p:spPr>
        <p:txBody>
          <a:bodyPr wrap="square" lIns="0" tIns="0" rIns="0" bIns="0" rtlCol="0" anchor="ctr"/>
          <a:lstStyle/>
          <a:p>
            <a:pPr indent="0" marL="0">
              <a:buNone/>
            </a:pPr>
            <a:r>
              <a:rPr lang="en-US" sz="15000" b="1" dirty="0">
                <a:solidFill>
                  <a:srgbClr val="FF5A5F"/>
                </a:solidFill>
                <a:latin typeface="Georgia" pitchFamily="34" charset="0"/>
                <a:ea typeface="Georgia" pitchFamily="34" charset="-122"/>
                <a:cs typeface="Georgia" pitchFamily="34" charset="-120"/>
              </a:rPr>
              <a:t>02</a:t>
            </a:r>
            <a:endParaRPr lang="en-US" sz="15000" dirty="0"/>
          </a:p>
        </p:txBody>
      </p:sp>
      <p:sp>
        <p:nvSpPr>
          <p:cNvPr id="3" name="Text 1"/>
          <p:cNvSpPr/>
          <p:nvPr/>
        </p:nvSpPr>
        <p:spPr>
          <a:xfrm>
            <a:off x="822960" y="3657600"/>
            <a:ext cx="10515600" cy="1097280"/>
          </a:xfrm>
          <a:prstGeom prst="rect">
            <a:avLst/>
          </a:prstGeom>
          <a:noFill/>
          <a:ln/>
        </p:spPr>
        <p:txBody>
          <a:bodyPr wrap="square" lIns="0" tIns="0" rIns="0" bIns="0"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Architecture &amp; Technology</a:t>
            </a:r>
            <a:endParaRPr lang="en-US" sz="4000" dirty="0"/>
          </a:p>
        </p:txBody>
      </p:sp>
      <p:sp>
        <p:nvSpPr>
          <p:cNvPr id="4" name="Text 2"/>
          <p:cNvSpPr/>
          <p:nvPr/>
        </p:nvSpPr>
        <p:spPr>
          <a:xfrm>
            <a:off x="868680" y="4709160"/>
            <a:ext cx="10058400" cy="1097280"/>
          </a:xfrm>
          <a:prstGeom prst="rect">
            <a:avLst/>
          </a:prstGeom>
          <a:noFill/>
          <a:ln/>
        </p:spPr>
        <p:txBody>
          <a:bodyPr wrap="square" lIns="0" tIns="0" rIns="0" bIns="0" rtlCol="0" anchor="ctr"/>
          <a:lstStyle/>
          <a:p>
            <a:pPr indent="0" marL="0">
              <a:buNone/>
            </a:pPr>
            <a:r>
              <a:rPr lang="en-US" sz="1600" dirty="0">
                <a:solidFill>
                  <a:srgbClr val="E8EDF9"/>
                </a:solidFill>
                <a:latin typeface="Calibri" pitchFamily="34" charset="0"/>
                <a:ea typeface="Calibri" pitchFamily="34" charset="-122"/>
                <a:cs typeface="Calibri" pitchFamily="34" charset="-120"/>
              </a:rPr>
              <a:t>How the monorepo, API, database and browser pieces fit together</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01752"/>
            <a:ext cx="11064240" cy="274320"/>
          </a:xfrm>
          <a:prstGeom prst="rect">
            <a:avLst/>
          </a:prstGeom>
          <a:noFill/>
          <a:ln/>
        </p:spPr>
        <p:txBody>
          <a:bodyPr wrap="square" lIns="0" tIns="0" rIns="0" bIns="0" rtlCol="0" anchor="ctr"/>
          <a:lstStyle/>
          <a:p>
            <a:pPr indent="0" marL="0">
              <a:buNone/>
            </a:pPr>
            <a:r>
              <a:rPr lang="en-US" sz="1100" b="1" spc="200" kern="0" dirty="0">
                <a:solidFill>
                  <a:srgbClr val="FF5A5F"/>
                </a:solidFill>
                <a:latin typeface="Calibri" pitchFamily="34" charset="0"/>
                <a:ea typeface="Calibri" pitchFamily="34" charset="-122"/>
                <a:cs typeface="Calibri" pitchFamily="34" charset="-120"/>
              </a:rPr>
              <a:t>02 · ARCHITECTURE</a:t>
            </a:r>
            <a:endParaRPr lang="en-US" sz="110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Georgia" pitchFamily="34" charset="0"/>
                <a:ea typeface="Georgia" pitchFamily="34" charset="-122"/>
                <a:cs typeface="Georgia" pitchFamily="34" charset="-120"/>
              </a:rPr>
              <a:t>System architecture</a:t>
            </a:r>
            <a:endParaRPr lang="en-US" sz="3000" dirty="0"/>
          </a:p>
        </p:txBody>
      </p:sp>
      <p:pic>
        <p:nvPicPr>
          <p:cNvPr id="4" name="Image 0" descr="architecture">    </p:cNvPr>
          <p:cNvPicPr>
            <a:picLocks noChangeAspect="1"/>
          </p:cNvPicPr>
          <p:nvPr/>
        </p:nvPicPr>
        <p:blipFill>
          <a:blip r:embed="rId1"/>
          <a:stretch>
            <a:fillRect/>
          </a:stretch>
        </p:blipFill>
        <p:spPr>
          <a:xfrm>
            <a:off x="548640" y="2829307"/>
            <a:ext cx="6949440" cy="2205225"/>
          </a:xfrm>
          <a:prstGeom prst="rect">
            <a:avLst/>
          </a:prstGeom>
        </p:spPr>
      </p:pic>
      <p:sp>
        <p:nvSpPr>
          <p:cNvPr id="5" name="Text 2"/>
          <p:cNvSpPr/>
          <p:nvPr/>
        </p:nvSpPr>
        <p:spPr>
          <a:xfrm>
            <a:off x="7680960" y="1645920"/>
            <a:ext cx="4023360" cy="4572000"/>
          </a:xfrm>
          <a:prstGeom prst="rect">
            <a:avLst/>
          </a:prstGeom>
          <a:noFill/>
          <a:ln/>
        </p:spPr>
        <p:txBody>
          <a:bodyPr wrap="square" lIns="0" tIns="0" rIns="0" bIns="0" rtlCol="0" anchor="t">
            <a:spAutoFit/>
          </a:bodyPr>
          <a:lstStyle/>
          <a:p>
            <a:pPr marL="203200" indent="-203200">
              <a:spcAft>
                <a:spcPts val="1100"/>
              </a:spcAft>
              <a:buSzPct val="100000"/>
              <a:buChar char="•"/>
            </a:pPr>
            <a:r>
              <a:rPr lang="en-US" sz="1400" b="1" dirty="0">
                <a:solidFill>
                  <a:srgbClr val="1E293B"/>
                </a:solidFill>
                <a:latin typeface="Calibri" pitchFamily="34" charset="0"/>
                <a:ea typeface="Calibri" pitchFamily="34" charset="-122"/>
                <a:cs typeface="Calibri" pitchFamily="34" charset="-120"/>
              </a:rPr>
              <a:t>Single-page React app talks to one NestJS API</a:t>
            </a:r>
            <a:endParaRPr lang="en-US" sz="1400" dirty="0"/>
          </a:p>
          <a:p>
            <a:pPr marL="203200" indent="-203200">
              <a:spcAft>
                <a:spcPts val="1100"/>
              </a:spcAft>
              <a:buSzPct val="100000"/>
              <a:buChar char="•"/>
            </a:pPr>
            <a:r>
              <a:rPr lang="en-US" sz="1400" b="1" dirty="0">
                <a:solidFill>
                  <a:srgbClr val="1E293B"/>
                </a:solidFill>
                <a:latin typeface="Calibri" pitchFamily="34" charset="0"/>
                <a:ea typeface="Calibri" pitchFamily="34" charset="-122"/>
                <a:cs typeface="Calibri" pitchFamily="34" charset="-120"/>
              </a:rPr>
              <a:t>API exposes everything under /api; serves uploads statically</a:t>
            </a:r>
            <a:endParaRPr lang="en-US" sz="1400" dirty="0"/>
          </a:p>
          <a:p>
            <a:pPr marL="203200" indent="-203200">
              <a:spcAft>
                <a:spcPts val="1100"/>
              </a:spcAft>
              <a:buSzPct val="100000"/>
              <a:buChar char="•"/>
            </a:pPr>
            <a:r>
              <a:rPr lang="en-US" sz="1400" b="1" dirty="0">
                <a:solidFill>
                  <a:srgbClr val="1E293B"/>
                </a:solidFill>
                <a:latin typeface="Calibri" pitchFamily="34" charset="0"/>
                <a:ea typeface="Calibri" pitchFamily="34" charset="-122"/>
                <a:cs typeface="Calibri" pitchFamily="34" charset="-120"/>
              </a:rPr>
              <a:t>Raw SQL via mysql2 — no ORM, full control of queries</a:t>
            </a:r>
            <a:endParaRPr lang="en-US" sz="1400" dirty="0"/>
          </a:p>
          <a:p>
            <a:pPr marL="203200" indent="-203200">
              <a:spcAft>
                <a:spcPts val="1100"/>
              </a:spcAft>
              <a:buSzPct val="100000"/>
              <a:buChar char="•"/>
            </a:pPr>
            <a:r>
              <a:rPr lang="en-US" sz="1400" b="1" dirty="0">
                <a:solidFill>
                  <a:srgbClr val="1E293B"/>
                </a:solidFill>
                <a:latin typeface="Calibri" pitchFamily="34" charset="0"/>
                <a:ea typeface="Calibri" pitchFamily="34" charset="-122"/>
                <a:cs typeface="Calibri" pitchFamily="34" charset="-120"/>
              </a:rPr>
              <a:t>Shared TypeScript enums = one source of truth for both sides</a:t>
            </a:r>
            <a:endParaRPr lang="en-US" sz="1400" dirty="0"/>
          </a:p>
          <a:p>
            <a:pPr marL="203200" indent="-203200">
              <a:spcAft>
                <a:spcPts val="1100"/>
              </a:spcAft>
              <a:buSzPct val="100000"/>
              <a:buChar char="•"/>
            </a:pPr>
            <a:r>
              <a:rPr lang="en-US" sz="1400" b="1" dirty="0">
                <a:solidFill>
                  <a:srgbClr val="1E293B"/>
                </a:solidFill>
                <a:latin typeface="Calibri" pitchFamily="34" charset="0"/>
                <a:ea typeface="Calibri" pitchFamily="34" charset="-122"/>
                <a:cs typeface="Calibri" pitchFamily="34" charset="-120"/>
              </a:rPr>
              <a:t>The Studio + AI run entirely in the browser</a:t>
            </a:r>
            <a:endParaRPr lang="en-US" sz="1400" dirty="0"/>
          </a:p>
        </p:txBody>
      </p:sp>
      <p:sp>
        <p:nvSpPr>
          <p:cNvPr id="25" name="Slide Number Placeholder 0"/>
          <p:cNvSpPr>
            <a:spLocks noGrp="1"/>
          </p:cNvSpPr>
          <p:nvPr>
            <p:ph type="sldNum" sz="quarter" idx="4294967295"/>
          </p:nvPr>
        </p:nvSpPr>
        <p:spPr>
          <a:xfrm>
            <a:off x="11612880" y="6455664"/>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latin typeface="Calibri"/>
                <a:ea typeface="Calibri"/>
                <a:cs typeface="Calibri"/>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01752"/>
            <a:ext cx="11064240" cy="274320"/>
          </a:xfrm>
          <a:prstGeom prst="rect">
            <a:avLst/>
          </a:prstGeom>
          <a:noFill/>
          <a:ln/>
        </p:spPr>
        <p:txBody>
          <a:bodyPr wrap="square" lIns="0" tIns="0" rIns="0" bIns="0" rtlCol="0" anchor="ctr"/>
          <a:lstStyle/>
          <a:p>
            <a:pPr indent="0" marL="0">
              <a:buNone/>
            </a:pPr>
            <a:r>
              <a:rPr lang="en-US" sz="1100" b="1" spc="200" kern="0" dirty="0">
                <a:solidFill>
                  <a:srgbClr val="FF5A5F"/>
                </a:solidFill>
                <a:latin typeface="Calibri" pitchFamily="34" charset="0"/>
                <a:ea typeface="Calibri" pitchFamily="34" charset="-122"/>
                <a:cs typeface="Calibri" pitchFamily="34" charset="-120"/>
              </a:rPr>
              <a:t>02 · ARCHITECTURE</a:t>
            </a:r>
            <a:endParaRPr lang="en-US" sz="110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Georgia" pitchFamily="34" charset="0"/>
                <a:ea typeface="Georgia" pitchFamily="34" charset="-122"/>
                <a:cs typeface="Georgia" pitchFamily="34" charset="-120"/>
              </a:rPr>
              <a:t>Technology stack</a:t>
            </a:r>
            <a:endParaRPr lang="en-US" sz="3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40080" y="1554480"/>
          <a:ext cx="10972800" cy="914400"/>
        </p:xfrm>
        <a:graphic>
          <a:graphicData uri="http://schemas.openxmlformats.org/drawingml/2006/table">
            <a:tbl>
              <a:tblPr/>
              <a:tblGrid>
                <a:gridCol w="2651760"/>
                <a:gridCol w="5943600"/>
                <a:gridCol w="2377440"/>
              </a:tblGrid>
              <a:tr h="402336">
                <a:tc>
                  <a:txBody>
                    <a:bodyPr/>
                    <a:lstStyle/>
                    <a:p>
                      <a:pPr algn="l" indent="0" marL="0">
                        <a:buNone/>
                      </a:pPr>
                      <a:r>
                        <a:rPr lang="en-US" sz="1350" b="1" dirty="0">
                          <a:solidFill>
                            <a:srgbClr val="FFFFFF"/>
                          </a:solidFill>
                          <a:latin typeface="Calibri" pitchFamily="34" charset="0"/>
                          <a:ea typeface="Calibri" pitchFamily="34" charset="-122"/>
                          <a:cs typeface="Calibri" pitchFamily="34" charset="-120"/>
                        </a:rPr>
                        <a:t>Layer</a:t>
                      </a:r>
                      <a:endParaRPr lang="en-US" sz="13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2761"/>
                    </a:solidFill>
                  </a:tcPr>
                </a:tc>
                <a:tc>
                  <a:txBody>
                    <a:bodyPr/>
                    <a:lstStyle/>
                    <a:p>
                      <a:pPr algn="l" indent="0" marL="0">
                        <a:buNone/>
                      </a:pPr>
                      <a:r>
                        <a:rPr lang="en-US" sz="1350" b="1" dirty="0">
                          <a:solidFill>
                            <a:srgbClr val="FFFFFF"/>
                          </a:solidFill>
                          <a:latin typeface="Calibri" pitchFamily="34" charset="0"/>
                          <a:ea typeface="Calibri" pitchFamily="34" charset="-122"/>
                          <a:cs typeface="Calibri" pitchFamily="34" charset="-120"/>
                        </a:rPr>
                        <a:t>Technology</a:t>
                      </a:r>
                      <a:endParaRPr lang="en-US" sz="13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2761"/>
                    </a:solidFill>
                  </a:tcPr>
                </a:tc>
                <a:tc>
                  <a:txBody>
                    <a:bodyPr/>
                    <a:lstStyle/>
                    <a:p>
                      <a:pPr algn="l" indent="0" marL="0">
                        <a:buNone/>
                      </a:pPr>
                      <a:r>
                        <a:rPr lang="en-US" sz="1350" b="1" dirty="0">
                          <a:solidFill>
                            <a:srgbClr val="FFFFFF"/>
                          </a:solidFill>
                          <a:latin typeface="Calibri" pitchFamily="34" charset="0"/>
                          <a:ea typeface="Calibri" pitchFamily="34" charset="-122"/>
                          <a:cs typeface="Calibri" pitchFamily="34" charset="-120"/>
                        </a:rPr>
                        <a:t>Version</a:t>
                      </a:r>
                      <a:endParaRPr lang="en-US" sz="13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2761"/>
                    </a:solidFill>
                  </a:tcPr>
                </a:tc>
              </a:tr>
              <a:tr h="402336">
                <a:tc>
                  <a:txBody>
                    <a:bodyPr/>
                    <a:lstStyle/>
                    <a:p>
                      <a:pPr algn="l" indent="0" marL="0">
                        <a:buNone/>
                      </a:pPr>
                      <a:r>
                        <a:rPr lang="en-US" sz="1350" dirty="0">
                          <a:solidFill>
                            <a:srgbClr val="1E293B"/>
                          </a:solidFill>
                          <a:latin typeface="Calibri" pitchFamily="34" charset="0"/>
                          <a:ea typeface="Calibri" pitchFamily="34" charset="-122"/>
                          <a:cs typeface="Calibri" pitchFamily="34" charset="-120"/>
                        </a:rPr>
                        <a:t>Web app</a:t>
                      </a:r>
                      <a:endParaRPr lang="en-US" sz="13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E293B"/>
                          </a:solidFill>
                          <a:latin typeface="Calibri" pitchFamily="34" charset="0"/>
                          <a:ea typeface="Calibri" pitchFamily="34" charset="-122"/>
                          <a:cs typeface="Calibri" pitchFamily="34" charset="-120"/>
                        </a:rPr>
                        <a:t>React + Vite + TypeScript + Tailwind</a:t>
                      </a:r>
                      <a:endParaRPr lang="en-US" sz="13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E293B"/>
                          </a:solidFill>
                          <a:latin typeface="Calibri" pitchFamily="34" charset="0"/>
                          <a:ea typeface="Calibri" pitchFamily="34" charset="-122"/>
                          <a:cs typeface="Calibri" pitchFamily="34" charset="-120"/>
                        </a:rPr>
                        <a:t>19.2 · 8 · ~6.0 · v4.3</a:t>
                      </a:r>
                      <a:endParaRPr lang="en-US" sz="13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402336">
                <a:tc>
                  <a:txBody>
                    <a:bodyPr/>
                    <a:lstStyle/>
                    <a:p>
                      <a:pPr algn="l" indent="0" marL="0">
                        <a:buNone/>
                      </a:pPr>
                      <a:r>
                        <a:rPr lang="en-US" sz="1350" dirty="0">
                          <a:solidFill>
                            <a:srgbClr val="1E293B"/>
                          </a:solidFill>
                          <a:latin typeface="Calibri" pitchFamily="34" charset="0"/>
                          <a:ea typeface="Calibri" pitchFamily="34" charset="-122"/>
                          <a:cs typeface="Calibri" pitchFamily="34" charset="-120"/>
                        </a:rPr>
                        <a:t>Routing / HTTP</a:t>
                      </a:r>
                      <a:endParaRPr lang="en-US" sz="13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E293B"/>
                          </a:solidFill>
                          <a:latin typeface="Calibri" pitchFamily="34" charset="0"/>
                          <a:ea typeface="Calibri" pitchFamily="34" charset="-122"/>
                          <a:cs typeface="Calibri" pitchFamily="34" charset="-120"/>
                        </a:rPr>
                        <a:t>react-router-dom · axios</a:t>
                      </a:r>
                      <a:endParaRPr lang="en-US" sz="13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E293B"/>
                          </a:solidFill>
                          <a:latin typeface="Calibri" pitchFamily="34" charset="0"/>
                          <a:ea typeface="Calibri" pitchFamily="34" charset="-122"/>
                          <a:cs typeface="Calibri" pitchFamily="34" charset="-120"/>
                        </a:rPr>
                        <a:t>7.16 · 1.16</a:t>
                      </a:r>
                      <a:endParaRPr lang="en-US" sz="13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402336">
                <a:tc>
                  <a:txBody>
                    <a:bodyPr/>
                    <a:lstStyle/>
                    <a:p>
                      <a:pPr algn="l" indent="0" marL="0">
                        <a:buNone/>
                      </a:pPr>
                      <a:r>
                        <a:rPr lang="en-US" sz="1350" dirty="0">
                          <a:solidFill>
                            <a:srgbClr val="1E293B"/>
                          </a:solidFill>
                          <a:latin typeface="Calibri" pitchFamily="34" charset="0"/>
                          <a:ea typeface="Calibri" pitchFamily="34" charset="-122"/>
                          <a:cs typeface="Calibri" pitchFamily="34" charset="-120"/>
                        </a:rPr>
                        <a:t>API</a:t>
                      </a:r>
                      <a:endParaRPr lang="en-US" sz="13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E293B"/>
                          </a:solidFill>
                          <a:latin typeface="Calibri" pitchFamily="34" charset="0"/>
                          <a:ea typeface="Calibri" pitchFamily="34" charset="-122"/>
                          <a:cs typeface="Calibri" pitchFamily="34" charset="-120"/>
                        </a:rPr>
                        <a:t>NestJS + TypeScript</a:t>
                      </a:r>
                      <a:endParaRPr lang="en-US" sz="13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E293B"/>
                          </a:solidFill>
                          <a:latin typeface="Calibri" pitchFamily="34" charset="0"/>
                          <a:ea typeface="Calibri" pitchFamily="34" charset="-122"/>
                          <a:cs typeface="Calibri" pitchFamily="34" charset="-120"/>
                        </a:rPr>
                        <a:t>11 · 5.7</a:t>
                      </a:r>
                      <a:endParaRPr lang="en-US" sz="13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402336">
                <a:tc>
                  <a:txBody>
                    <a:bodyPr/>
                    <a:lstStyle/>
                    <a:p>
                      <a:pPr algn="l" indent="0" marL="0">
                        <a:buNone/>
                      </a:pPr>
                      <a:r>
                        <a:rPr lang="en-US" sz="1350" dirty="0">
                          <a:solidFill>
                            <a:srgbClr val="1E293B"/>
                          </a:solidFill>
                          <a:latin typeface="Calibri" pitchFamily="34" charset="0"/>
                          <a:ea typeface="Calibri" pitchFamily="34" charset="-122"/>
                          <a:cs typeface="Calibri" pitchFamily="34" charset="-120"/>
                        </a:rPr>
                        <a:t>Database access</a:t>
                      </a:r>
                      <a:endParaRPr lang="en-US" sz="13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E293B"/>
                          </a:solidFill>
                          <a:latin typeface="Calibri" pitchFamily="34" charset="0"/>
                          <a:ea typeface="Calibri" pitchFamily="34" charset="-122"/>
                          <a:cs typeface="Calibri" pitchFamily="34" charset="-120"/>
                        </a:rPr>
                        <a:t>mysql2 (raw SQL, no ORM)</a:t>
                      </a:r>
                      <a:endParaRPr lang="en-US" sz="13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E293B"/>
                          </a:solidFill>
                          <a:latin typeface="Calibri" pitchFamily="34" charset="0"/>
                          <a:ea typeface="Calibri" pitchFamily="34" charset="-122"/>
                          <a:cs typeface="Calibri" pitchFamily="34" charset="-120"/>
                        </a:rPr>
                        <a:t>3.22</a:t>
                      </a:r>
                      <a:endParaRPr lang="en-US" sz="13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402336">
                <a:tc>
                  <a:txBody>
                    <a:bodyPr/>
                    <a:lstStyle/>
                    <a:p>
                      <a:pPr algn="l" indent="0" marL="0">
                        <a:buNone/>
                      </a:pPr>
                      <a:r>
                        <a:rPr lang="en-US" sz="1350" dirty="0">
                          <a:solidFill>
                            <a:srgbClr val="1E293B"/>
                          </a:solidFill>
                          <a:latin typeface="Calibri" pitchFamily="34" charset="0"/>
                          <a:ea typeface="Calibri" pitchFamily="34" charset="-122"/>
                          <a:cs typeface="Calibri" pitchFamily="34" charset="-120"/>
                        </a:rPr>
                        <a:t>Auth</a:t>
                      </a:r>
                      <a:endParaRPr lang="en-US" sz="13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E293B"/>
                          </a:solidFill>
                          <a:latin typeface="Calibri" pitchFamily="34" charset="0"/>
                          <a:ea typeface="Calibri" pitchFamily="34" charset="-122"/>
                          <a:cs typeface="Calibri" pitchFamily="34" charset="-120"/>
                        </a:rPr>
                        <a:t>@nestjs/jwt · passport (jwt + google)</a:t>
                      </a:r>
                      <a:endParaRPr lang="en-US" sz="13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E293B"/>
                          </a:solidFill>
                          <a:latin typeface="Calibri" pitchFamily="34" charset="0"/>
                          <a:ea typeface="Calibri" pitchFamily="34" charset="-122"/>
                          <a:cs typeface="Calibri" pitchFamily="34" charset="-120"/>
                        </a:rPr>
                        <a:t>11 · —</a:t>
                      </a:r>
                      <a:endParaRPr lang="en-US" sz="13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402336">
                <a:tc>
                  <a:txBody>
                    <a:bodyPr/>
                    <a:lstStyle/>
                    <a:p>
                      <a:pPr algn="l" indent="0" marL="0">
                        <a:buNone/>
                      </a:pPr>
                      <a:r>
                        <a:rPr lang="en-US" sz="1350" dirty="0">
                          <a:solidFill>
                            <a:srgbClr val="1E293B"/>
                          </a:solidFill>
                          <a:latin typeface="Calibri" pitchFamily="34" charset="0"/>
                          <a:ea typeface="Calibri" pitchFamily="34" charset="-122"/>
                          <a:cs typeface="Calibri" pitchFamily="34" charset="-120"/>
                        </a:rPr>
                        <a:t>Shared</a:t>
                      </a:r>
                      <a:endParaRPr lang="en-US" sz="13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E293B"/>
                          </a:solidFill>
                          <a:latin typeface="Calibri" pitchFamily="34" charset="0"/>
                          <a:ea typeface="Calibri" pitchFamily="34" charset="-122"/>
                          <a:cs typeface="Calibri" pitchFamily="34" charset="-120"/>
                        </a:rPr>
                        <a:t>TS enums + state-machine transition maps</a:t>
                      </a:r>
                      <a:endParaRPr lang="en-US" sz="13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E293B"/>
                          </a:solidFill>
                          <a:latin typeface="Calibri" pitchFamily="34" charset="0"/>
                          <a:ea typeface="Calibri" pitchFamily="34" charset="-122"/>
                          <a:cs typeface="Calibri" pitchFamily="34" charset="-120"/>
                        </a:rPr>
                        <a:t>workspace pkg</a:t>
                      </a:r>
                      <a:endParaRPr lang="en-US" sz="13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402336">
                <a:tc>
                  <a:txBody>
                    <a:bodyPr/>
                    <a:lstStyle/>
                    <a:p>
                      <a:pPr algn="l" indent="0" marL="0">
                        <a:buNone/>
                      </a:pPr>
                      <a:r>
                        <a:rPr lang="en-US" sz="1350" dirty="0">
                          <a:solidFill>
                            <a:srgbClr val="1E293B"/>
                          </a:solidFill>
                          <a:latin typeface="Calibri" pitchFamily="34" charset="0"/>
                          <a:ea typeface="Calibri" pitchFamily="34" charset="-122"/>
                          <a:cs typeface="Calibri" pitchFamily="34" charset="-120"/>
                        </a:rPr>
                        <a:t>Drawing core</a:t>
                      </a:r>
                      <a:endParaRPr lang="en-US" sz="13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E293B"/>
                          </a:solidFill>
                          <a:latin typeface="Calibri" pitchFamily="34" charset="0"/>
                          <a:ea typeface="Calibri" pitchFamily="34" charset="-122"/>
                          <a:cs typeface="Calibri" pitchFamily="34" charset="-120"/>
                        </a:rPr>
                        <a:t>AssemblyScript → WebAssembly</a:t>
                      </a:r>
                      <a:endParaRPr lang="en-US" sz="13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E293B"/>
                          </a:solidFill>
                          <a:latin typeface="Calibri" pitchFamily="34" charset="0"/>
                          <a:ea typeface="Calibri" pitchFamily="34" charset="-122"/>
                          <a:cs typeface="Calibri" pitchFamily="34" charset="-120"/>
                        </a:rPr>
                        <a:t>canvas-wasm</a:t>
                      </a:r>
                      <a:endParaRPr lang="en-US" sz="13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402336">
                <a:tc>
                  <a:txBody>
                    <a:bodyPr/>
                    <a:lstStyle/>
                    <a:p>
                      <a:pPr algn="l" indent="0" marL="0">
                        <a:buNone/>
                      </a:pPr>
                      <a:r>
                        <a:rPr lang="en-US" sz="1350" dirty="0">
                          <a:solidFill>
                            <a:srgbClr val="1E293B"/>
                          </a:solidFill>
                          <a:latin typeface="Calibri" pitchFamily="34" charset="0"/>
                          <a:ea typeface="Calibri" pitchFamily="34" charset="-122"/>
                          <a:cs typeface="Calibri" pitchFamily="34" charset="-120"/>
                        </a:rPr>
                        <a:t>On-device AI</a:t>
                      </a:r>
                      <a:endParaRPr lang="en-US" sz="13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E293B"/>
                          </a:solidFill>
                          <a:latin typeface="Calibri" pitchFamily="34" charset="0"/>
                          <a:ea typeface="Calibri" pitchFamily="34" charset="-122"/>
                          <a:cs typeface="Calibri" pitchFamily="34" charset="-120"/>
                        </a:rPr>
                        <a:t>onnxruntime-web (YOLO · SAM · DeOldify)</a:t>
                      </a:r>
                      <a:endParaRPr lang="en-US" sz="13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E293B"/>
                          </a:solidFill>
                          <a:latin typeface="Calibri" pitchFamily="34" charset="0"/>
                          <a:ea typeface="Calibri" pitchFamily="34" charset="-122"/>
                          <a:cs typeface="Calibri" pitchFamily="34" charset="-120"/>
                        </a:rPr>
                        <a:t>1.26</a:t>
                      </a:r>
                      <a:endParaRPr lang="en-US" sz="13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402336">
                <a:tc>
                  <a:txBody>
                    <a:bodyPr/>
                    <a:lstStyle/>
                    <a:p>
                      <a:pPr algn="l" indent="0" marL="0">
                        <a:buNone/>
                      </a:pPr>
                      <a:r>
                        <a:rPr lang="en-US" sz="1350" dirty="0">
                          <a:solidFill>
                            <a:srgbClr val="1E293B"/>
                          </a:solidFill>
                          <a:latin typeface="Calibri" pitchFamily="34" charset="0"/>
                          <a:ea typeface="Calibri" pitchFamily="34" charset="-122"/>
                          <a:cs typeface="Calibri" pitchFamily="34" charset="-120"/>
                        </a:rPr>
                        <a:t>Tests</a:t>
                      </a:r>
                      <a:endParaRPr lang="en-US" sz="13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E293B"/>
                          </a:solidFill>
                          <a:latin typeface="Calibri" pitchFamily="34" charset="0"/>
                          <a:ea typeface="Calibri" pitchFamily="34" charset="-122"/>
                          <a:cs typeface="Calibri" pitchFamily="34" charset="-120"/>
                        </a:rPr>
                        <a:t>jest (API) · vitest + RTL (web)</a:t>
                      </a:r>
                      <a:endParaRPr lang="en-US" sz="13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E293B"/>
                          </a:solidFill>
                          <a:latin typeface="Calibri" pitchFamily="34" charset="0"/>
                          <a:ea typeface="Calibri" pitchFamily="34" charset="-122"/>
                          <a:cs typeface="Calibri" pitchFamily="34" charset="-120"/>
                        </a:rPr>
                        <a:t>30 · 4</a:t>
                      </a:r>
                      <a:endParaRPr lang="en-US" sz="13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612880" y="6455664"/>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latin typeface="Calibri"/>
                <a:ea typeface="Calibri"/>
                <a:cs typeface="Calibri"/>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01752"/>
            <a:ext cx="11064240" cy="274320"/>
          </a:xfrm>
          <a:prstGeom prst="rect">
            <a:avLst/>
          </a:prstGeom>
          <a:noFill/>
          <a:ln/>
        </p:spPr>
        <p:txBody>
          <a:bodyPr wrap="square" lIns="0" tIns="0" rIns="0" bIns="0" rtlCol="0" anchor="ctr"/>
          <a:lstStyle/>
          <a:p>
            <a:pPr indent="0" marL="0">
              <a:buNone/>
            </a:pPr>
            <a:r>
              <a:rPr lang="en-US" sz="1100" b="1" spc="200" kern="0" dirty="0">
                <a:solidFill>
                  <a:srgbClr val="FF5A5F"/>
                </a:solidFill>
                <a:latin typeface="Calibri" pitchFamily="34" charset="0"/>
                <a:ea typeface="Calibri" pitchFamily="34" charset="-122"/>
                <a:cs typeface="Calibri" pitchFamily="34" charset="-120"/>
              </a:rPr>
              <a:t>02 · ARCHITECTURE</a:t>
            </a:r>
            <a:endParaRPr lang="en-US" sz="110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Georgia" pitchFamily="34" charset="0"/>
                <a:ea typeface="Georgia" pitchFamily="34" charset="-122"/>
                <a:cs typeface="Georgia" pitchFamily="34" charset="-120"/>
              </a:rPr>
              <a:t>Monorepo &amp; shared types</a:t>
            </a:r>
            <a:endParaRPr lang="en-US" sz="3000" dirty="0"/>
          </a:p>
        </p:txBody>
      </p:sp>
      <p:sp>
        <p:nvSpPr>
          <p:cNvPr id="4" name="Shape 2"/>
          <p:cNvSpPr/>
          <p:nvPr/>
        </p:nvSpPr>
        <p:spPr>
          <a:xfrm>
            <a:off x="640080" y="1554480"/>
            <a:ext cx="6583680" cy="4023360"/>
          </a:xfrm>
          <a:prstGeom prst="rect">
            <a:avLst/>
          </a:prstGeom>
          <a:solidFill>
            <a:srgbClr val="0F172A"/>
          </a:solidFill>
          <a:ln w="9525">
            <a:solidFill>
              <a:srgbClr val="CBD5E1"/>
            </a:solidFill>
            <a:prstDash val="solid"/>
          </a:ln>
          <a:effectLst>
            <a:outerShdw sx="100000" sy="100000" kx="0" ky="0" algn="bl" rotWithShape="0" blurRad="88900" dist="38100" dir="8100000">
              <a:srgbClr val="000000">
                <a:alpha val="16000"/>
              </a:srgbClr>
            </a:outerShdw>
          </a:effectLst>
        </p:spPr>
      </p:sp>
      <p:sp>
        <p:nvSpPr>
          <p:cNvPr id="5" name="Text 3"/>
          <p:cNvSpPr/>
          <p:nvPr/>
        </p:nvSpPr>
        <p:spPr>
          <a:xfrm>
            <a:off x="868680" y="1737360"/>
            <a:ext cx="6217920" cy="3657600"/>
          </a:xfrm>
          <a:prstGeom prst="rect">
            <a:avLst/>
          </a:prstGeom>
          <a:noFill/>
          <a:ln/>
        </p:spPr>
        <p:txBody>
          <a:bodyPr wrap="square" lIns="0" tIns="0" rIns="0" bIns="0" rtlCol="0" anchor="t"/>
          <a:lstStyle/>
          <a:p>
            <a:pPr indent="0" marL="0">
              <a:lnSpc>
                <a:spcPct val="110000"/>
              </a:lnSpc>
              <a:buNone/>
            </a:pPr>
            <a:r>
              <a:rPr lang="en-US" sz="1250" dirty="0">
                <a:solidFill>
                  <a:srgbClr val="E2E8F0"/>
                </a:solidFill>
                <a:latin typeface="Consolas" pitchFamily="34" charset="0"/>
                <a:ea typeface="Consolas" pitchFamily="34" charset="-122"/>
                <a:cs typeface="Consolas" pitchFamily="34" charset="-120"/>
              </a:rPr>
              <a:t>manga-workflow/  (pnpm workspace)</a:t>
            </a:r>
            <a:endParaRPr lang="en-US" sz="1250" dirty="0"/>
          </a:p>
          <a:p>
            <a:pPr indent="0" marL="0">
              <a:lnSpc>
                <a:spcPct val="110000"/>
              </a:lnSpc>
              <a:buNone/>
            </a:pPr>
            <a:r>
              <a:rPr lang="en-US" sz="1250" dirty="0">
                <a:solidFill>
                  <a:srgbClr val="E2E8F0"/>
                </a:solidFill>
                <a:latin typeface="Consolas" pitchFamily="34" charset="0"/>
                <a:ea typeface="Consolas" pitchFamily="34" charset="-122"/>
                <a:cs typeface="Consolas" pitchFamily="34" charset="-120"/>
              </a:rPr>
              <a:t>├─ apps/</a:t>
            </a:r>
            <a:endParaRPr lang="en-US" sz="1250" dirty="0"/>
          </a:p>
          <a:p>
            <a:pPr indent="0" marL="0">
              <a:lnSpc>
                <a:spcPct val="110000"/>
              </a:lnSpc>
              <a:buNone/>
            </a:pPr>
            <a:r>
              <a:rPr lang="en-US" sz="1250" dirty="0">
                <a:solidFill>
                  <a:srgbClr val="E2E8F0"/>
                </a:solidFill>
                <a:latin typeface="Consolas" pitchFamily="34" charset="0"/>
                <a:ea typeface="Consolas" pitchFamily="34" charset="-122"/>
                <a:cs typeface="Consolas" pitchFamily="34" charset="-120"/>
              </a:rPr>
              <a:t>│  ├─ web/       React 19 SPA  (Vite, Tailwind v4)</a:t>
            </a:r>
            <a:endParaRPr lang="en-US" sz="1250" dirty="0"/>
          </a:p>
          <a:p>
            <a:pPr indent="0" marL="0">
              <a:lnSpc>
                <a:spcPct val="110000"/>
              </a:lnSpc>
              <a:buNone/>
            </a:pPr>
            <a:r>
              <a:rPr lang="en-US" sz="1250" dirty="0">
                <a:solidFill>
                  <a:srgbClr val="E2E8F0"/>
                </a:solidFill>
                <a:latin typeface="Consolas" pitchFamily="34" charset="0"/>
                <a:ea typeface="Consolas" pitchFamily="34" charset="-122"/>
                <a:cs typeface="Consolas" pitchFamily="34" charset="-120"/>
              </a:rPr>
              <a:t>│  └─ api/       NestJS 11     (raw SQL, /api)</a:t>
            </a:r>
            <a:endParaRPr lang="en-US" sz="1250" dirty="0"/>
          </a:p>
          <a:p>
            <a:pPr indent="0" marL="0">
              <a:lnSpc>
                <a:spcPct val="110000"/>
              </a:lnSpc>
              <a:buNone/>
            </a:pPr>
            <a:r>
              <a:rPr lang="en-US" sz="1250" dirty="0">
                <a:solidFill>
                  <a:srgbClr val="E2E8F0"/>
                </a:solidFill>
                <a:latin typeface="Consolas" pitchFamily="34" charset="0"/>
                <a:ea typeface="Consolas" pitchFamily="34" charset="-122"/>
                <a:cs typeface="Consolas" pitchFamily="34" charset="-120"/>
              </a:rPr>
              <a:t>├─ packages/</a:t>
            </a:r>
            <a:endParaRPr lang="en-US" sz="1250" dirty="0"/>
          </a:p>
          <a:p>
            <a:pPr indent="0" marL="0">
              <a:lnSpc>
                <a:spcPct val="110000"/>
              </a:lnSpc>
              <a:buNone/>
            </a:pPr>
            <a:r>
              <a:rPr lang="en-US" sz="1250" dirty="0">
                <a:solidFill>
                  <a:srgbClr val="E2E8F0"/>
                </a:solidFill>
                <a:latin typeface="Consolas" pitchFamily="34" charset="0"/>
                <a:ea typeface="Consolas" pitchFamily="34" charset="-122"/>
                <a:cs typeface="Consolas" pitchFamily="34" charset="-120"/>
              </a:rPr>
              <a:t>│  ├─ shared/    enums + *_TRANSITIONS + canTransition()</a:t>
            </a:r>
            <a:endParaRPr lang="en-US" sz="1250" dirty="0"/>
          </a:p>
          <a:p>
            <a:pPr indent="0" marL="0">
              <a:lnSpc>
                <a:spcPct val="110000"/>
              </a:lnSpc>
              <a:buNone/>
            </a:pPr>
            <a:r>
              <a:rPr lang="en-US" sz="1250" dirty="0">
                <a:solidFill>
                  <a:srgbClr val="E2E8F0"/>
                </a:solidFill>
                <a:latin typeface="Consolas" pitchFamily="34" charset="0"/>
                <a:ea typeface="Consolas" pitchFamily="34" charset="-122"/>
                <a:cs typeface="Consolas" pitchFamily="34" charset="-120"/>
              </a:rPr>
              <a:t>│  └─ canvas-wasm/  AssemblyScript → WASM</a:t>
            </a:r>
            <a:endParaRPr lang="en-US" sz="1250" dirty="0"/>
          </a:p>
          <a:p>
            <a:pPr indent="0" marL="0">
              <a:lnSpc>
                <a:spcPct val="110000"/>
              </a:lnSpc>
              <a:buNone/>
            </a:pPr>
            <a:r>
              <a:rPr lang="en-US" sz="1250" dirty="0">
                <a:solidFill>
                  <a:srgbClr val="E2E8F0"/>
                </a:solidFill>
                <a:latin typeface="Consolas" pitchFamily="34" charset="0"/>
                <a:ea typeface="Consolas" pitchFamily="34" charset="-122"/>
                <a:cs typeface="Consolas" pitchFamily="34" charset="-120"/>
              </a:rPr>
              <a:t>└─ db/           MySQL 8 schema + seed (Docker)</a:t>
            </a:r>
            <a:endParaRPr lang="en-US" sz="1250" dirty="0"/>
          </a:p>
        </p:txBody>
      </p:sp>
      <p:sp>
        <p:nvSpPr>
          <p:cNvPr id="6" name="Text 4"/>
          <p:cNvSpPr/>
          <p:nvPr/>
        </p:nvSpPr>
        <p:spPr>
          <a:xfrm>
            <a:off x="7498080" y="1691640"/>
            <a:ext cx="4206240" cy="3840480"/>
          </a:xfrm>
          <a:prstGeom prst="rect">
            <a:avLst/>
          </a:prstGeom>
          <a:noFill/>
          <a:ln/>
        </p:spPr>
        <p:txBody>
          <a:bodyPr wrap="square" lIns="0" tIns="0" rIns="0" bIns="0" rtlCol="0" anchor="t">
            <a:spAutoFit/>
          </a:bodyPr>
          <a:lstStyle/>
          <a:p>
            <a:pPr marL="203200" indent="-203200">
              <a:spcAft>
                <a:spcPts val="1100"/>
              </a:spcAft>
              <a:buSzPct val="100000"/>
              <a:buChar char="•"/>
            </a:pPr>
            <a:r>
              <a:rPr lang="en-US" sz="1400" b="1" dirty="0">
                <a:solidFill>
                  <a:srgbClr val="1E293B"/>
                </a:solidFill>
                <a:latin typeface="Calibri" pitchFamily="34" charset="0"/>
                <a:ea typeface="Calibri" pitchFamily="34" charset="-122"/>
                <a:cs typeface="Calibri" pitchFamily="34" charset="-120"/>
              </a:rPr>
              <a:t>One repo, four packages, clear boundaries</a:t>
            </a:r>
            <a:endParaRPr lang="en-US" sz="1400" dirty="0"/>
          </a:p>
          <a:p>
            <a:pPr marL="203200" indent="-203200">
              <a:spcAft>
                <a:spcPts val="1100"/>
              </a:spcAft>
              <a:buSzPct val="100000"/>
              <a:buChar char="•"/>
            </a:pPr>
            <a:r>
              <a:rPr lang="en-US" sz="1400" b="1" dirty="0">
                <a:solidFill>
                  <a:srgbClr val="1E293B"/>
                </a:solidFill>
                <a:latin typeface="Calibri" pitchFamily="34" charset="0"/>
                <a:ea typeface="Calibri" pitchFamily="34" charset="-122"/>
                <a:cs typeface="Calibri" pitchFamily="34" charset="-120"/>
              </a:rPr>
              <a:t>Build order: shared + wasm → then apps</a:t>
            </a:r>
            <a:endParaRPr lang="en-US" sz="1400" dirty="0"/>
          </a:p>
          <a:p>
            <a:pPr marL="203200" indent="-203200">
              <a:spcAft>
                <a:spcPts val="1100"/>
              </a:spcAft>
              <a:buSzPct val="100000"/>
              <a:buChar char="•"/>
            </a:pPr>
            <a:r>
              <a:rPr lang="en-US" sz="1400" b="1" dirty="0">
                <a:solidFill>
                  <a:srgbClr val="1E293B"/>
                </a:solidFill>
                <a:latin typeface="Calibri" pitchFamily="34" charset="0"/>
                <a:ea typeface="Calibri" pitchFamily="34" charset="-122"/>
                <a:cs typeface="Calibri" pitchFamily="34" charset="-120"/>
              </a:rPr>
              <a:t>Shared enums prevent web/API status drift</a:t>
            </a:r>
            <a:endParaRPr lang="en-US" sz="1400" dirty="0"/>
          </a:p>
          <a:p>
            <a:pPr marL="203200" indent="-203200">
              <a:spcAft>
                <a:spcPts val="1100"/>
              </a:spcAft>
              <a:buSzPct val="100000"/>
              <a:buChar char="•"/>
            </a:pPr>
            <a:r>
              <a:rPr lang="en-US" sz="1400" b="1" dirty="0">
                <a:solidFill>
                  <a:srgbClr val="1E293B"/>
                </a:solidFill>
                <a:latin typeface="Calibri" pitchFamily="34" charset="0"/>
                <a:ea typeface="Calibri" pitchFamily="34" charset="-122"/>
                <a:cs typeface="Calibri" pitchFamily="34" charset="-120"/>
              </a:rPr>
              <a:t>DB schema + seed live in db/ and run via Docker</a:t>
            </a:r>
            <a:endParaRPr lang="en-US" sz="1400" dirty="0"/>
          </a:p>
        </p:txBody>
      </p:sp>
      <p:sp>
        <p:nvSpPr>
          <p:cNvPr id="25" name="Slide Number Placeholder 0"/>
          <p:cNvSpPr>
            <a:spLocks noGrp="1"/>
          </p:cNvSpPr>
          <p:nvPr>
            <p:ph type="sldNum" sz="quarter" idx="4294967295"/>
          </p:nvPr>
        </p:nvSpPr>
        <p:spPr>
          <a:xfrm>
            <a:off x="11612880" y="6455664"/>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latin typeface="Calibri"/>
                <a:ea typeface="Calibri"/>
                <a:cs typeface="Calibri"/>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01752"/>
            <a:ext cx="11064240" cy="274320"/>
          </a:xfrm>
          <a:prstGeom prst="rect">
            <a:avLst/>
          </a:prstGeom>
          <a:noFill/>
          <a:ln/>
        </p:spPr>
        <p:txBody>
          <a:bodyPr wrap="square" lIns="0" tIns="0" rIns="0" bIns="0" rtlCol="0" anchor="ctr"/>
          <a:lstStyle/>
          <a:p>
            <a:pPr indent="0" marL="0">
              <a:buNone/>
            </a:pPr>
            <a:r>
              <a:rPr lang="en-US" sz="1100" b="1" spc="200" kern="0" dirty="0">
                <a:solidFill>
                  <a:srgbClr val="FF5A5F"/>
                </a:solidFill>
                <a:latin typeface="Calibri" pitchFamily="34" charset="0"/>
                <a:ea typeface="Calibri" pitchFamily="34" charset="-122"/>
                <a:cs typeface="Calibri" pitchFamily="34" charset="-120"/>
              </a:rPr>
              <a:t>02 · ARCHITECTURE</a:t>
            </a:r>
            <a:endParaRPr lang="en-US" sz="110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Georgia" pitchFamily="34" charset="0"/>
                <a:ea typeface="Georgia" pitchFamily="34" charset="-122"/>
                <a:cs typeface="Georgia" pitchFamily="34" charset="-120"/>
              </a:rPr>
              <a:t>Request lifecycle</a:t>
            </a:r>
            <a:endParaRPr lang="en-US" sz="3000" dirty="0"/>
          </a:p>
        </p:txBody>
      </p:sp>
      <p:pic>
        <p:nvPicPr>
          <p:cNvPr id="4" name="Image 0" descr="requestLifecycle">    </p:cNvPr>
          <p:cNvPicPr>
            <a:picLocks noChangeAspect="1"/>
          </p:cNvPicPr>
          <p:nvPr/>
        </p:nvPicPr>
        <p:blipFill>
          <a:blip r:embed="rId1"/>
          <a:stretch>
            <a:fillRect/>
          </a:stretch>
        </p:blipFill>
        <p:spPr>
          <a:xfrm>
            <a:off x="548640" y="2148049"/>
            <a:ext cx="7315200" cy="3476303"/>
          </a:xfrm>
          <a:prstGeom prst="rect">
            <a:avLst/>
          </a:prstGeom>
        </p:spPr>
      </p:pic>
      <p:sp>
        <p:nvSpPr>
          <p:cNvPr id="5" name="Text 2"/>
          <p:cNvSpPr/>
          <p:nvPr/>
        </p:nvSpPr>
        <p:spPr>
          <a:xfrm>
            <a:off x="8046720" y="1691640"/>
            <a:ext cx="3657600" cy="4572000"/>
          </a:xfrm>
          <a:prstGeom prst="rect">
            <a:avLst/>
          </a:prstGeom>
          <a:noFill/>
          <a:ln/>
        </p:spPr>
        <p:txBody>
          <a:bodyPr wrap="square" lIns="0" tIns="0" rIns="0" bIns="0" rtlCol="0" anchor="t">
            <a:spAutoFit/>
          </a:bodyPr>
          <a:lstStyle/>
          <a:p>
            <a:pPr marL="203200" indent="-203200">
              <a:spcAft>
                <a:spcPts val="1000"/>
              </a:spcAft>
              <a:buSzPct val="100000"/>
              <a:buChar char="•"/>
            </a:pPr>
            <a:r>
              <a:rPr lang="en-US" sz="1350" b="1" dirty="0">
                <a:solidFill>
                  <a:srgbClr val="1E293B"/>
                </a:solidFill>
                <a:latin typeface="Calibri" pitchFamily="34" charset="0"/>
                <a:ea typeface="Calibri" pitchFamily="34" charset="-122"/>
                <a:cs typeface="Calibri" pitchFamily="34" charset="-120"/>
              </a:rPr>
              <a:t>Every authenticated call follows the same path</a:t>
            </a:r>
            <a:endParaRPr lang="en-US" sz="1350" dirty="0"/>
          </a:p>
          <a:p>
            <a:pPr marL="203200" indent="-203200">
              <a:spcAft>
                <a:spcPts val="1000"/>
              </a:spcAft>
              <a:buSzPct val="100000"/>
              <a:buChar char="•"/>
            </a:pPr>
            <a:r>
              <a:rPr lang="en-US" sz="1350" b="1" dirty="0">
                <a:solidFill>
                  <a:srgbClr val="1E293B"/>
                </a:solidFill>
                <a:latin typeface="Calibri" pitchFamily="34" charset="0"/>
                <a:ea typeface="Calibri" pitchFamily="34" charset="-122"/>
                <a:cs typeface="Calibri" pitchFamily="34" charset="-120"/>
              </a:rPr>
              <a:t>JWT verified, then @Roles checked by a guard</a:t>
            </a:r>
            <a:endParaRPr lang="en-US" sz="1350" dirty="0"/>
          </a:p>
          <a:p>
            <a:pPr marL="203200" indent="-203200">
              <a:spcAft>
                <a:spcPts val="1000"/>
              </a:spcAft>
              <a:buSzPct val="100000"/>
              <a:buChar char="•"/>
            </a:pPr>
            <a:r>
              <a:rPr lang="en-US" sz="1350" b="1" dirty="0">
                <a:solidFill>
                  <a:srgbClr val="1E293B"/>
                </a:solidFill>
                <a:latin typeface="Calibri" pitchFamily="34" charset="0"/>
                <a:ea typeface="Calibri" pitchFamily="34" charset="-122"/>
                <a:cs typeface="Calibri" pitchFamily="34" charset="-120"/>
              </a:rPr>
              <a:t>DTOs validated by a global ValidationPipe</a:t>
            </a:r>
            <a:endParaRPr lang="en-US" sz="1350" dirty="0"/>
          </a:p>
          <a:p>
            <a:pPr marL="203200" indent="-203200">
              <a:spcAft>
                <a:spcPts val="1000"/>
              </a:spcAft>
              <a:buSzPct val="100000"/>
              <a:buChar char="•"/>
            </a:pPr>
            <a:r>
              <a:rPr lang="en-US" sz="1350" b="1" dirty="0">
                <a:solidFill>
                  <a:srgbClr val="1E293B"/>
                </a:solidFill>
                <a:latin typeface="Calibri" pitchFamily="34" charset="0"/>
                <a:ea typeface="Calibri" pitchFamily="34" charset="-122"/>
                <a:cs typeface="Calibri" pitchFamily="34" charset="-120"/>
              </a:rPr>
              <a:t>Service runs parameterized SQL via DbService</a:t>
            </a:r>
            <a:endParaRPr lang="en-US" sz="1350" dirty="0"/>
          </a:p>
          <a:p>
            <a:pPr marL="203200" indent="-203200">
              <a:spcAft>
                <a:spcPts val="1000"/>
              </a:spcAft>
              <a:buSzPct val="100000"/>
              <a:buChar char="•"/>
            </a:pPr>
            <a:r>
              <a:rPr lang="en-US" sz="1350" b="1" dirty="0">
                <a:solidFill>
                  <a:srgbClr val="1E293B"/>
                </a:solidFill>
                <a:latin typeface="Calibri" pitchFamily="34" charset="0"/>
                <a:ea typeface="Calibri" pitchFamily="34" charset="-122"/>
                <a:cs typeface="Calibri" pitchFamily="34" charset="-120"/>
              </a:rPr>
              <a:t>Consistent JSON + Nest error shape back</a:t>
            </a:r>
            <a:endParaRPr lang="en-US" sz="1350" dirty="0"/>
          </a:p>
        </p:txBody>
      </p:sp>
      <p:sp>
        <p:nvSpPr>
          <p:cNvPr id="25" name="Slide Number Placeholder 0"/>
          <p:cNvSpPr>
            <a:spLocks noGrp="1"/>
          </p:cNvSpPr>
          <p:nvPr>
            <p:ph type="sldNum" sz="quarter" idx="4294967295"/>
          </p:nvPr>
        </p:nvSpPr>
        <p:spPr>
          <a:xfrm>
            <a:off x="11612880" y="6455664"/>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latin typeface="Calibri"/>
                <a:ea typeface="Calibri"/>
                <a:cs typeface="Calibri"/>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01752"/>
            <a:ext cx="11064240" cy="274320"/>
          </a:xfrm>
          <a:prstGeom prst="rect">
            <a:avLst/>
          </a:prstGeom>
          <a:noFill/>
          <a:ln/>
        </p:spPr>
        <p:txBody>
          <a:bodyPr wrap="square" lIns="0" tIns="0" rIns="0" bIns="0" rtlCol="0" anchor="ctr"/>
          <a:lstStyle/>
          <a:p>
            <a:pPr indent="0" marL="0">
              <a:buNone/>
            </a:pPr>
            <a:r>
              <a:rPr lang="en-US" sz="1100" b="1" spc="200" kern="0" dirty="0">
                <a:solidFill>
                  <a:srgbClr val="FF5A5F"/>
                </a:solidFill>
                <a:latin typeface="Calibri" pitchFamily="34" charset="0"/>
                <a:ea typeface="Calibri" pitchFamily="34" charset="-122"/>
                <a:cs typeface="Calibri" pitchFamily="34" charset="-120"/>
              </a:rPr>
              <a:t>02 · ARCHITECTURE</a:t>
            </a:r>
            <a:endParaRPr lang="en-US" sz="110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Georgia" pitchFamily="34" charset="0"/>
                <a:ea typeface="Georgia" pitchFamily="34" charset="-122"/>
                <a:cs typeface="Georgia" pitchFamily="34" charset="-120"/>
              </a:rPr>
              <a:t>The workflow engine: state machines</a:t>
            </a:r>
            <a:endParaRPr lang="en-US" sz="3000" dirty="0"/>
          </a:p>
        </p:txBody>
      </p:sp>
      <p:sp>
        <p:nvSpPr>
          <p:cNvPr id="4" name="Text 2"/>
          <p:cNvSpPr/>
          <p:nvPr/>
        </p:nvSpPr>
        <p:spPr>
          <a:xfrm>
            <a:off x="640080" y="1600200"/>
            <a:ext cx="5852160" cy="2377440"/>
          </a:xfrm>
          <a:prstGeom prst="rect">
            <a:avLst/>
          </a:prstGeom>
          <a:noFill/>
          <a:ln/>
        </p:spPr>
        <p:txBody>
          <a:bodyPr wrap="square" lIns="0" tIns="0" rIns="0" bIns="0" rtlCol="0" anchor="t">
            <a:spAutoFit/>
          </a:bodyPr>
          <a:lstStyle/>
          <a:p>
            <a:pPr marL="203200" indent="-203200">
              <a:spcAft>
                <a:spcPts val="900"/>
              </a:spcAft>
              <a:buSzPct val="100000"/>
              <a:buChar char="•"/>
            </a:pPr>
            <a:r>
              <a:rPr lang="en-US" sz="1500" b="1" dirty="0">
                <a:solidFill>
                  <a:srgbClr val="1E293B"/>
                </a:solidFill>
                <a:latin typeface="Calibri" pitchFamily="34" charset="0"/>
                <a:ea typeface="Calibri" pitchFamily="34" charset="-122"/>
                <a:cs typeface="Calibri" pitchFamily="34" charset="-120"/>
              </a:rPr>
              <a:t>Status enums + transition maps are the rules engine</a:t>
            </a:r>
            <a:endParaRPr lang="en-US" sz="1500" dirty="0"/>
          </a:p>
          <a:p>
            <a:pPr marL="203200" indent="-203200">
              <a:spcAft>
                <a:spcPts val="900"/>
              </a:spcAft>
              <a:buSzPct val="100000"/>
              <a:buChar char="•"/>
            </a:pPr>
            <a:r>
              <a:rPr lang="en-US" sz="1500" b="1" dirty="0">
                <a:solidFill>
                  <a:srgbClr val="1E293B"/>
                </a:solidFill>
                <a:latin typeface="Calibri" pitchFamily="34" charset="0"/>
                <a:ea typeface="Calibri" pitchFamily="34" charset="-122"/>
                <a:cs typeface="Calibri" pitchFamily="34" charset="-120"/>
              </a:rPr>
              <a:t>Six entities have explicit, enforced transition maps</a:t>
            </a:r>
            <a:endParaRPr lang="en-US" sz="1500" dirty="0"/>
          </a:p>
          <a:p>
            <a:pPr marL="203200" indent="-203200">
              <a:spcAft>
                <a:spcPts val="900"/>
              </a:spcAft>
              <a:buSzPct val="100000"/>
              <a:buChar char="•"/>
            </a:pPr>
            <a:r>
              <a:rPr lang="en-US" sz="1500" b="1" dirty="0">
                <a:solidFill>
                  <a:srgbClr val="1E293B"/>
                </a:solidFill>
                <a:latin typeface="Calibri" pitchFamily="34" charset="0"/>
                <a:ea typeface="Calibri" pitchFamily="34" charset="-122"/>
                <a:cs typeface="Calibri" pitchFamily="34" charset="-120"/>
              </a:rPr>
              <a:t>Services call canTransition() before any status write</a:t>
            </a:r>
            <a:endParaRPr lang="en-US" sz="1500" dirty="0"/>
          </a:p>
          <a:p>
            <a:pPr marL="203200" indent="-203200">
              <a:spcAft>
                <a:spcPts val="900"/>
              </a:spcAft>
              <a:buSzPct val="100000"/>
              <a:buChar char="•"/>
            </a:pPr>
            <a:r>
              <a:rPr lang="en-US" sz="1500" b="1" dirty="0">
                <a:solidFill>
                  <a:srgbClr val="1E293B"/>
                </a:solidFill>
                <a:latin typeface="Calibri" pitchFamily="34" charset="0"/>
                <a:ea typeface="Calibri" pitchFamily="34" charset="-122"/>
                <a:cs typeface="Calibri" pitchFamily="34" charset="-120"/>
              </a:rPr>
              <a:t>Illegal transition → HTTP 400, never a bad state</a:t>
            </a:r>
            <a:endParaRPr lang="en-US" sz="1500" dirty="0"/>
          </a:p>
        </p:txBody>
      </p:sp>
      <p:sp>
        <p:nvSpPr>
          <p:cNvPr id="5" name="Shape 3"/>
          <p:cNvSpPr/>
          <p:nvPr/>
        </p:nvSpPr>
        <p:spPr>
          <a:xfrm>
            <a:off x="640080" y="3977640"/>
            <a:ext cx="5852160" cy="1737360"/>
          </a:xfrm>
          <a:prstGeom prst="rect">
            <a:avLst/>
          </a:prstGeom>
          <a:solidFill>
            <a:srgbClr val="0F172A"/>
          </a:solidFill>
          <a:ln w="9525">
            <a:solidFill>
              <a:srgbClr val="CBD5E1"/>
            </a:solidFill>
            <a:prstDash val="solid"/>
          </a:ln>
          <a:effectLst>
            <a:outerShdw sx="100000" sy="100000" kx="0" ky="0" algn="bl" rotWithShape="0" blurRad="88900" dist="38100" dir="8100000">
              <a:srgbClr val="000000">
                <a:alpha val="16000"/>
              </a:srgbClr>
            </a:outerShdw>
          </a:effectLst>
        </p:spPr>
      </p:sp>
      <p:sp>
        <p:nvSpPr>
          <p:cNvPr id="6" name="Text 4"/>
          <p:cNvSpPr/>
          <p:nvPr/>
        </p:nvSpPr>
        <p:spPr>
          <a:xfrm>
            <a:off x="868680" y="4114800"/>
            <a:ext cx="5486400" cy="1463040"/>
          </a:xfrm>
          <a:prstGeom prst="rect">
            <a:avLst/>
          </a:prstGeom>
          <a:noFill/>
          <a:ln/>
        </p:spPr>
        <p:txBody>
          <a:bodyPr wrap="square" lIns="0" tIns="0" rIns="0" bIns="0" rtlCol="0" anchor="t"/>
          <a:lstStyle/>
          <a:p>
            <a:pPr indent="0" marL="0">
              <a:buNone/>
            </a:pPr>
            <a:r>
              <a:rPr lang="en-US" sz="1200" dirty="0">
                <a:solidFill>
                  <a:srgbClr val="E2E8F0"/>
                </a:solidFill>
                <a:latin typeface="Consolas" pitchFamily="34" charset="0"/>
                <a:ea typeface="Consolas" pitchFamily="34" charset="-122"/>
                <a:cs typeface="Consolas" pitchFamily="34" charset="-120"/>
              </a:rPr>
              <a:t>export function canTransition&lt;T extends string&gt;(</a:t>
            </a:r>
            <a:endParaRPr lang="en-US" sz="1200" dirty="0"/>
          </a:p>
          <a:p>
            <a:pPr indent="0" marL="0">
              <a:buNone/>
            </a:pPr>
            <a:r>
              <a:rPr lang="en-US" sz="1200" dirty="0">
                <a:solidFill>
                  <a:srgbClr val="E2E8F0"/>
                </a:solidFill>
                <a:latin typeface="Consolas" pitchFamily="34" charset="0"/>
                <a:ea typeface="Consolas" pitchFamily="34" charset="-122"/>
                <a:cs typeface="Consolas" pitchFamily="34" charset="-120"/>
              </a:rPr>
              <a:t>  map: Record&lt;T, T[]&gt;, from: T, to: T,</a:t>
            </a:r>
            <a:endParaRPr lang="en-US" sz="1200" dirty="0"/>
          </a:p>
          <a:p>
            <a:pPr indent="0" marL="0">
              <a:buNone/>
            </a:pPr>
            <a:r>
              <a:rPr lang="en-US" sz="1200" dirty="0">
                <a:solidFill>
                  <a:srgbClr val="E2E8F0"/>
                </a:solidFill>
                <a:latin typeface="Consolas" pitchFamily="34" charset="0"/>
                <a:ea typeface="Consolas" pitchFamily="34" charset="-122"/>
                <a:cs typeface="Consolas" pitchFamily="34" charset="-120"/>
              </a:rPr>
              <a:t>): boolean {</a:t>
            </a:r>
            <a:endParaRPr lang="en-US" sz="1200" dirty="0"/>
          </a:p>
          <a:p>
            <a:pPr indent="0" marL="0">
              <a:buNone/>
            </a:pPr>
            <a:r>
              <a:rPr lang="en-US" sz="1200" dirty="0">
                <a:solidFill>
                  <a:srgbClr val="E2E8F0"/>
                </a:solidFill>
                <a:latin typeface="Consolas" pitchFamily="34" charset="0"/>
                <a:ea typeface="Consolas" pitchFamily="34" charset="-122"/>
                <a:cs typeface="Consolas" pitchFamily="34" charset="-120"/>
              </a:rPr>
              <a:t>  return map[from]?.includes(to) ?? false;</a:t>
            </a:r>
            <a:endParaRPr lang="en-US" sz="1200" dirty="0"/>
          </a:p>
          <a:p>
            <a:pPr indent="0" marL="0">
              <a:buNone/>
            </a:pPr>
            <a:r>
              <a:rPr lang="en-US" sz="1200" dirty="0">
                <a:solidFill>
                  <a:srgbClr val="E2E8F0"/>
                </a:solidFill>
                <a:latin typeface="Consolas" pitchFamily="34" charset="0"/>
                <a:ea typeface="Consolas" pitchFamily="34" charset="-122"/>
                <a:cs typeface="Consolas" pitchFamily="34" charset="-120"/>
              </a:rPr>
              <a:t>}</a:t>
            </a:r>
            <a:endParaRPr lang="en-US" sz="1200" dirty="0"/>
          </a:p>
        </p:txBody>
      </p:sp>
      <p:sp>
        <p:nvSpPr>
          <p:cNvPr id="7" name="Shape 5"/>
          <p:cNvSpPr/>
          <p:nvPr/>
        </p:nvSpPr>
        <p:spPr>
          <a:xfrm>
            <a:off x="6949440" y="1691640"/>
            <a:ext cx="2286000" cy="1097280"/>
          </a:xfrm>
          <a:prstGeom prst="rect">
            <a:avLst/>
          </a:prstGeom>
          <a:solidFill>
            <a:srgbClr val="F8FAFC"/>
          </a:solidFill>
          <a:ln w="9525">
            <a:solidFill>
              <a:srgbClr val="CBD5E1"/>
            </a:solidFill>
            <a:prstDash val="solid"/>
          </a:ln>
          <a:effectLst>
            <a:outerShdw sx="100000" sy="100000" kx="0" ky="0" algn="bl" rotWithShape="0" blurRad="88900" dist="38100" dir="8100000">
              <a:srgbClr val="000000">
                <a:alpha val="16000"/>
              </a:srgbClr>
            </a:outerShdw>
          </a:effectLst>
        </p:spPr>
      </p:sp>
      <p:sp>
        <p:nvSpPr>
          <p:cNvPr id="8" name="Shape 6"/>
          <p:cNvSpPr/>
          <p:nvPr/>
        </p:nvSpPr>
        <p:spPr>
          <a:xfrm>
            <a:off x="6949440" y="1691640"/>
            <a:ext cx="64008" cy="1097280"/>
          </a:xfrm>
          <a:prstGeom prst="rect">
            <a:avLst/>
          </a:prstGeom>
          <a:solidFill>
            <a:srgbClr val="1E2761"/>
          </a:solidFill>
          <a:ln/>
        </p:spPr>
      </p:sp>
      <p:sp>
        <p:nvSpPr>
          <p:cNvPr id="9" name="Text 7"/>
          <p:cNvSpPr/>
          <p:nvPr/>
        </p:nvSpPr>
        <p:spPr>
          <a:xfrm>
            <a:off x="7132320" y="1874520"/>
            <a:ext cx="2011680" cy="365760"/>
          </a:xfrm>
          <a:prstGeom prst="rect">
            <a:avLst/>
          </a:prstGeom>
          <a:noFill/>
          <a:ln/>
        </p:spPr>
        <p:txBody>
          <a:bodyPr wrap="square" lIns="0" tIns="0" rIns="0" bIns="0" rtlCol="0" anchor="ctr"/>
          <a:lstStyle/>
          <a:p>
            <a:pPr indent="0" marL="0">
              <a:buNone/>
            </a:pPr>
            <a:r>
              <a:rPr lang="en-US" sz="1350" b="1" dirty="0">
                <a:solidFill>
                  <a:srgbClr val="1E2761"/>
                </a:solidFill>
                <a:latin typeface="Georgia" pitchFamily="34" charset="0"/>
                <a:ea typeface="Georgia" pitchFamily="34" charset="-122"/>
                <a:cs typeface="Georgia" pitchFamily="34" charset="-120"/>
              </a:rPr>
              <a:t>Proposal</a:t>
            </a:r>
            <a:endParaRPr lang="en-US" sz="1350" dirty="0"/>
          </a:p>
        </p:txBody>
      </p:sp>
      <p:sp>
        <p:nvSpPr>
          <p:cNvPr id="10" name="Text 8"/>
          <p:cNvSpPr/>
          <p:nvPr/>
        </p:nvSpPr>
        <p:spPr>
          <a:xfrm>
            <a:off x="7132320" y="2258568"/>
            <a:ext cx="2011680" cy="365760"/>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transition map</a:t>
            </a:r>
            <a:endParaRPr lang="en-US" sz="1050" dirty="0"/>
          </a:p>
        </p:txBody>
      </p:sp>
      <p:sp>
        <p:nvSpPr>
          <p:cNvPr id="11" name="Shape 9"/>
          <p:cNvSpPr/>
          <p:nvPr/>
        </p:nvSpPr>
        <p:spPr>
          <a:xfrm>
            <a:off x="9418320" y="1691640"/>
            <a:ext cx="2286000" cy="1097280"/>
          </a:xfrm>
          <a:prstGeom prst="rect">
            <a:avLst/>
          </a:prstGeom>
          <a:solidFill>
            <a:srgbClr val="F8FAFC"/>
          </a:solidFill>
          <a:ln w="9525">
            <a:solidFill>
              <a:srgbClr val="CBD5E1"/>
            </a:solidFill>
            <a:prstDash val="solid"/>
          </a:ln>
          <a:effectLst>
            <a:outerShdw sx="100000" sy="100000" kx="0" ky="0" algn="bl" rotWithShape="0" blurRad="88900" dist="38100" dir="8100000">
              <a:srgbClr val="000000">
                <a:alpha val="16000"/>
              </a:srgbClr>
            </a:outerShdw>
          </a:effectLst>
        </p:spPr>
      </p:sp>
      <p:sp>
        <p:nvSpPr>
          <p:cNvPr id="12" name="Shape 10"/>
          <p:cNvSpPr/>
          <p:nvPr/>
        </p:nvSpPr>
        <p:spPr>
          <a:xfrm>
            <a:off x="9418320" y="1691640"/>
            <a:ext cx="64008" cy="1097280"/>
          </a:xfrm>
          <a:prstGeom prst="rect">
            <a:avLst/>
          </a:prstGeom>
          <a:solidFill>
            <a:srgbClr val="1E2761"/>
          </a:solidFill>
          <a:ln/>
        </p:spPr>
      </p:sp>
      <p:sp>
        <p:nvSpPr>
          <p:cNvPr id="13" name="Text 11"/>
          <p:cNvSpPr/>
          <p:nvPr/>
        </p:nvSpPr>
        <p:spPr>
          <a:xfrm>
            <a:off x="9601200" y="1874520"/>
            <a:ext cx="2011680" cy="365760"/>
          </a:xfrm>
          <a:prstGeom prst="rect">
            <a:avLst/>
          </a:prstGeom>
          <a:noFill/>
          <a:ln/>
        </p:spPr>
        <p:txBody>
          <a:bodyPr wrap="square" lIns="0" tIns="0" rIns="0" bIns="0" rtlCol="0" anchor="ctr"/>
          <a:lstStyle/>
          <a:p>
            <a:pPr indent="0" marL="0">
              <a:buNone/>
            </a:pPr>
            <a:r>
              <a:rPr lang="en-US" sz="1350" b="1" dirty="0">
                <a:solidFill>
                  <a:srgbClr val="1E2761"/>
                </a:solidFill>
                <a:latin typeface="Georgia" pitchFamily="34" charset="0"/>
                <a:ea typeface="Georgia" pitchFamily="34" charset="-122"/>
                <a:cs typeface="Georgia" pitchFamily="34" charset="-120"/>
              </a:rPr>
              <a:t>Chapter</a:t>
            </a:r>
            <a:endParaRPr lang="en-US" sz="1350" dirty="0"/>
          </a:p>
        </p:txBody>
      </p:sp>
      <p:sp>
        <p:nvSpPr>
          <p:cNvPr id="14" name="Text 12"/>
          <p:cNvSpPr/>
          <p:nvPr/>
        </p:nvSpPr>
        <p:spPr>
          <a:xfrm>
            <a:off x="9601200" y="2258568"/>
            <a:ext cx="2011680" cy="365760"/>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transition map</a:t>
            </a:r>
            <a:endParaRPr lang="en-US" sz="1050" dirty="0"/>
          </a:p>
        </p:txBody>
      </p:sp>
      <p:sp>
        <p:nvSpPr>
          <p:cNvPr id="15" name="Shape 13"/>
          <p:cNvSpPr/>
          <p:nvPr/>
        </p:nvSpPr>
        <p:spPr>
          <a:xfrm>
            <a:off x="6949440" y="3017520"/>
            <a:ext cx="2286000" cy="1097280"/>
          </a:xfrm>
          <a:prstGeom prst="rect">
            <a:avLst/>
          </a:prstGeom>
          <a:solidFill>
            <a:srgbClr val="F8FAFC"/>
          </a:solidFill>
          <a:ln w="9525">
            <a:solidFill>
              <a:srgbClr val="CBD5E1"/>
            </a:solidFill>
            <a:prstDash val="solid"/>
          </a:ln>
          <a:effectLst>
            <a:outerShdw sx="100000" sy="100000" kx="0" ky="0" algn="bl" rotWithShape="0" blurRad="88900" dist="38100" dir="8100000">
              <a:srgbClr val="000000">
                <a:alpha val="16000"/>
              </a:srgbClr>
            </a:outerShdw>
          </a:effectLst>
        </p:spPr>
      </p:sp>
      <p:sp>
        <p:nvSpPr>
          <p:cNvPr id="16" name="Shape 14"/>
          <p:cNvSpPr/>
          <p:nvPr/>
        </p:nvSpPr>
        <p:spPr>
          <a:xfrm>
            <a:off x="6949440" y="3017520"/>
            <a:ext cx="64008" cy="1097280"/>
          </a:xfrm>
          <a:prstGeom prst="rect">
            <a:avLst/>
          </a:prstGeom>
          <a:solidFill>
            <a:srgbClr val="1E2761"/>
          </a:solidFill>
          <a:ln/>
        </p:spPr>
      </p:sp>
      <p:sp>
        <p:nvSpPr>
          <p:cNvPr id="17" name="Text 15"/>
          <p:cNvSpPr/>
          <p:nvPr/>
        </p:nvSpPr>
        <p:spPr>
          <a:xfrm>
            <a:off x="7132320" y="3200400"/>
            <a:ext cx="2011680" cy="365760"/>
          </a:xfrm>
          <a:prstGeom prst="rect">
            <a:avLst/>
          </a:prstGeom>
          <a:noFill/>
          <a:ln/>
        </p:spPr>
        <p:txBody>
          <a:bodyPr wrap="square" lIns="0" tIns="0" rIns="0" bIns="0" rtlCol="0" anchor="ctr"/>
          <a:lstStyle/>
          <a:p>
            <a:pPr indent="0" marL="0">
              <a:buNone/>
            </a:pPr>
            <a:r>
              <a:rPr lang="en-US" sz="1350" b="1" dirty="0">
                <a:solidFill>
                  <a:srgbClr val="1E2761"/>
                </a:solidFill>
                <a:latin typeface="Georgia" pitchFamily="34" charset="0"/>
                <a:ea typeface="Georgia" pitchFamily="34" charset="-122"/>
                <a:cs typeface="Georgia" pitchFamily="34" charset="-120"/>
              </a:rPr>
              <a:t>Page</a:t>
            </a:r>
            <a:endParaRPr lang="en-US" sz="1350" dirty="0"/>
          </a:p>
        </p:txBody>
      </p:sp>
      <p:sp>
        <p:nvSpPr>
          <p:cNvPr id="18" name="Text 16"/>
          <p:cNvSpPr/>
          <p:nvPr/>
        </p:nvSpPr>
        <p:spPr>
          <a:xfrm>
            <a:off x="7132320" y="3584448"/>
            <a:ext cx="2011680" cy="365760"/>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transition map</a:t>
            </a:r>
            <a:endParaRPr lang="en-US" sz="1050" dirty="0"/>
          </a:p>
        </p:txBody>
      </p:sp>
      <p:sp>
        <p:nvSpPr>
          <p:cNvPr id="19" name="Shape 17"/>
          <p:cNvSpPr/>
          <p:nvPr/>
        </p:nvSpPr>
        <p:spPr>
          <a:xfrm>
            <a:off x="9418320" y="3017520"/>
            <a:ext cx="2286000" cy="1097280"/>
          </a:xfrm>
          <a:prstGeom prst="rect">
            <a:avLst/>
          </a:prstGeom>
          <a:solidFill>
            <a:srgbClr val="F8FAFC"/>
          </a:solidFill>
          <a:ln w="9525">
            <a:solidFill>
              <a:srgbClr val="CBD5E1"/>
            </a:solidFill>
            <a:prstDash val="solid"/>
          </a:ln>
          <a:effectLst>
            <a:outerShdw sx="100000" sy="100000" kx="0" ky="0" algn="bl" rotWithShape="0" blurRad="88900" dist="38100" dir="8100000">
              <a:srgbClr val="000000">
                <a:alpha val="16000"/>
              </a:srgbClr>
            </a:outerShdw>
          </a:effectLst>
        </p:spPr>
      </p:sp>
      <p:sp>
        <p:nvSpPr>
          <p:cNvPr id="20" name="Shape 18"/>
          <p:cNvSpPr/>
          <p:nvPr/>
        </p:nvSpPr>
        <p:spPr>
          <a:xfrm>
            <a:off x="9418320" y="3017520"/>
            <a:ext cx="64008" cy="1097280"/>
          </a:xfrm>
          <a:prstGeom prst="rect">
            <a:avLst/>
          </a:prstGeom>
          <a:solidFill>
            <a:srgbClr val="1E2761"/>
          </a:solidFill>
          <a:ln/>
        </p:spPr>
      </p:sp>
      <p:sp>
        <p:nvSpPr>
          <p:cNvPr id="21" name="Text 19"/>
          <p:cNvSpPr/>
          <p:nvPr/>
        </p:nvSpPr>
        <p:spPr>
          <a:xfrm>
            <a:off x="9601200" y="3200400"/>
            <a:ext cx="2011680" cy="365760"/>
          </a:xfrm>
          <a:prstGeom prst="rect">
            <a:avLst/>
          </a:prstGeom>
          <a:noFill/>
          <a:ln/>
        </p:spPr>
        <p:txBody>
          <a:bodyPr wrap="square" lIns="0" tIns="0" rIns="0" bIns="0" rtlCol="0" anchor="ctr"/>
          <a:lstStyle/>
          <a:p>
            <a:pPr indent="0" marL="0">
              <a:buNone/>
            </a:pPr>
            <a:r>
              <a:rPr lang="en-US" sz="1350" b="1" dirty="0">
                <a:solidFill>
                  <a:srgbClr val="1E2761"/>
                </a:solidFill>
                <a:latin typeface="Georgia" pitchFamily="34" charset="0"/>
                <a:ea typeface="Georgia" pitchFamily="34" charset="-122"/>
                <a:cs typeface="Georgia" pitchFamily="34" charset="-120"/>
              </a:rPr>
              <a:t>Task</a:t>
            </a:r>
            <a:endParaRPr lang="en-US" sz="1350" dirty="0"/>
          </a:p>
        </p:txBody>
      </p:sp>
      <p:sp>
        <p:nvSpPr>
          <p:cNvPr id="22" name="Text 20"/>
          <p:cNvSpPr/>
          <p:nvPr/>
        </p:nvSpPr>
        <p:spPr>
          <a:xfrm>
            <a:off x="9601200" y="3584448"/>
            <a:ext cx="2011680" cy="365760"/>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transition map</a:t>
            </a:r>
            <a:endParaRPr lang="en-US" sz="1050" dirty="0"/>
          </a:p>
        </p:txBody>
      </p:sp>
      <p:sp>
        <p:nvSpPr>
          <p:cNvPr id="23" name="Shape 21"/>
          <p:cNvSpPr/>
          <p:nvPr/>
        </p:nvSpPr>
        <p:spPr>
          <a:xfrm>
            <a:off x="6949440" y="4343400"/>
            <a:ext cx="2286000" cy="1097280"/>
          </a:xfrm>
          <a:prstGeom prst="rect">
            <a:avLst/>
          </a:prstGeom>
          <a:solidFill>
            <a:srgbClr val="F8FAFC"/>
          </a:solidFill>
          <a:ln w="9525">
            <a:solidFill>
              <a:srgbClr val="CBD5E1"/>
            </a:solidFill>
            <a:prstDash val="solid"/>
          </a:ln>
          <a:effectLst>
            <a:outerShdw sx="100000" sy="100000" kx="0" ky="0" algn="bl" rotWithShape="0" blurRad="88900" dist="38100" dir="8100000">
              <a:srgbClr val="000000">
                <a:alpha val="16000"/>
              </a:srgbClr>
            </a:outerShdw>
          </a:effectLst>
        </p:spPr>
      </p:sp>
      <p:sp>
        <p:nvSpPr>
          <p:cNvPr id="24" name="Shape 22"/>
          <p:cNvSpPr/>
          <p:nvPr/>
        </p:nvSpPr>
        <p:spPr>
          <a:xfrm>
            <a:off x="6949440" y="4343400"/>
            <a:ext cx="64008" cy="1097280"/>
          </a:xfrm>
          <a:prstGeom prst="rect">
            <a:avLst/>
          </a:prstGeom>
          <a:solidFill>
            <a:srgbClr val="1E2761"/>
          </a:solidFill>
          <a:ln/>
        </p:spPr>
      </p:sp>
      <p:sp>
        <p:nvSpPr>
          <p:cNvPr id="25" name="Text 23"/>
          <p:cNvSpPr/>
          <p:nvPr/>
        </p:nvSpPr>
        <p:spPr>
          <a:xfrm>
            <a:off x="7132320" y="4526280"/>
            <a:ext cx="2011680" cy="365760"/>
          </a:xfrm>
          <a:prstGeom prst="rect">
            <a:avLst/>
          </a:prstGeom>
          <a:noFill/>
          <a:ln/>
        </p:spPr>
        <p:txBody>
          <a:bodyPr wrap="square" lIns="0" tIns="0" rIns="0" bIns="0" rtlCol="0" anchor="ctr"/>
          <a:lstStyle/>
          <a:p>
            <a:pPr indent="0" marL="0">
              <a:buNone/>
            </a:pPr>
            <a:r>
              <a:rPr lang="en-US" sz="1350" b="1" dirty="0">
                <a:solidFill>
                  <a:srgbClr val="1E2761"/>
                </a:solidFill>
                <a:latin typeface="Georgia" pitchFamily="34" charset="0"/>
                <a:ea typeface="Georgia" pitchFamily="34" charset="-122"/>
                <a:cs typeface="Georgia" pitchFamily="34" charset="-120"/>
              </a:rPr>
              <a:t>Submission</a:t>
            </a:r>
            <a:endParaRPr lang="en-US" sz="1350" dirty="0"/>
          </a:p>
        </p:txBody>
      </p:sp>
      <p:sp>
        <p:nvSpPr>
          <p:cNvPr id="26" name="Text 24"/>
          <p:cNvSpPr/>
          <p:nvPr/>
        </p:nvSpPr>
        <p:spPr>
          <a:xfrm>
            <a:off x="7132320" y="4910328"/>
            <a:ext cx="2011680" cy="365760"/>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transition map</a:t>
            </a:r>
            <a:endParaRPr lang="en-US" sz="1050" dirty="0"/>
          </a:p>
        </p:txBody>
      </p:sp>
      <p:sp>
        <p:nvSpPr>
          <p:cNvPr id="27" name="Shape 25"/>
          <p:cNvSpPr/>
          <p:nvPr/>
        </p:nvSpPr>
        <p:spPr>
          <a:xfrm>
            <a:off x="9418320" y="4343400"/>
            <a:ext cx="2286000" cy="1097280"/>
          </a:xfrm>
          <a:prstGeom prst="rect">
            <a:avLst/>
          </a:prstGeom>
          <a:solidFill>
            <a:srgbClr val="F8FAFC"/>
          </a:solidFill>
          <a:ln w="9525">
            <a:solidFill>
              <a:srgbClr val="CBD5E1"/>
            </a:solidFill>
            <a:prstDash val="solid"/>
          </a:ln>
          <a:effectLst>
            <a:outerShdw sx="100000" sy="100000" kx="0" ky="0" algn="bl" rotWithShape="0" blurRad="88900" dist="38100" dir="8100000">
              <a:srgbClr val="000000">
                <a:alpha val="16000"/>
              </a:srgbClr>
            </a:outerShdw>
          </a:effectLst>
        </p:spPr>
      </p:sp>
      <p:sp>
        <p:nvSpPr>
          <p:cNvPr id="28" name="Shape 26"/>
          <p:cNvSpPr/>
          <p:nvPr/>
        </p:nvSpPr>
        <p:spPr>
          <a:xfrm>
            <a:off x="9418320" y="4343400"/>
            <a:ext cx="64008" cy="1097280"/>
          </a:xfrm>
          <a:prstGeom prst="rect">
            <a:avLst/>
          </a:prstGeom>
          <a:solidFill>
            <a:srgbClr val="1E2761"/>
          </a:solidFill>
          <a:ln/>
        </p:spPr>
      </p:sp>
      <p:sp>
        <p:nvSpPr>
          <p:cNvPr id="29" name="Text 27"/>
          <p:cNvSpPr/>
          <p:nvPr/>
        </p:nvSpPr>
        <p:spPr>
          <a:xfrm>
            <a:off x="9601200" y="4526280"/>
            <a:ext cx="2011680" cy="365760"/>
          </a:xfrm>
          <a:prstGeom prst="rect">
            <a:avLst/>
          </a:prstGeom>
          <a:noFill/>
          <a:ln/>
        </p:spPr>
        <p:txBody>
          <a:bodyPr wrap="square" lIns="0" tIns="0" rIns="0" bIns="0" rtlCol="0" anchor="ctr"/>
          <a:lstStyle/>
          <a:p>
            <a:pPr indent="0" marL="0">
              <a:buNone/>
            </a:pPr>
            <a:r>
              <a:rPr lang="en-US" sz="1350" b="1" dirty="0">
                <a:solidFill>
                  <a:srgbClr val="1E2761"/>
                </a:solidFill>
                <a:latin typeface="Georgia" pitchFamily="34" charset="0"/>
                <a:ea typeface="Georgia" pitchFamily="34" charset="-122"/>
                <a:cs typeface="Georgia" pitchFamily="34" charset="-120"/>
              </a:rPr>
              <a:t>Earning Dispute</a:t>
            </a:r>
            <a:endParaRPr lang="en-US" sz="1350" dirty="0"/>
          </a:p>
        </p:txBody>
      </p:sp>
      <p:sp>
        <p:nvSpPr>
          <p:cNvPr id="30" name="Text 28"/>
          <p:cNvSpPr/>
          <p:nvPr/>
        </p:nvSpPr>
        <p:spPr>
          <a:xfrm>
            <a:off x="9601200" y="4910328"/>
            <a:ext cx="2011680" cy="365760"/>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transition map</a:t>
            </a:r>
            <a:endParaRPr lang="en-US" sz="1050" dirty="0"/>
          </a:p>
        </p:txBody>
      </p:sp>
      <p:sp>
        <p:nvSpPr>
          <p:cNvPr id="25" name="Slide Number Placeholder 0"/>
          <p:cNvSpPr>
            <a:spLocks noGrp="1"/>
          </p:cNvSpPr>
          <p:nvPr>
            <p:ph type="sldNum" sz="quarter" idx="4294967295"/>
          </p:nvPr>
        </p:nvSpPr>
        <p:spPr>
          <a:xfrm>
            <a:off x="11612880" y="6455664"/>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latin typeface="Calibri"/>
                <a:ea typeface="Calibri"/>
                <a:cs typeface="Calibri"/>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4142B"/>
        </a:solidFill>
      </p:bgPr>
    </p:bg>
    <p:spTree>
      <p:nvGrpSpPr>
        <p:cNvPr id="1" name=""/>
        <p:cNvGrpSpPr/>
        <p:nvPr/>
      </p:nvGrpSpPr>
      <p:grpSpPr>
        <a:xfrm>
          <a:off x="0" y="0"/>
          <a:ext cx="0" cy="0"/>
          <a:chOff x="0" y="0"/>
          <a:chExt cx="0" cy="0"/>
        </a:xfrm>
      </p:grpSpPr>
      <p:sp>
        <p:nvSpPr>
          <p:cNvPr id="2" name="Text 0"/>
          <p:cNvSpPr/>
          <p:nvPr/>
        </p:nvSpPr>
        <p:spPr>
          <a:xfrm>
            <a:off x="731520" y="1280160"/>
            <a:ext cx="3657600" cy="2194560"/>
          </a:xfrm>
          <a:prstGeom prst="rect">
            <a:avLst/>
          </a:prstGeom>
          <a:noFill/>
          <a:ln/>
        </p:spPr>
        <p:txBody>
          <a:bodyPr wrap="square" lIns="0" tIns="0" rIns="0" bIns="0" rtlCol="0" anchor="ctr"/>
          <a:lstStyle/>
          <a:p>
            <a:pPr indent="0" marL="0">
              <a:buNone/>
            </a:pPr>
            <a:r>
              <a:rPr lang="en-US" sz="15000" b="1" dirty="0">
                <a:solidFill>
                  <a:srgbClr val="FF5A5F"/>
                </a:solidFill>
                <a:latin typeface="Georgia" pitchFamily="34" charset="0"/>
                <a:ea typeface="Georgia" pitchFamily="34" charset="-122"/>
                <a:cs typeface="Georgia" pitchFamily="34" charset="-120"/>
              </a:rPr>
              <a:t>03</a:t>
            </a:r>
            <a:endParaRPr lang="en-US" sz="15000" dirty="0"/>
          </a:p>
        </p:txBody>
      </p:sp>
      <p:sp>
        <p:nvSpPr>
          <p:cNvPr id="3" name="Text 1"/>
          <p:cNvSpPr/>
          <p:nvPr/>
        </p:nvSpPr>
        <p:spPr>
          <a:xfrm>
            <a:off x="822960" y="3657600"/>
            <a:ext cx="10515600" cy="1097280"/>
          </a:xfrm>
          <a:prstGeom prst="rect">
            <a:avLst/>
          </a:prstGeom>
          <a:noFill/>
          <a:ln/>
        </p:spPr>
        <p:txBody>
          <a:bodyPr wrap="square" lIns="0" tIns="0" rIns="0" bIns="0"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Data Model</a:t>
            </a:r>
            <a:endParaRPr lang="en-US" sz="4000" dirty="0"/>
          </a:p>
        </p:txBody>
      </p:sp>
      <p:sp>
        <p:nvSpPr>
          <p:cNvPr id="4" name="Text 2"/>
          <p:cNvSpPr/>
          <p:nvPr/>
        </p:nvSpPr>
        <p:spPr>
          <a:xfrm>
            <a:off x="868680" y="4709160"/>
            <a:ext cx="10058400" cy="1097280"/>
          </a:xfrm>
          <a:prstGeom prst="rect">
            <a:avLst/>
          </a:prstGeom>
          <a:noFill/>
          <a:ln/>
        </p:spPr>
        <p:txBody>
          <a:bodyPr wrap="square" lIns="0" tIns="0" rIns="0" bIns="0" rtlCol="0" anchor="ctr"/>
          <a:lstStyle/>
          <a:p>
            <a:pPr indent="0" marL="0">
              <a:buNone/>
            </a:pPr>
            <a:r>
              <a:rPr lang="en-US" sz="1600" dirty="0">
                <a:solidFill>
                  <a:srgbClr val="E8EDF9"/>
                </a:solidFill>
                <a:latin typeface="Calibri" pitchFamily="34" charset="0"/>
                <a:ea typeface="Calibri" pitchFamily="34" charset="-122"/>
                <a:cs typeface="Calibri" pitchFamily="34" charset="-120"/>
              </a:rPr>
              <a:t>29 tables across nine domains, with enforced lifecycles</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01752"/>
            <a:ext cx="11064240" cy="274320"/>
          </a:xfrm>
          <a:prstGeom prst="rect">
            <a:avLst/>
          </a:prstGeom>
          <a:noFill/>
          <a:ln/>
        </p:spPr>
        <p:txBody>
          <a:bodyPr wrap="square" lIns="0" tIns="0" rIns="0" bIns="0" rtlCol="0" anchor="ctr"/>
          <a:lstStyle/>
          <a:p>
            <a:pPr indent="0" marL="0">
              <a:buNone/>
            </a:pPr>
            <a:r>
              <a:rPr lang="en-US" sz="1100" b="1" spc="200" kern="0" dirty="0">
                <a:solidFill>
                  <a:srgbClr val="FF5A5F"/>
                </a:solidFill>
                <a:latin typeface="Calibri" pitchFamily="34" charset="0"/>
                <a:ea typeface="Calibri" pitchFamily="34" charset="-122"/>
                <a:cs typeface="Calibri" pitchFamily="34" charset="-120"/>
              </a:rPr>
              <a:t>03 · DATA MODEL</a:t>
            </a:r>
            <a:endParaRPr lang="en-US" sz="110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Georgia" pitchFamily="34" charset="0"/>
                <a:ea typeface="Georgia" pitchFamily="34" charset="-122"/>
                <a:cs typeface="Georgia" pitchFamily="34" charset="-120"/>
              </a:rPr>
              <a:t>Domain map</a:t>
            </a:r>
            <a:endParaRPr lang="en-US" sz="3000" dirty="0"/>
          </a:p>
        </p:txBody>
      </p:sp>
      <p:pic>
        <p:nvPicPr>
          <p:cNvPr id="4" name="Image 0" descr="domainMap">    </p:cNvPr>
          <p:cNvPicPr>
            <a:picLocks noChangeAspect="1"/>
          </p:cNvPicPr>
          <p:nvPr/>
        </p:nvPicPr>
        <p:blipFill>
          <a:blip r:embed="rId1"/>
          <a:stretch>
            <a:fillRect/>
          </a:stretch>
        </p:blipFill>
        <p:spPr>
          <a:xfrm>
            <a:off x="708891" y="1417320"/>
            <a:ext cx="2697017" cy="4937760"/>
          </a:xfrm>
          <a:prstGeom prst="rect">
            <a:avLst/>
          </a:prstGeom>
        </p:spPr>
      </p:pic>
      <p:sp>
        <p:nvSpPr>
          <p:cNvPr id="5" name="Text 2"/>
          <p:cNvSpPr/>
          <p:nvPr/>
        </p:nvSpPr>
        <p:spPr>
          <a:xfrm>
            <a:off x="3931920" y="1828800"/>
            <a:ext cx="7772400" cy="4572000"/>
          </a:xfrm>
          <a:prstGeom prst="rect">
            <a:avLst/>
          </a:prstGeom>
          <a:noFill/>
          <a:ln/>
        </p:spPr>
        <p:txBody>
          <a:bodyPr wrap="square" lIns="0" tIns="0" rIns="0" bIns="0" rtlCol="0" anchor="t">
            <a:spAutoFit/>
          </a:bodyPr>
          <a:lstStyle/>
          <a:p>
            <a:pPr marL="203200" indent="-203200">
              <a:spcAft>
                <a:spcPts val="1000"/>
              </a:spcAft>
              <a:buSzPct val="100000"/>
              <a:buChar char="•"/>
            </a:pPr>
            <a:r>
              <a:rPr lang="en-US" sz="1450" b="1" dirty="0">
                <a:solidFill>
                  <a:srgbClr val="1E293B"/>
                </a:solidFill>
                <a:latin typeface="Calibri" pitchFamily="34" charset="0"/>
                <a:ea typeface="Calibri" pitchFamily="34" charset="-122"/>
                <a:cs typeface="Calibri" pitchFamily="34" charset="-120"/>
              </a:rPr>
              <a:t>Nine domains, 29 tables, foreign-key integrity</a:t>
            </a:r>
            <a:endParaRPr lang="en-US" sz="1450" dirty="0"/>
          </a:p>
          <a:p>
            <a:pPr marL="203200" indent="-203200">
              <a:spcAft>
                <a:spcPts val="1000"/>
              </a:spcAft>
              <a:buSzPct val="100000"/>
              <a:buChar char="•"/>
            </a:pPr>
            <a:r>
              <a:rPr lang="en-US" sz="1450" b="1" dirty="0">
                <a:solidFill>
                  <a:srgbClr val="1E293B"/>
                </a:solidFill>
                <a:latin typeface="Calibri" pitchFamily="34" charset="0"/>
                <a:ea typeface="Calibri" pitchFamily="34" charset="-122"/>
                <a:cs typeface="Calibri" pitchFamily="34" charset="-120"/>
              </a:rPr>
              <a:t>Identity &amp; profiles: User + 4 role profiles</a:t>
            </a:r>
            <a:endParaRPr lang="en-US" sz="1450" dirty="0"/>
          </a:p>
          <a:p>
            <a:pPr marL="203200" indent="-203200">
              <a:spcAft>
                <a:spcPts val="1000"/>
              </a:spcAft>
              <a:buSzPct val="100000"/>
              <a:buChar char="•"/>
            </a:pPr>
            <a:r>
              <a:rPr lang="en-US" sz="1450" b="1" dirty="0">
                <a:solidFill>
                  <a:srgbClr val="1E293B"/>
                </a:solidFill>
                <a:latin typeface="Calibri" pitchFamily="34" charset="0"/>
                <a:ea typeface="Calibri" pitchFamily="34" charset="-122"/>
                <a:cs typeface="Calibri" pitchFamily="34" charset="-120"/>
              </a:rPr>
              <a:t>Series lifecycle: Proposal → Series (+ editor assignment)</a:t>
            </a:r>
            <a:endParaRPr lang="en-US" sz="1450" dirty="0"/>
          </a:p>
          <a:p>
            <a:pPr marL="203200" indent="-203200">
              <a:spcAft>
                <a:spcPts val="1000"/>
              </a:spcAft>
              <a:buSzPct val="100000"/>
              <a:buChar char="•"/>
            </a:pPr>
            <a:r>
              <a:rPr lang="en-US" sz="1450" b="1" dirty="0">
                <a:solidFill>
                  <a:srgbClr val="1E293B"/>
                </a:solidFill>
                <a:latin typeface="Calibri" pitchFamily="34" charset="0"/>
                <a:ea typeface="Calibri" pitchFamily="34" charset="-122"/>
                <a:cs typeface="Calibri" pitchFamily="34" charset="-120"/>
              </a:rPr>
              <a:t>Production: Chapter → Page → Region → Task → Submission</a:t>
            </a:r>
            <a:endParaRPr lang="en-US" sz="1450" dirty="0"/>
          </a:p>
          <a:p>
            <a:pPr marL="203200" indent="-203200">
              <a:spcAft>
                <a:spcPts val="1000"/>
              </a:spcAft>
              <a:buSzPct val="100000"/>
              <a:buChar char="•"/>
            </a:pPr>
            <a:r>
              <a:rPr lang="en-US" sz="1450" b="1" dirty="0">
                <a:solidFill>
                  <a:srgbClr val="1E293B"/>
                </a:solidFill>
                <a:latin typeface="Calibri" pitchFamily="34" charset="0"/>
                <a:ea typeface="Calibri" pitchFamily="34" charset="-122"/>
                <a:cs typeface="Calibri" pitchFamily="34" charset="-120"/>
              </a:rPr>
              <a:t>Editorial feedback: polymorphic Annotation</a:t>
            </a:r>
            <a:endParaRPr lang="en-US" sz="1450" dirty="0"/>
          </a:p>
          <a:p>
            <a:pPr marL="203200" indent="-203200">
              <a:spcAft>
                <a:spcPts val="1000"/>
              </a:spcAft>
              <a:buSzPct val="100000"/>
              <a:buChar char="•"/>
            </a:pPr>
            <a:r>
              <a:rPr lang="en-US" sz="1450" b="1" dirty="0">
                <a:solidFill>
                  <a:srgbClr val="1E293B"/>
                </a:solidFill>
                <a:latin typeface="Calibri" pitchFamily="34" charset="0"/>
                <a:ea typeface="Calibri" pitchFamily="34" charset="-122"/>
                <a:cs typeface="Calibri" pitchFamily="34" charset="-120"/>
              </a:rPr>
              <a:t>Governance: Vote Period → Vote → Ranking → Decision</a:t>
            </a:r>
            <a:endParaRPr lang="en-US" sz="1450" dirty="0"/>
          </a:p>
          <a:p>
            <a:pPr marL="203200" indent="-203200">
              <a:spcAft>
                <a:spcPts val="1000"/>
              </a:spcAft>
              <a:buSzPct val="100000"/>
              <a:buChar char="•"/>
            </a:pPr>
            <a:r>
              <a:rPr lang="en-US" sz="1450" b="1" dirty="0">
                <a:solidFill>
                  <a:srgbClr val="1E293B"/>
                </a:solidFill>
                <a:latin typeface="Calibri" pitchFamily="34" charset="0"/>
                <a:ea typeface="Calibri" pitchFamily="34" charset="-122"/>
                <a:cs typeface="Calibri" pitchFamily="34" charset="-120"/>
              </a:rPr>
              <a:t>Money: Assistant earnings + Earning Dispute</a:t>
            </a:r>
            <a:endParaRPr lang="en-US" sz="1450" dirty="0"/>
          </a:p>
          <a:p>
            <a:pPr marL="203200" indent="-203200">
              <a:spcAft>
                <a:spcPts val="1000"/>
              </a:spcAft>
              <a:buSzPct val="100000"/>
              <a:buChar char="•"/>
            </a:pPr>
            <a:r>
              <a:rPr lang="en-US" sz="1450" b="1" dirty="0">
                <a:solidFill>
                  <a:srgbClr val="1E293B"/>
                </a:solidFill>
                <a:latin typeface="Calibri" pitchFamily="34" charset="0"/>
                <a:ea typeface="Calibri" pitchFamily="34" charset="-122"/>
                <a:cs typeface="Calibri" pitchFamily="34" charset="-120"/>
              </a:rPr>
              <a:t>Cross-cutting: Notification, Audit Log, System Config</a:t>
            </a:r>
            <a:endParaRPr lang="en-US" sz="1450" dirty="0"/>
          </a:p>
        </p:txBody>
      </p:sp>
      <p:sp>
        <p:nvSpPr>
          <p:cNvPr id="25" name="Slide Number Placeholder 0"/>
          <p:cNvSpPr>
            <a:spLocks noGrp="1"/>
          </p:cNvSpPr>
          <p:nvPr>
            <p:ph type="sldNum" sz="quarter" idx="4294967295"/>
          </p:nvPr>
        </p:nvSpPr>
        <p:spPr>
          <a:xfrm>
            <a:off x="11612880" y="6455664"/>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latin typeface="Calibri"/>
                <a:ea typeface="Calibri"/>
                <a:cs typeface="Calibri"/>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01752"/>
            <a:ext cx="11064240" cy="274320"/>
          </a:xfrm>
          <a:prstGeom prst="rect">
            <a:avLst/>
          </a:prstGeom>
          <a:noFill/>
          <a:ln/>
        </p:spPr>
        <p:txBody>
          <a:bodyPr wrap="square" lIns="0" tIns="0" rIns="0" bIns="0" rtlCol="0" anchor="ctr"/>
          <a:lstStyle/>
          <a:p>
            <a:pPr indent="0" marL="0">
              <a:buNone/>
            </a:pPr>
            <a:r>
              <a:rPr lang="en-US" sz="1100" b="1" spc="200" kern="0" dirty="0">
                <a:solidFill>
                  <a:srgbClr val="FF5A5F"/>
                </a:solidFill>
                <a:latin typeface="Calibri" pitchFamily="34" charset="0"/>
                <a:ea typeface="Calibri" pitchFamily="34" charset="-122"/>
                <a:cs typeface="Calibri" pitchFamily="34" charset="-120"/>
              </a:rPr>
              <a:t>03 · DATA MODEL</a:t>
            </a:r>
            <a:endParaRPr lang="en-US" sz="110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Georgia" pitchFamily="34" charset="0"/>
                <a:ea typeface="Georgia" pitchFamily="34" charset="-122"/>
                <a:cs typeface="Georgia" pitchFamily="34" charset="-120"/>
              </a:rPr>
              <a:t>Core entities</a:t>
            </a:r>
            <a:endParaRPr lang="en-US" sz="3000" dirty="0"/>
          </a:p>
        </p:txBody>
      </p:sp>
      <p:sp>
        <p:nvSpPr>
          <p:cNvPr id="4" name="Shape 2"/>
          <p:cNvSpPr/>
          <p:nvPr/>
        </p:nvSpPr>
        <p:spPr>
          <a:xfrm>
            <a:off x="640080" y="1554480"/>
            <a:ext cx="3611880" cy="1600200"/>
          </a:xfrm>
          <a:prstGeom prst="rect">
            <a:avLst/>
          </a:prstGeom>
          <a:solidFill>
            <a:srgbClr val="F8FAFC"/>
          </a:solidFill>
          <a:ln w="9525">
            <a:solidFill>
              <a:srgbClr val="CBD5E1"/>
            </a:solidFill>
            <a:prstDash val="solid"/>
          </a:ln>
          <a:effectLst>
            <a:outerShdw sx="100000" sy="100000" kx="0" ky="0" algn="bl" rotWithShape="0" blurRad="88900" dist="38100" dir="8100000">
              <a:srgbClr val="000000">
                <a:alpha val="16000"/>
              </a:srgbClr>
            </a:outerShdw>
          </a:effectLst>
        </p:spPr>
      </p:sp>
      <p:sp>
        <p:nvSpPr>
          <p:cNvPr id="5" name="Shape 3"/>
          <p:cNvSpPr/>
          <p:nvPr/>
        </p:nvSpPr>
        <p:spPr>
          <a:xfrm>
            <a:off x="640080" y="1554480"/>
            <a:ext cx="64008" cy="1600200"/>
          </a:xfrm>
          <a:prstGeom prst="rect">
            <a:avLst/>
          </a:prstGeom>
          <a:solidFill>
            <a:srgbClr val="FF5A5F"/>
          </a:solidFill>
          <a:ln/>
        </p:spPr>
      </p:sp>
      <p:sp>
        <p:nvSpPr>
          <p:cNvPr id="6" name="Text 4"/>
          <p:cNvSpPr/>
          <p:nvPr/>
        </p:nvSpPr>
        <p:spPr>
          <a:xfrm>
            <a:off x="841248" y="1737360"/>
            <a:ext cx="3246120" cy="640080"/>
          </a:xfrm>
          <a:prstGeom prst="rect">
            <a:avLst/>
          </a:prstGeom>
          <a:noFill/>
          <a:ln/>
        </p:spPr>
        <p:txBody>
          <a:bodyPr wrap="square" lIns="0" tIns="0" rIns="0" bIns="0" rtlCol="0" anchor="ctr"/>
          <a:lstStyle/>
          <a:p>
            <a:pPr indent="0" marL="0">
              <a:buNone/>
            </a:pPr>
            <a:r>
              <a:rPr lang="en-US" sz="1300" b="1" dirty="0">
                <a:solidFill>
                  <a:srgbClr val="1E2761"/>
                </a:solidFill>
                <a:latin typeface="Consolas" pitchFamily="34" charset="0"/>
                <a:ea typeface="Consolas" pitchFamily="34" charset="-122"/>
                <a:cs typeface="Consolas" pitchFamily="34" charset="-120"/>
              </a:rPr>
              <a:t>User + Profiles</a:t>
            </a:r>
            <a:endParaRPr lang="en-US" sz="1300" dirty="0"/>
          </a:p>
        </p:txBody>
      </p:sp>
      <p:sp>
        <p:nvSpPr>
          <p:cNvPr id="7" name="Text 5"/>
          <p:cNvSpPr/>
          <p:nvPr/>
        </p:nvSpPr>
        <p:spPr>
          <a:xfrm>
            <a:off x="841248" y="2331720"/>
            <a:ext cx="3227832" cy="73152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One identity, four role-specific profile tables (earnings live on Assistant_Profile)</a:t>
            </a:r>
            <a:endParaRPr lang="en-US" sz="1200" dirty="0"/>
          </a:p>
        </p:txBody>
      </p:sp>
      <p:sp>
        <p:nvSpPr>
          <p:cNvPr id="8" name="Shape 6"/>
          <p:cNvSpPr/>
          <p:nvPr/>
        </p:nvSpPr>
        <p:spPr>
          <a:xfrm>
            <a:off x="4480560" y="1554480"/>
            <a:ext cx="3611880" cy="1600200"/>
          </a:xfrm>
          <a:prstGeom prst="rect">
            <a:avLst/>
          </a:prstGeom>
          <a:solidFill>
            <a:srgbClr val="F8FAFC"/>
          </a:solidFill>
          <a:ln w="9525">
            <a:solidFill>
              <a:srgbClr val="CBD5E1"/>
            </a:solidFill>
            <a:prstDash val="solid"/>
          </a:ln>
          <a:effectLst>
            <a:outerShdw sx="100000" sy="100000" kx="0" ky="0" algn="bl" rotWithShape="0" blurRad="88900" dist="38100" dir="8100000">
              <a:srgbClr val="000000">
                <a:alpha val="16000"/>
              </a:srgbClr>
            </a:outerShdw>
          </a:effectLst>
        </p:spPr>
      </p:sp>
      <p:sp>
        <p:nvSpPr>
          <p:cNvPr id="9" name="Shape 7"/>
          <p:cNvSpPr/>
          <p:nvPr/>
        </p:nvSpPr>
        <p:spPr>
          <a:xfrm>
            <a:off x="4480560" y="1554480"/>
            <a:ext cx="64008" cy="1600200"/>
          </a:xfrm>
          <a:prstGeom prst="rect">
            <a:avLst/>
          </a:prstGeom>
          <a:solidFill>
            <a:srgbClr val="FF5A5F"/>
          </a:solidFill>
          <a:ln/>
        </p:spPr>
      </p:sp>
      <p:sp>
        <p:nvSpPr>
          <p:cNvPr id="10" name="Text 8"/>
          <p:cNvSpPr/>
          <p:nvPr/>
        </p:nvSpPr>
        <p:spPr>
          <a:xfrm>
            <a:off x="4681728" y="1737360"/>
            <a:ext cx="3246120" cy="640080"/>
          </a:xfrm>
          <a:prstGeom prst="rect">
            <a:avLst/>
          </a:prstGeom>
          <a:noFill/>
          <a:ln/>
        </p:spPr>
        <p:txBody>
          <a:bodyPr wrap="square" lIns="0" tIns="0" rIns="0" bIns="0" rtlCol="0" anchor="ctr"/>
          <a:lstStyle/>
          <a:p>
            <a:pPr indent="0" marL="0">
              <a:buNone/>
            </a:pPr>
            <a:r>
              <a:rPr lang="en-US" sz="1300" b="1" dirty="0">
                <a:solidFill>
                  <a:srgbClr val="1E2761"/>
                </a:solidFill>
                <a:latin typeface="Consolas" pitchFamily="34" charset="0"/>
                <a:ea typeface="Consolas" pitchFamily="34" charset="-122"/>
                <a:cs typeface="Consolas" pitchFamily="34" charset="-120"/>
              </a:rPr>
              <a:t>Series_Proposal → Series</a:t>
            </a:r>
            <a:endParaRPr lang="en-US" sz="1300" dirty="0"/>
          </a:p>
        </p:txBody>
      </p:sp>
      <p:sp>
        <p:nvSpPr>
          <p:cNvPr id="11" name="Text 9"/>
          <p:cNvSpPr/>
          <p:nvPr/>
        </p:nvSpPr>
        <p:spPr>
          <a:xfrm>
            <a:off x="4681728" y="2331720"/>
            <a:ext cx="3227832" cy="73152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Approval converts a pitch into a live series with a frequency</a:t>
            </a:r>
            <a:endParaRPr lang="en-US" sz="1200" dirty="0"/>
          </a:p>
        </p:txBody>
      </p:sp>
      <p:sp>
        <p:nvSpPr>
          <p:cNvPr id="12" name="Shape 10"/>
          <p:cNvSpPr/>
          <p:nvPr/>
        </p:nvSpPr>
        <p:spPr>
          <a:xfrm>
            <a:off x="8321040" y="1554480"/>
            <a:ext cx="3611880" cy="1600200"/>
          </a:xfrm>
          <a:prstGeom prst="rect">
            <a:avLst/>
          </a:prstGeom>
          <a:solidFill>
            <a:srgbClr val="F8FAFC"/>
          </a:solidFill>
          <a:ln w="9525">
            <a:solidFill>
              <a:srgbClr val="CBD5E1"/>
            </a:solidFill>
            <a:prstDash val="solid"/>
          </a:ln>
          <a:effectLst>
            <a:outerShdw sx="100000" sy="100000" kx="0" ky="0" algn="bl" rotWithShape="0" blurRad="88900" dist="38100" dir="8100000">
              <a:srgbClr val="000000">
                <a:alpha val="16000"/>
              </a:srgbClr>
            </a:outerShdw>
          </a:effectLst>
        </p:spPr>
      </p:sp>
      <p:sp>
        <p:nvSpPr>
          <p:cNvPr id="13" name="Shape 11"/>
          <p:cNvSpPr/>
          <p:nvPr/>
        </p:nvSpPr>
        <p:spPr>
          <a:xfrm>
            <a:off x="8321040" y="1554480"/>
            <a:ext cx="64008" cy="1600200"/>
          </a:xfrm>
          <a:prstGeom prst="rect">
            <a:avLst/>
          </a:prstGeom>
          <a:solidFill>
            <a:srgbClr val="FF5A5F"/>
          </a:solidFill>
          <a:ln/>
        </p:spPr>
      </p:sp>
      <p:sp>
        <p:nvSpPr>
          <p:cNvPr id="14" name="Text 12"/>
          <p:cNvSpPr/>
          <p:nvPr/>
        </p:nvSpPr>
        <p:spPr>
          <a:xfrm>
            <a:off x="8522208" y="1737360"/>
            <a:ext cx="3246120" cy="640080"/>
          </a:xfrm>
          <a:prstGeom prst="rect">
            <a:avLst/>
          </a:prstGeom>
          <a:noFill/>
          <a:ln/>
        </p:spPr>
        <p:txBody>
          <a:bodyPr wrap="square" lIns="0" tIns="0" rIns="0" bIns="0" rtlCol="0" anchor="ctr"/>
          <a:lstStyle/>
          <a:p>
            <a:pPr indent="0" marL="0">
              <a:buNone/>
            </a:pPr>
            <a:r>
              <a:rPr lang="en-US" sz="1300" b="1" dirty="0">
                <a:solidFill>
                  <a:srgbClr val="1E2761"/>
                </a:solidFill>
                <a:latin typeface="Consolas" pitchFamily="34" charset="0"/>
                <a:ea typeface="Consolas" pitchFamily="34" charset="-122"/>
                <a:cs typeface="Consolas" pitchFamily="34" charset="-120"/>
              </a:rPr>
              <a:t>Chapter · Page · Page_Version</a:t>
            </a:r>
            <a:endParaRPr lang="en-US" sz="1300" dirty="0"/>
          </a:p>
        </p:txBody>
      </p:sp>
      <p:sp>
        <p:nvSpPr>
          <p:cNvPr id="15" name="Text 13"/>
          <p:cNvSpPr/>
          <p:nvPr/>
        </p:nvSpPr>
        <p:spPr>
          <a:xfrm>
            <a:off x="8522208" y="2331720"/>
            <a:ext cx="3227832" cy="73152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Versioned page images grouped into chapters</a:t>
            </a:r>
            <a:endParaRPr lang="en-US" sz="1200" dirty="0"/>
          </a:p>
        </p:txBody>
      </p:sp>
      <p:sp>
        <p:nvSpPr>
          <p:cNvPr id="16" name="Shape 14"/>
          <p:cNvSpPr/>
          <p:nvPr/>
        </p:nvSpPr>
        <p:spPr>
          <a:xfrm>
            <a:off x="640080" y="3429000"/>
            <a:ext cx="3611880" cy="1600200"/>
          </a:xfrm>
          <a:prstGeom prst="rect">
            <a:avLst/>
          </a:prstGeom>
          <a:solidFill>
            <a:srgbClr val="F8FAFC"/>
          </a:solidFill>
          <a:ln w="9525">
            <a:solidFill>
              <a:srgbClr val="CBD5E1"/>
            </a:solidFill>
            <a:prstDash val="solid"/>
          </a:ln>
          <a:effectLst>
            <a:outerShdw sx="100000" sy="100000" kx="0" ky="0" algn="bl" rotWithShape="0" blurRad="88900" dist="38100" dir="8100000">
              <a:srgbClr val="000000">
                <a:alpha val="16000"/>
              </a:srgbClr>
            </a:outerShdw>
          </a:effectLst>
        </p:spPr>
      </p:sp>
      <p:sp>
        <p:nvSpPr>
          <p:cNvPr id="17" name="Shape 15"/>
          <p:cNvSpPr/>
          <p:nvPr/>
        </p:nvSpPr>
        <p:spPr>
          <a:xfrm>
            <a:off x="640080" y="3429000"/>
            <a:ext cx="64008" cy="1600200"/>
          </a:xfrm>
          <a:prstGeom prst="rect">
            <a:avLst/>
          </a:prstGeom>
          <a:solidFill>
            <a:srgbClr val="FF5A5F"/>
          </a:solidFill>
          <a:ln/>
        </p:spPr>
      </p:sp>
      <p:sp>
        <p:nvSpPr>
          <p:cNvPr id="18" name="Text 16"/>
          <p:cNvSpPr/>
          <p:nvPr/>
        </p:nvSpPr>
        <p:spPr>
          <a:xfrm>
            <a:off x="841248" y="3611880"/>
            <a:ext cx="3246120" cy="640080"/>
          </a:xfrm>
          <a:prstGeom prst="rect">
            <a:avLst/>
          </a:prstGeom>
          <a:noFill/>
          <a:ln/>
        </p:spPr>
        <p:txBody>
          <a:bodyPr wrap="square" lIns="0" tIns="0" rIns="0" bIns="0" rtlCol="0" anchor="ctr"/>
          <a:lstStyle/>
          <a:p>
            <a:pPr indent="0" marL="0">
              <a:buNone/>
            </a:pPr>
            <a:r>
              <a:rPr lang="en-US" sz="1300" b="1" dirty="0">
                <a:solidFill>
                  <a:srgbClr val="1E2761"/>
                </a:solidFill>
                <a:latin typeface="Consolas" pitchFamily="34" charset="0"/>
                <a:ea typeface="Consolas" pitchFamily="34" charset="-122"/>
                <a:cs typeface="Consolas" pitchFamily="34" charset="-120"/>
              </a:rPr>
              <a:t>Region · Task · Task_Price_Rule</a:t>
            </a:r>
            <a:endParaRPr lang="en-US" sz="1300" dirty="0"/>
          </a:p>
        </p:txBody>
      </p:sp>
      <p:sp>
        <p:nvSpPr>
          <p:cNvPr id="19" name="Text 17"/>
          <p:cNvSpPr/>
          <p:nvPr/>
        </p:nvSpPr>
        <p:spPr>
          <a:xfrm>
            <a:off x="841248" y="4206240"/>
            <a:ext cx="3227832" cy="73152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Regions are priced into tasks by region type</a:t>
            </a:r>
            <a:endParaRPr lang="en-US" sz="1200" dirty="0"/>
          </a:p>
        </p:txBody>
      </p:sp>
      <p:sp>
        <p:nvSpPr>
          <p:cNvPr id="20" name="Shape 18"/>
          <p:cNvSpPr/>
          <p:nvPr/>
        </p:nvSpPr>
        <p:spPr>
          <a:xfrm>
            <a:off x="4480560" y="3429000"/>
            <a:ext cx="3611880" cy="1600200"/>
          </a:xfrm>
          <a:prstGeom prst="rect">
            <a:avLst/>
          </a:prstGeom>
          <a:solidFill>
            <a:srgbClr val="F8FAFC"/>
          </a:solidFill>
          <a:ln w="9525">
            <a:solidFill>
              <a:srgbClr val="CBD5E1"/>
            </a:solidFill>
            <a:prstDash val="solid"/>
          </a:ln>
          <a:effectLst>
            <a:outerShdw sx="100000" sy="100000" kx="0" ky="0" algn="bl" rotWithShape="0" blurRad="88900" dist="38100" dir="8100000">
              <a:srgbClr val="000000">
                <a:alpha val="16000"/>
              </a:srgbClr>
            </a:outerShdw>
          </a:effectLst>
        </p:spPr>
      </p:sp>
      <p:sp>
        <p:nvSpPr>
          <p:cNvPr id="21" name="Shape 19"/>
          <p:cNvSpPr/>
          <p:nvPr/>
        </p:nvSpPr>
        <p:spPr>
          <a:xfrm>
            <a:off x="4480560" y="3429000"/>
            <a:ext cx="64008" cy="1600200"/>
          </a:xfrm>
          <a:prstGeom prst="rect">
            <a:avLst/>
          </a:prstGeom>
          <a:solidFill>
            <a:srgbClr val="FF5A5F"/>
          </a:solidFill>
          <a:ln/>
        </p:spPr>
      </p:sp>
      <p:sp>
        <p:nvSpPr>
          <p:cNvPr id="22" name="Text 20"/>
          <p:cNvSpPr/>
          <p:nvPr/>
        </p:nvSpPr>
        <p:spPr>
          <a:xfrm>
            <a:off x="4681728" y="3611880"/>
            <a:ext cx="3246120" cy="640080"/>
          </a:xfrm>
          <a:prstGeom prst="rect">
            <a:avLst/>
          </a:prstGeom>
          <a:noFill/>
          <a:ln/>
        </p:spPr>
        <p:txBody>
          <a:bodyPr wrap="square" lIns="0" tIns="0" rIns="0" bIns="0" rtlCol="0" anchor="ctr"/>
          <a:lstStyle/>
          <a:p>
            <a:pPr indent="0" marL="0">
              <a:buNone/>
            </a:pPr>
            <a:r>
              <a:rPr lang="en-US" sz="1300" b="1" dirty="0">
                <a:solidFill>
                  <a:srgbClr val="1E2761"/>
                </a:solidFill>
                <a:latin typeface="Consolas" pitchFamily="34" charset="0"/>
                <a:ea typeface="Consolas" pitchFamily="34" charset="-122"/>
                <a:cs typeface="Consolas" pitchFamily="34" charset="-120"/>
              </a:rPr>
              <a:t>Submission · Annotation</a:t>
            </a:r>
            <a:endParaRPr lang="en-US" sz="1300" dirty="0"/>
          </a:p>
        </p:txBody>
      </p:sp>
      <p:sp>
        <p:nvSpPr>
          <p:cNvPr id="23" name="Text 21"/>
          <p:cNvSpPr/>
          <p:nvPr/>
        </p:nvSpPr>
        <p:spPr>
          <a:xfrm>
            <a:off x="4681728" y="4206240"/>
            <a:ext cx="3227832" cy="73152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Assistant work + polymorphic editorial notes</a:t>
            </a:r>
            <a:endParaRPr lang="en-US" sz="1200" dirty="0"/>
          </a:p>
        </p:txBody>
      </p:sp>
      <p:sp>
        <p:nvSpPr>
          <p:cNvPr id="24" name="Shape 22"/>
          <p:cNvSpPr/>
          <p:nvPr/>
        </p:nvSpPr>
        <p:spPr>
          <a:xfrm>
            <a:off x="8321040" y="3429000"/>
            <a:ext cx="3611880" cy="1600200"/>
          </a:xfrm>
          <a:prstGeom prst="rect">
            <a:avLst/>
          </a:prstGeom>
          <a:solidFill>
            <a:srgbClr val="F8FAFC"/>
          </a:solidFill>
          <a:ln w="9525">
            <a:solidFill>
              <a:srgbClr val="CBD5E1"/>
            </a:solidFill>
            <a:prstDash val="solid"/>
          </a:ln>
          <a:effectLst>
            <a:outerShdw sx="100000" sy="100000" kx="0" ky="0" algn="bl" rotWithShape="0" blurRad="88900" dist="38100" dir="8100000">
              <a:srgbClr val="000000">
                <a:alpha val="16000"/>
              </a:srgbClr>
            </a:outerShdw>
          </a:effectLst>
        </p:spPr>
      </p:sp>
      <p:sp>
        <p:nvSpPr>
          <p:cNvPr id="25" name="Shape 23"/>
          <p:cNvSpPr/>
          <p:nvPr/>
        </p:nvSpPr>
        <p:spPr>
          <a:xfrm>
            <a:off x="8321040" y="3429000"/>
            <a:ext cx="64008" cy="1600200"/>
          </a:xfrm>
          <a:prstGeom prst="rect">
            <a:avLst/>
          </a:prstGeom>
          <a:solidFill>
            <a:srgbClr val="FF5A5F"/>
          </a:solidFill>
          <a:ln/>
        </p:spPr>
      </p:sp>
      <p:sp>
        <p:nvSpPr>
          <p:cNvPr id="26" name="Text 24"/>
          <p:cNvSpPr/>
          <p:nvPr/>
        </p:nvSpPr>
        <p:spPr>
          <a:xfrm>
            <a:off x="8522208" y="3611880"/>
            <a:ext cx="3246120" cy="640080"/>
          </a:xfrm>
          <a:prstGeom prst="rect">
            <a:avLst/>
          </a:prstGeom>
          <a:noFill/>
          <a:ln/>
        </p:spPr>
        <p:txBody>
          <a:bodyPr wrap="square" lIns="0" tIns="0" rIns="0" bIns="0" rtlCol="0" anchor="ctr"/>
          <a:lstStyle/>
          <a:p>
            <a:pPr indent="0" marL="0">
              <a:buNone/>
            </a:pPr>
            <a:r>
              <a:rPr lang="en-US" sz="1300" b="1" dirty="0">
                <a:solidFill>
                  <a:srgbClr val="1E2761"/>
                </a:solidFill>
                <a:latin typeface="Consolas" pitchFamily="34" charset="0"/>
                <a:ea typeface="Consolas" pitchFamily="34" charset="-122"/>
                <a:cs typeface="Consolas" pitchFamily="34" charset="-120"/>
              </a:rPr>
              <a:t>Vote_Period · Vote · Ranking · Decision</a:t>
            </a:r>
            <a:endParaRPr lang="en-US" sz="1300" dirty="0"/>
          </a:p>
        </p:txBody>
      </p:sp>
      <p:sp>
        <p:nvSpPr>
          <p:cNvPr id="27" name="Text 25"/>
          <p:cNvSpPr/>
          <p:nvPr/>
        </p:nvSpPr>
        <p:spPr>
          <a:xfrm>
            <a:off x="8522208" y="4206240"/>
            <a:ext cx="3227832" cy="73152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The governance loop, snapshotted per period</a:t>
            </a:r>
            <a:endParaRPr lang="en-US" sz="1200" dirty="0"/>
          </a:p>
        </p:txBody>
      </p:sp>
      <p:sp>
        <p:nvSpPr>
          <p:cNvPr id="25" name="Slide Number Placeholder 0"/>
          <p:cNvSpPr>
            <a:spLocks noGrp="1"/>
          </p:cNvSpPr>
          <p:nvPr>
            <p:ph type="sldNum" sz="quarter" idx="4294967295"/>
          </p:nvPr>
        </p:nvSpPr>
        <p:spPr>
          <a:xfrm>
            <a:off x="11612880" y="6455664"/>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latin typeface="Calibri"/>
                <a:ea typeface="Calibri"/>
                <a:cs typeface="Calibri"/>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01752"/>
            <a:ext cx="11064240" cy="274320"/>
          </a:xfrm>
          <a:prstGeom prst="rect">
            <a:avLst/>
          </a:prstGeom>
          <a:noFill/>
          <a:ln/>
        </p:spPr>
        <p:txBody>
          <a:bodyPr wrap="square" lIns="0" tIns="0" rIns="0" bIns="0" rtlCol="0" anchor="ctr"/>
          <a:lstStyle/>
          <a:p>
            <a:pPr indent="0" marL="0">
              <a:buNone/>
            </a:pPr>
            <a:r>
              <a:rPr lang="en-US" sz="1100" b="1" spc="200" kern="0" dirty="0">
                <a:solidFill>
                  <a:srgbClr val="FF5A5F"/>
                </a:solidFill>
                <a:latin typeface="Calibri" pitchFamily="34" charset="0"/>
                <a:ea typeface="Calibri" pitchFamily="34" charset="-122"/>
                <a:cs typeface="Calibri" pitchFamily="34" charset="-120"/>
              </a:rPr>
              <a:t>03 · DATA MODEL</a:t>
            </a:r>
            <a:endParaRPr lang="en-US" sz="110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Georgia" pitchFamily="34" charset="0"/>
                <a:ea typeface="Georgia" pitchFamily="34" charset="-122"/>
                <a:cs typeface="Georgia" pitchFamily="34" charset="-120"/>
              </a:rPr>
              <a:t>Enforced state machines</a:t>
            </a:r>
            <a:endParaRPr lang="en-US" sz="3000" dirty="0"/>
          </a:p>
        </p:txBody>
      </p:sp>
      <p:sp>
        <p:nvSpPr>
          <p:cNvPr id="4" name="Shape 2"/>
          <p:cNvSpPr/>
          <p:nvPr/>
        </p:nvSpPr>
        <p:spPr>
          <a:xfrm>
            <a:off x="640080" y="1783080"/>
            <a:ext cx="2697480" cy="3931920"/>
          </a:xfrm>
          <a:prstGeom prst="rect">
            <a:avLst/>
          </a:prstGeom>
          <a:solidFill>
            <a:srgbClr val="FFFFFF"/>
          </a:solidFill>
          <a:ln w="9525">
            <a:solidFill>
              <a:srgbClr val="CBD5E1"/>
            </a:solidFill>
            <a:prstDash val="solid"/>
          </a:ln>
          <a:effectLst>
            <a:outerShdw sx="100000" sy="100000" kx="0" ky="0" algn="bl" rotWithShape="0" blurRad="88900" dist="38100" dir="8100000">
              <a:srgbClr val="000000">
                <a:alpha val="16000"/>
              </a:srgbClr>
            </a:outerShdw>
          </a:effectLst>
        </p:spPr>
      </p:sp>
      <p:sp>
        <p:nvSpPr>
          <p:cNvPr id="5" name="Text 3"/>
          <p:cNvSpPr/>
          <p:nvPr/>
        </p:nvSpPr>
        <p:spPr>
          <a:xfrm>
            <a:off x="640080" y="1892808"/>
            <a:ext cx="2697480" cy="365760"/>
          </a:xfrm>
          <a:prstGeom prst="rect">
            <a:avLst/>
          </a:prstGeom>
          <a:noFill/>
          <a:ln/>
        </p:spPr>
        <p:txBody>
          <a:bodyPr wrap="square" lIns="0" tIns="0" rIns="0" bIns="0" rtlCol="0" anchor="ctr"/>
          <a:lstStyle/>
          <a:p>
            <a:pPr algn="ctr" indent="0" marL="0">
              <a:buNone/>
            </a:pPr>
            <a:r>
              <a:rPr lang="en-US" sz="1500" b="1" dirty="0">
                <a:solidFill>
                  <a:srgbClr val="1E2761"/>
                </a:solidFill>
                <a:latin typeface="Georgia" pitchFamily="34" charset="0"/>
                <a:ea typeface="Georgia" pitchFamily="34" charset="-122"/>
                <a:cs typeface="Georgia" pitchFamily="34" charset="-120"/>
              </a:rPr>
              <a:t>Proposal</a:t>
            </a:r>
            <a:endParaRPr lang="en-US" sz="1500" dirty="0"/>
          </a:p>
        </p:txBody>
      </p:sp>
      <p:pic>
        <p:nvPicPr>
          <p:cNvPr id="6" name="Image 0" descr="smProposal">    </p:cNvPr>
          <p:cNvPicPr>
            <a:picLocks noChangeAspect="1"/>
          </p:cNvPicPr>
          <p:nvPr/>
        </p:nvPicPr>
        <p:blipFill>
          <a:blip r:embed="rId1"/>
          <a:stretch>
            <a:fillRect/>
          </a:stretch>
        </p:blipFill>
        <p:spPr>
          <a:xfrm>
            <a:off x="1019536" y="2331720"/>
            <a:ext cx="1938568" cy="3200400"/>
          </a:xfrm>
          <a:prstGeom prst="rect">
            <a:avLst/>
          </a:prstGeom>
        </p:spPr>
      </p:pic>
      <p:sp>
        <p:nvSpPr>
          <p:cNvPr id="7" name="Shape 4"/>
          <p:cNvSpPr/>
          <p:nvPr/>
        </p:nvSpPr>
        <p:spPr>
          <a:xfrm>
            <a:off x="3502152" y="1783080"/>
            <a:ext cx="2697480" cy="3931920"/>
          </a:xfrm>
          <a:prstGeom prst="rect">
            <a:avLst/>
          </a:prstGeom>
          <a:solidFill>
            <a:srgbClr val="FFFFFF"/>
          </a:solidFill>
          <a:ln w="9525">
            <a:solidFill>
              <a:srgbClr val="CBD5E1"/>
            </a:solidFill>
            <a:prstDash val="solid"/>
          </a:ln>
          <a:effectLst>
            <a:outerShdw sx="100000" sy="100000" kx="0" ky="0" algn="bl" rotWithShape="0" blurRad="88900" dist="38100" dir="8100000">
              <a:srgbClr val="000000">
                <a:alpha val="16000"/>
              </a:srgbClr>
            </a:outerShdw>
          </a:effectLst>
        </p:spPr>
      </p:sp>
      <p:sp>
        <p:nvSpPr>
          <p:cNvPr id="8" name="Text 5"/>
          <p:cNvSpPr/>
          <p:nvPr/>
        </p:nvSpPr>
        <p:spPr>
          <a:xfrm>
            <a:off x="3502152" y="1892808"/>
            <a:ext cx="2697480" cy="365760"/>
          </a:xfrm>
          <a:prstGeom prst="rect">
            <a:avLst/>
          </a:prstGeom>
          <a:noFill/>
          <a:ln/>
        </p:spPr>
        <p:txBody>
          <a:bodyPr wrap="square" lIns="0" tIns="0" rIns="0" bIns="0" rtlCol="0" anchor="ctr"/>
          <a:lstStyle/>
          <a:p>
            <a:pPr algn="ctr" indent="0" marL="0">
              <a:buNone/>
            </a:pPr>
            <a:r>
              <a:rPr lang="en-US" sz="1500" b="1" dirty="0">
                <a:solidFill>
                  <a:srgbClr val="1E2761"/>
                </a:solidFill>
                <a:latin typeface="Georgia" pitchFamily="34" charset="0"/>
                <a:ea typeface="Georgia" pitchFamily="34" charset="-122"/>
                <a:cs typeface="Georgia" pitchFamily="34" charset="-120"/>
              </a:rPr>
              <a:t>Chapter</a:t>
            </a:r>
            <a:endParaRPr lang="en-US" sz="1500" dirty="0"/>
          </a:p>
        </p:txBody>
      </p:sp>
      <p:pic>
        <p:nvPicPr>
          <p:cNvPr id="9" name="Image 1" descr="smChapter">    </p:cNvPr>
          <p:cNvPicPr>
            <a:picLocks noChangeAspect="1"/>
          </p:cNvPicPr>
          <p:nvPr/>
        </p:nvPicPr>
        <p:blipFill>
          <a:blip r:embed="rId2"/>
          <a:stretch>
            <a:fillRect/>
          </a:stretch>
        </p:blipFill>
        <p:spPr>
          <a:xfrm>
            <a:off x="4186020" y="2331720"/>
            <a:ext cx="1329744" cy="3200400"/>
          </a:xfrm>
          <a:prstGeom prst="rect">
            <a:avLst/>
          </a:prstGeom>
        </p:spPr>
      </p:pic>
      <p:sp>
        <p:nvSpPr>
          <p:cNvPr id="10" name="Shape 6"/>
          <p:cNvSpPr/>
          <p:nvPr/>
        </p:nvSpPr>
        <p:spPr>
          <a:xfrm>
            <a:off x="6364224" y="1783080"/>
            <a:ext cx="2697480" cy="3931920"/>
          </a:xfrm>
          <a:prstGeom prst="rect">
            <a:avLst/>
          </a:prstGeom>
          <a:solidFill>
            <a:srgbClr val="FFFFFF"/>
          </a:solidFill>
          <a:ln w="9525">
            <a:solidFill>
              <a:srgbClr val="CBD5E1"/>
            </a:solidFill>
            <a:prstDash val="solid"/>
          </a:ln>
          <a:effectLst>
            <a:outerShdw sx="100000" sy="100000" kx="0" ky="0" algn="bl" rotWithShape="0" blurRad="88900" dist="38100" dir="8100000">
              <a:srgbClr val="000000">
                <a:alpha val="16000"/>
              </a:srgbClr>
            </a:outerShdw>
          </a:effectLst>
        </p:spPr>
      </p:sp>
      <p:sp>
        <p:nvSpPr>
          <p:cNvPr id="11" name="Text 7"/>
          <p:cNvSpPr/>
          <p:nvPr/>
        </p:nvSpPr>
        <p:spPr>
          <a:xfrm>
            <a:off x="6364224" y="1892808"/>
            <a:ext cx="2697480" cy="365760"/>
          </a:xfrm>
          <a:prstGeom prst="rect">
            <a:avLst/>
          </a:prstGeom>
          <a:noFill/>
          <a:ln/>
        </p:spPr>
        <p:txBody>
          <a:bodyPr wrap="square" lIns="0" tIns="0" rIns="0" bIns="0" rtlCol="0" anchor="ctr"/>
          <a:lstStyle/>
          <a:p>
            <a:pPr algn="ctr" indent="0" marL="0">
              <a:buNone/>
            </a:pPr>
            <a:r>
              <a:rPr lang="en-US" sz="1500" b="1" dirty="0">
                <a:solidFill>
                  <a:srgbClr val="1E2761"/>
                </a:solidFill>
                <a:latin typeface="Georgia" pitchFamily="34" charset="0"/>
                <a:ea typeface="Georgia" pitchFamily="34" charset="-122"/>
                <a:cs typeface="Georgia" pitchFamily="34" charset="-120"/>
              </a:rPr>
              <a:t>Task</a:t>
            </a:r>
            <a:endParaRPr lang="en-US" sz="1500" dirty="0"/>
          </a:p>
        </p:txBody>
      </p:sp>
      <p:pic>
        <p:nvPicPr>
          <p:cNvPr id="12" name="Image 2" descr="smTask">    </p:cNvPr>
          <p:cNvPicPr>
            <a:picLocks noChangeAspect="1"/>
          </p:cNvPicPr>
          <p:nvPr/>
        </p:nvPicPr>
        <p:blipFill>
          <a:blip r:embed="rId3"/>
          <a:stretch>
            <a:fillRect/>
          </a:stretch>
        </p:blipFill>
        <p:spPr>
          <a:xfrm>
            <a:off x="6574496" y="2331720"/>
            <a:ext cx="2276937" cy="3200400"/>
          </a:xfrm>
          <a:prstGeom prst="rect">
            <a:avLst/>
          </a:prstGeom>
        </p:spPr>
      </p:pic>
      <p:sp>
        <p:nvSpPr>
          <p:cNvPr id="13" name="Shape 8"/>
          <p:cNvSpPr/>
          <p:nvPr/>
        </p:nvSpPr>
        <p:spPr>
          <a:xfrm>
            <a:off x="9226296" y="1783080"/>
            <a:ext cx="2697480" cy="3931920"/>
          </a:xfrm>
          <a:prstGeom prst="rect">
            <a:avLst/>
          </a:prstGeom>
          <a:solidFill>
            <a:srgbClr val="FFFFFF"/>
          </a:solidFill>
          <a:ln w="9525">
            <a:solidFill>
              <a:srgbClr val="CBD5E1"/>
            </a:solidFill>
            <a:prstDash val="solid"/>
          </a:ln>
          <a:effectLst>
            <a:outerShdw sx="100000" sy="100000" kx="0" ky="0" algn="bl" rotWithShape="0" blurRad="88900" dist="38100" dir="8100000">
              <a:srgbClr val="000000">
                <a:alpha val="16000"/>
              </a:srgbClr>
            </a:outerShdw>
          </a:effectLst>
        </p:spPr>
      </p:sp>
      <p:sp>
        <p:nvSpPr>
          <p:cNvPr id="14" name="Text 9"/>
          <p:cNvSpPr/>
          <p:nvPr/>
        </p:nvSpPr>
        <p:spPr>
          <a:xfrm>
            <a:off x="9226296" y="1892808"/>
            <a:ext cx="2697480" cy="365760"/>
          </a:xfrm>
          <a:prstGeom prst="rect">
            <a:avLst/>
          </a:prstGeom>
          <a:noFill/>
          <a:ln/>
        </p:spPr>
        <p:txBody>
          <a:bodyPr wrap="square" lIns="0" tIns="0" rIns="0" bIns="0" rtlCol="0" anchor="ctr"/>
          <a:lstStyle/>
          <a:p>
            <a:pPr algn="ctr" indent="0" marL="0">
              <a:buNone/>
            </a:pPr>
            <a:r>
              <a:rPr lang="en-US" sz="1500" b="1" dirty="0">
                <a:solidFill>
                  <a:srgbClr val="1E2761"/>
                </a:solidFill>
                <a:latin typeface="Georgia" pitchFamily="34" charset="0"/>
                <a:ea typeface="Georgia" pitchFamily="34" charset="-122"/>
                <a:cs typeface="Georgia" pitchFamily="34" charset="-120"/>
              </a:rPr>
              <a:t>Submission</a:t>
            </a:r>
            <a:endParaRPr lang="en-US" sz="1500" dirty="0"/>
          </a:p>
        </p:txBody>
      </p:sp>
      <p:pic>
        <p:nvPicPr>
          <p:cNvPr id="15" name="Image 3" descr="smSubmission">    </p:cNvPr>
          <p:cNvPicPr>
            <a:picLocks noChangeAspect="1"/>
          </p:cNvPicPr>
          <p:nvPr/>
        </p:nvPicPr>
        <p:blipFill>
          <a:blip r:embed="rId4"/>
          <a:stretch>
            <a:fillRect/>
          </a:stretch>
        </p:blipFill>
        <p:spPr>
          <a:xfrm>
            <a:off x="9363456" y="2989580"/>
            <a:ext cx="2423160" cy="1884680"/>
          </a:xfrm>
          <a:prstGeom prst="rect">
            <a:avLst/>
          </a:prstGeom>
        </p:spPr>
      </p:pic>
      <p:sp>
        <p:nvSpPr>
          <p:cNvPr id="25" name="Slide Number Placeholder 0"/>
          <p:cNvSpPr>
            <a:spLocks noGrp="1"/>
          </p:cNvSpPr>
          <p:nvPr>
            <p:ph type="sldNum" sz="quarter" idx="4294967295"/>
          </p:nvPr>
        </p:nvSpPr>
        <p:spPr>
          <a:xfrm>
            <a:off x="11612880" y="6455664"/>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latin typeface="Calibri"/>
                <a:ea typeface="Calibri"/>
                <a:cs typeface="Calibri"/>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4142B"/>
        </a:solidFill>
      </p:bgPr>
    </p:bg>
    <p:spTree>
      <p:nvGrpSpPr>
        <p:cNvPr id="1" name=""/>
        <p:cNvGrpSpPr/>
        <p:nvPr/>
      </p:nvGrpSpPr>
      <p:grpSpPr>
        <a:xfrm>
          <a:off x="0" y="0"/>
          <a:ext cx="0" cy="0"/>
          <a:chOff x="0" y="0"/>
          <a:chExt cx="0" cy="0"/>
        </a:xfrm>
      </p:grpSpPr>
      <p:sp>
        <p:nvSpPr>
          <p:cNvPr id="2" name="Text 0"/>
          <p:cNvSpPr/>
          <p:nvPr/>
        </p:nvSpPr>
        <p:spPr>
          <a:xfrm>
            <a:off x="731520" y="1280160"/>
            <a:ext cx="3657600" cy="2194560"/>
          </a:xfrm>
          <a:prstGeom prst="rect">
            <a:avLst/>
          </a:prstGeom>
          <a:noFill/>
          <a:ln/>
        </p:spPr>
        <p:txBody>
          <a:bodyPr wrap="square" lIns="0" tIns="0" rIns="0" bIns="0" rtlCol="0" anchor="ctr"/>
          <a:lstStyle/>
          <a:p>
            <a:pPr indent="0" marL="0">
              <a:buNone/>
            </a:pPr>
            <a:r>
              <a:rPr lang="en-US" sz="15000" b="1" dirty="0">
                <a:solidFill>
                  <a:srgbClr val="FF5A5F"/>
                </a:solidFill>
                <a:latin typeface="Georgia" pitchFamily="34" charset="0"/>
                <a:ea typeface="Georgia" pitchFamily="34" charset="-122"/>
                <a:cs typeface="Georgia" pitchFamily="34" charset="-120"/>
              </a:rPr>
              <a:t>04</a:t>
            </a:r>
            <a:endParaRPr lang="en-US" sz="15000" dirty="0"/>
          </a:p>
        </p:txBody>
      </p:sp>
      <p:sp>
        <p:nvSpPr>
          <p:cNvPr id="3" name="Text 1"/>
          <p:cNvSpPr/>
          <p:nvPr/>
        </p:nvSpPr>
        <p:spPr>
          <a:xfrm>
            <a:off x="822960" y="3657600"/>
            <a:ext cx="10515600" cy="1097280"/>
          </a:xfrm>
          <a:prstGeom prst="rect">
            <a:avLst/>
          </a:prstGeom>
          <a:noFill/>
          <a:ln/>
        </p:spPr>
        <p:txBody>
          <a:bodyPr wrap="square" lIns="0" tIns="0" rIns="0" bIns="0"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Security &amp; Access Control</a:t>
            </a:r>
            <a:endParaRPr lang="en-US" sz="4000" dirty="0"/>
          </a:p>
        </p:txBody>
      </p:sp>
      <p:sp>
        <p:nvSpPr>
          <p:cNvPr id="4" name="Text 2"/>
          <p:cNvSpPr/>
          <p:nvPr/>
        </p:nvSpPr>
        <p:spPr>
          <a:xfrm>
            <a:off x="868680" y="4709160"/>
            <a:ext cx="10058400" cy="1097280"/>
          </a:xfrm>
          <a:prstGeom prst="rect">
            <a:avLst/>
          </a:prstGeom>
          <a:noFill/>
          <a:ln/>
        </p:spPr>
        <p:txBody>
          <a:bodyPr wrap="square" lIns="0" tIns="0" rIns="0" bIns="0" rtlCol="0" anchor="ctr"/>
          <a:lstStyle/>
          <a:p>
            <a:pPr indent="0" marL="0">
              <a:buNone/>
            </a:pPr>
            <a:r>
              <a:rPr lang="en-US" sz="1600" dirty="0">
                <a:solidFill>
                  <a:srgbClr val="E8EDF9"/>
                </a:solidFill>
                <a:latin typeface="Calibri" pitchFamily="34" charset="0"/>
                <a:ea typeface="Calibri" pitchFamily="34" charset="-122"/>
                <a:cs typeface="Calibri" pitchFamily="34" charset="-120"/>
              </a:rPr>
              <a:t>Authentication, RBAC, and data-level ownership</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01752"/>
            <a:ext cx="11064240" cy="274320"/>
          </a:xfrm>
          <a:prstGeom prst="rect">
            <a:avLst/>
          </a:prstGeom>
          <a:noFill/>
          <a:ln/>
        </p:spPr>
        <p:txBody>
          <a:bodyPr wrap="square" lIns="0" tIns="0" rIns="0" bIns="0" rtlCol="0" anchor="ctr"/>
          <a:lstStyle/>
          <a:p>
            <a:pPr indent="0" marL="0">
              <a:buNone/>
            </a:pPr>
            <a:r>
              <a:rPr lang="en-US" sz="1100" b="1" spc="200" kern="0" dirty="0">
                <a:solidFill>
                  <a:srgbClr val="FF5A5F"/>
                </a:solidFill>
                <a:latin typeface="Calibri" pitchFamily="34" charset="0"/>
                <a:ea typeface="Calibri" pitchFamily="34" charset="-122"/>
                <a:cs typeface="Calibri" pitchFamily="34" charset="-120"/>
              </a:rPr>
              <a:t>04 · SECURITY</a:t>
            </a:r>
            <a:endParaRPr lang="en-US" sz="110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Georgia" pitchFamily="34" charset="0"/>
                <a:ea typeface="Georgia" pitchFamily="34" charset="-122"/>
                <a:cs typeface="Georgia" pitchFamily="34" charset="-120"/>
              </a:rPr>
              <a:t>Authentication</a:t>
            </a:r>
            <a:endParaRPr lang="en-US" sz="3000" dirty="0"/>
          </a:p>
        </p:txBody>
      </p:sp>
      <p:pic>
        <p:nvPicPr>
          <p:cNvPr id="4" name="Image 0" descr="auth">    </p:cNvPr>
          <p:cNvPicPr>
            <a:picLocks noChangeAspect="1"/>
          </p:cNvPicPr>
          <p:nvPr/>
        </p:nvPicPr>
        <p:blipFill>
          <a:blip r:embed="rId1"/>
          <a:stretch>
            <a:fillRect/>
          </a:stretch>
        </p:blipFill>
        <p:spPr>
          <a:xfrm>
            <a:off x="548640" y="1845152"/>
            <a:ext cx="7040880" cy="4082095"/>
          </a:xfrm>
          <a:prstGeom prst="rect">
            <a:avLst/>
          </a:prstGeom>
        </p:spPr>
      </p:pic>
      <p:sp>
        <p:nvSpPr>
          <p:cNvPr id="5" name="Text 2"/>
          <p:cNvSpPr/>
          <p:nvPr/>
        </p:nvSpPr>
        <p:spPr>
          <a:xfrm>
            <a:off x="7772400" y="1691640"/>
            <a:ext cx="3931920" cy="4572000"/>
          </a:xfrm>
          <a:prstGeom prst="rect">
            <a:avLst/>
          </a:prstGeom>
          <a:noFill/>
          <a:ln/>
        </p:spPr>
        <p:txBody>
          <a:bodyPr wrap="square" lIns="0" tIns="0" rIns="0" bIns="0" rtlCol="0" anchor="t">
            <a:spAutoFit/>
          </a:bodyPr>
          <a:lstStyle/>
          <a:p>
            <a:pPr marL="203200" indent="-203200">
              <a:spcAft>
                <a:spcPts val="1000"/>
              </a:spcAft>
              <a:buSzPct val="100000"/>
              <a:buChar char="•"/>
            </a:pPr>
            <a:r>
              <a:rPr lang="en-US" sz="1350" b="1" dirty="0">
                <a:solidFill>
                  <a:srgbClr val="1E293B"/>
                </a:solidFill>
                <a:latin typeface="Calibri" pitchFamily="34" charset="0"/>
                <a:ea typeface="Calibri" pitchFamily="34" charset="-122"/>
                <a:cs typeface="Calibri" pitchFamily="34" charset="-120"/>
              </a:rPr>
              <a:t>Two ways in: local password + Google OAuth</a:t>
            </a:r>
            <a:endParaRPr lang="en-US" sz="1350" dirty="0"/>
          </a:p>
          <a:p>
            <a:pPr marL="203200" indent="-203200">
              <a:spcAft>
                <a:spcPts val="1000"/>
              </a:spcAft>
              <a:buSzPct val="100000"/>
              <a:buChar char="•"/>
            </a:pPr>
            <a:r>
              <a:rPr lang="en-US" sz="1350" b="1" dirty="0">
                <a:solidFill>
                  <a:srgbClr val="1E293B"/>
                </a:solidFill>
                <a:latin typeface="Calibri" pitchFamily="34" charset="0"/>
                <a:ea typeface="Calibri" pitchFamily="34" charset="-122"/>
                <a:cs typeface="Calibri" pitchFamily="34" charset="-120"/>
              </a:rPr>
              <a:t>Passwords hashed with bcrypt (nullable for OAuth-only)</a:t>
            </a:r>
            <a:endParaRPr lang="en-US" sz="1350" dirty="0"/>
          </a:p>
          <a:p>
            <a:pPr marL="203200" indent="-203200">
              <a:spcAft>
                <a:spcPts val="1000"/>
              </a:spcAft>
              <a:buSzPct val="100000"/>
              <a:buChar char="•"/>
            </a:pPr>
            <a:r>
              <a:rPr lang="en-US" sz="1350" b="1" dirty="0">
                <a:solidFill>
                  <a:srgbClr val="1E293B"/>
                </a:solidFill>
                <a:latin typeface="Calibri" pitchFamily="34" charset="0"/>
                <a:ea typeface="Calibri" pitchFamily="34" charset="-122"/>
                <a:cs typeface="Calibri" pitchFamily="34" charset="-120"/>
              </a:rPr>
              <a:t>JWT carries { sub, email, name, role }</a:t>
            </a:r>
            <a:endParaRPr lang="en-US" sz="1350" dirty="0"/>
          </a:p>
          <a:p>
            <a:pPr marL="203200" indent="-203200">
              <a:spcAft>
                <a:spcPts val="1000"/>
              </a:spcAft>
              <a:buSzPct val="100000"/>
              <a:buChar char="•"/>
            </a:pPr>
            <a:r>
              <a:rPr lang="en-US" sz="1350" b="1" dirty="0">
                <a:solidFill>
                  <a:srgbClr val="1E293B"/>
                </a:solidFill>
                <a:latin typeface="Calibri" pitchFamily="34" charset="0"/>
                <a:ea typeface="Calibri" pitchFamily="34" charset="-122"/>
                <a:cs typeface="Calibri" pitchFamily="34" charset="-120"/>
              </a:rPr>
              <a:t>Web sends it as an Authorization: Bearer header</a:t>
            </a:r>
            <a:endParaRPr lang="en-US" sz="1350" dirty="0"/>
          </a:p>
          <a:p>
            <a:pPr marL="203200" indent="-203200">
              <a:spcAft>
                <a:spcPts val="1000"/>
              </a:spcAft>
              <a:buSzPct val="100000"/>
              <a:buChar char="•"/>
            </a:pPr>
            <a:r>
              <a:rPr lang="en-US" sz="1350" b="1" dirty="0">
                <a:solidFill>
                  <a:srgbClr val="1E293B"/>
                </a:solidFill>
                <a:latin typeface="Calibri" pitchFamily="34" charset="0"/>
                <a:ea typeface="Calibri" pitchFamily="34" charset="-122"/>
                <a:cs typeface="Calibri" pitchFamily="34" charset="-120"/>
              </a:rPr>
              <a:t>Account must be activated to sign in</a:t>
            </a:r>
            <a:endParaRPr lang="en-US" sz="1350" dirty="0"/>
          </a:p>
        </p:txBody>
      </p:sp>
      <p:sp>
        <p:nvSpPr>
          <p:cNvPr id="25" name="Slide Number Placeholder 0"/>
          <p:cNvSpPr>
            <a:spLocks noGrp="1"/>
          </p:cNvSpPr>
          <p:nvPr>
            <p:ph type="sldNum" sz="quarter" idx="4294967295"/>
          </p:nvPr>
        </p:nvSpPr>
        <p:spPr>
          <a:xfrm>
            <a:off x="11612880" y="6455664"/>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latin typeface="Calibri"/>
                <a:ea typeface="Calibri"/>
                <a:cs typeface="Calibri"/>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01752"/>
            <a:ext cx="11064240" cy="274320"/>
          </a:xfrm>
          <a:prstGeom prst="rect">
            <a:avLst/>
          </a:prstGeom>
          <a:noFill/>
          <a:ln/>
        </p:spPr>
        <p:txBody>
          <a:bodyPr wrap="square" lIns="0" tIns="0" rIns="0" bIns="0" rtlCol="0" anchor="ctr"/>
          <a:lstStyle/>
          <a:p>
            <a:pPr indent="0" marL="0">
              <a:buNone/>
            </a:pPr>
            <a:r>
              <a:rPr lang="en-US" sz="1100" b="1" spc="200" kern="0" dirty="0">
                <a:solidFill>
                  <a:srgbClr val="FF5A5F"/>
                </a:solidFill>
                <a:latin typeface="Calibri" pitchFamily="34" charset="0"/>
                <a:ea typeface="Calibri" pitchFamily="34" charset="-122"/>
                <a:cs typeface="Calibri" pitchFamily="34" charset="-120"/>
              </a:rPr>
              <a:t>04 · SECURITY</a:t>
            </a:r>
            <a:endParaRPr lang="en-US" sz="110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Georgia" pitchFamily="34" charset="0"/>
                <a:ea typeface="Georgia" pitchFamily="34" charset="-122"/>
                <a:cs typeface="Georgia" pitchFamily="34" charset="-120"/>
              </a:rPr>
              <a:t>Authorization — permission matrix</a:t>
            </a:r>
            <a:endParaRPr lang="en-US" sz="30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109960" cy="914400"/>
        </p:xfrm>
        <a:graphic>
          <a:graphicData uri="http://schemas.openxmlformats.org/drawingml/2006/table">
            <a:tbl>
              <a:tblPr/>
              <a:tblGrid>
                <a:gridCol w="3977640"/>
                <a:gridCol w="1188720"/>
                <a:gridCol w="1188720"/>
                <a:gridCol w="1188720"/>
                <a:gridCol w="1188720"/>
                <a:gridCol w="1188720"/>
                <a:gridCol w="1188720"/>
              </a:tblGrid>
              <a:tr h="310896">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Capability / endpoint group</a:t>
                      </a:r>
                      <a:endParaRPr lang="en-US" sz="11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2761"/>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Mangaka</a:t>
                      </a:r>
                      <a:endParaRPr lang="en-US" sz="11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2761"/>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Assist.</a:t>
                      </a:r>
                      <a:endParaRPr lang="en-US" sz="11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2761"/>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Editor</a:t>
                      </a:r>
                      <a:endParaRPr lang="en-US" sz="11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2761"/>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Board</a:t>
                      </a:r>
                      <a:endParaRPr lang="en-US" sz="11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2761"/>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Admin</a:t>
                      </a:r>
                      <a:endParaRPr lang="en-US" sz="11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2761"/>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Public</a:t>
                      </a:r>
                      <a:endParaRPr lang="en-US" sz="11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2761"/>
                    </a:solidFill>
                  </a:tcPr>
                </a:tc>
              </a:tr>
              <a:tr h="310896">
                <a:tc>
                  <a:txBody>
                    <a:bodyPr/>
                    <a:lstStyle/>
                    <a:p>
                      <a:pPr algn="l" indent="0" marL="0">
                        <a:buNone/>
                      </a:pPr>
                      <a:r>
                        <a:rPr lang="en-US" sz="1150" dirty="0">
                          <a:solidFill>
                            <a:srgbClr val="1E293B"/>
                          </a:solidFill>
                          <a:latin typeface="Calibri" pitchFamily="34" charset="0"/>
                          <a:ea typeface="Calibri" pitchFamily="34" charset="-122"/>
                          <a:cs typeface="Calibri" pitchFamily="34" charset="-120"/>
                        </a:rPr>
                        <a:t>Login · Google OAuth</a:t>
                      </a:r>
                      <a:endParaRPr lang="en-US" sz="11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endParaRPr lang="en-US" sz="11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endParaRPr lang="en-US" sz="11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endParaRPr lang="en-US" sz="11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endParaRPr lang="en-US" sz="11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endParaRPr lang="en-US" sz="11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0B981"/>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10896">
                <a:tc>
                  <a:txBody>
                    <a:bodyPr/>
                    <a:lstStyle/>
                    <a:p>
                      <a:pPr algn="l" indent="0" marL="0">
                        <a:buNone/>
                      </a:pPr>
                      <a:r>
                        <a:rPr lang="en-US" sz="1150" dirty="0">
                          <a:solidFill>
                            <a:srgbClr val="1E293B"/>
                          </a:solidFill>
                          <a:latin typeface="Calibri" pitchFamily="34" charset="0"/>
                          <a:ea typeface="Calibri" pitchFamily="34" charset="-122"/>
                          <a:cs typeface="Calibri" pitchFamily="34" charset="-120"/>
                        </a:rPr>
                        <a:t>Proposals — create / mine</a:t>
                      </a:r>
                      <a:endParaRPr lang="en-US" sz="11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0B981"/>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endParaRPr lang="en-US" sz="11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endParaRPr lang="en-US" sz="11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endParaRPr lang="en-US" sz="11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endParaRPr lang="en-US" sz="11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endParaRPr lang="en-US" sz="11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10896">
                <a:tc>
                  <a:txBody>
                    <a:bodyPr/>
                    <a:lstStyle/>
                    <a:p>
                      <a:pPr algn="l" indent="0" marL="0">
                        <a:buNone/>
                      </a:pPr>
                      <a:r>
                        <a:rPr lang="en-US" sz="1150" dirty="0">
                          <a:solidFill>
                            <a:srgbClr val="1E293B"/>
                          </a:solidFill>
                          <a:latin typeface="Calibri" pitchFamily="34" charset="0"/>
                          <a:ea typeface="Calibri" pitchFamily="34" charset="-122"/>
                          <a:cs typeface="Calibri" pitchFamily="34" charset="-120"/>
                        </a:rPr>
                        <a:t>Proposals — review / decide</a:t>
                      </a:r>
                      <a:endParaRPr lang="en-US" sz="11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endParaRPr lang="en-US" sz="11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endParaRPr lang="en-US" sz="11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endParaRPr lang="en-US" sz="11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0B981"/>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endParaRPr lang="en-US" sz="11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endParaRPr lang="en-US" sz="11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10896">
                <a:tc>
                  <a:txBody>
                    <a:bodyPr/>
                    <a:lstStyle/>
                    <a:p>
                      <a:pPr algn="l" indent="0" marL="0">
                        <a:buNone/>
                      </a:pPr>
                      <a:r>
                        <a:rPr lang="en-US" sz="1150" dirty="0">
                          <a:solidFill>
                            <a:srgbClr val="1E293B"/>
                          </a:solidFill>
                          <a:latin typeface="Calibri" pitchFamily="34" charset="0"/>
                          <a:ea typeface="Calibri" pitchFamily="34" charset="-122"/>
                          <a:cs typeface="Calibri" pitchFamily="34" charset="-120"/>
                        </a:rPr>
                        <a:t>Series — assign / unassign editor</a:t>
                      </a:r>
                      <a:endParaRPr lang="en-US" sz="11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endParaRPr lang="en-US" sz="11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endParaRPr lang="en-US" sz="11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endParaRPr lang="en-US" sz="11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0B981"/>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endParaRPr lang="en-US" sz="11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endParaRPr lang="en-US" sz="11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10896">
                <a:tc>
                  <a:txBody>
                    <a:bodyPr/>
                    <a:lstStyle/>
                    <a:p>
                      <a:pPr algn="l" indent="0" marL="0">
                        <a:buNone/>
                      </a:pPr>
                      <a:r>
                        <a:rPr lang="en-US" sz="1150" dirty="0">
                          <a:solidFill>
                            <a:srgbClr val="1E293B"/>
                          </a:solidFill>
                          <a:latin typeface="Calibri" pitchFamily="34" charset="0"/>
                          <a:ea typeface="Calibri" pitchFamily="34" charset="-122"/>
                          <a:cs typeface="Calibri" pitchFamily="34" charset="-120"/>
                        </a:rPr>
                        <a:t>Chapters · Pages · Regions · Tasks</a:t>
                      </a:r>
                      <a:endParaRPr lang="en-US" sz="11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0B981"/>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endParaRPr lang="en-US" sz="11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endParaRPr lang="en-US" sz="11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endParaRPr lang="en-US" sz="11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endParaRPr lang="en-US" sz="11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endParaRPr lang="en-US" sz="11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10896">
                <a:tc>
                  <a:txBody>
                    <a:bodyPr/>
                    <a:lstStyle/>
                    <a:p>
                      <a:pPr algn="l" indent="0" marL="0">
                        <a:buNone/>
                      </a:pPr>
                      <a:r>
                        <a:rPr lang="en-US" sz="1150" dirty="0">
                          <a:solidFill>
                            <a:srgbClr val="1E293B"/>
                          </a:solidFill>
                          <a:latin typeface="Calibri" pitchFamily="34" charset="0"/>
                          <a:ea typeface="Calibri" pitchFamily="34" charset="-122"/>
                          <a:cs typeface="Calibri" pitchFamily="34" charset="-120"/>
                        </a:rPr>
                        <a:t>Tasks — mine / start</a:t>
                      </a:r>
                      <a:endParaRPr lang="en-US" sz="11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endParaRPr lang="en-US" sz="11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0B981"/>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endParaRPr lang="en-US" sz="11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endParaRPr lang="en-US" sz="11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endParaRPr lang="en-US" sz="11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endParaRPr lang="en-US" sz="11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10896">
                <a:tc>
                  <a:txBody>
                    <a:bodyPr/>
                    <a:lstStyle/>
                    <a:p>
                      <a:pPr algn="l" indent="0" marL="0">
                        <a:buNone/>
                      </a:pPr>
                      <a:r>
                        <a:rPr lang="en-US" sz="1150" dirty="0">
                          <a:solidFill>
                            <a:srgbClr val="1E293B"/>
                          </a:solidFill>
                          <a:latin typeface="Calibri" pitchFamily="34" charset="0"/>
                          <a:ea typeface="Calibri" pitchFamily="34" charset="-122"/>
                          <a:cs typeface="Calibri" pitchFamily="34" charset="-120"/>
                        </a:rPr>
                        <a:t>Submissions — submit</a:t>
                      </a:r>
                      <a:endParaRPr lang="en-US" sz="11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endParaRPr lang="en-US" sz="11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0B981"/>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endParaRPr lang="en-US" sz="11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endParaRPr lang="en-US" sz="11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endParaRPr lang="en-US" sz="11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endParaRPr lang="en-US" sz="11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10896">
                <a:tc>
                  <a:txBody>
                    <a:bodyPr/>
                    <a:lstStyle/>
                    <a:p>
                      <a:pPr algn="l" indent="0" marL="0">
                        <a:buNone/>
                      </a:pPr>
                      <a:r>
                        <a:rPr lang="en-US" sz="1150" dirty="0">
                          <a:solidFill>
                            <a:srgbClr val="1E293B"/>
                          </a:solidFill>
                          <a:latin typeface="Calibri" pitchFamily="34" charset="0"/>
                          <a:ea typeface="Calibri" pitchFamily="34" charset="-122"/>
                          <a:cs typeface="Calibri" pitchFamily="34" charset="-120"/>
                        </a:rPr>
                        <a:t>Submissions — review</a:t>
                      </a:r>
                      <a:endParaRPr lang="en-US" sz="11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0B981"/>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endParaRPr lang="en-US" sz="11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endParaRPr lang="en-US" sz="11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endParaRPr lang="en-US" sz="11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endParaRPr lang="en-US" sz="11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endParaRPr lang="en-US" sz="11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10896">
                <a:tc>
                  <a:txBody>
                    <a:bodyPr/>
                    <a:lstStyle/>
                    <a:p>
                      <a:pPr algn="l" indent="0" marL="0">
                        <a:buNone/>
                      </a:pPr>
                      <a:r>
                        <a:rPr lang="en-US" sz="1150" dirty="0">
                          <a:solidFill>
                            <a:srgbClr val="1E293B"/>
                          </a:solidFill>
                          <a:latin typeface="Calibri" pitchFamily="34" charset="0"/>
                          <a:ea typeface="Calibri" pitchFamily="34" charset="-122"/>
                          <a:cs typeface="Calibri" pitchFamily="34" charset="-120"/>
                        </a:rPr>
                        <a:t>Chapter review · Annotations</a:t>
                      </a:r>
                      <a:endParaRPr lang="en-US" sz="11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endParaRPr lang="en-US" sz="11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endParaRPr lang="en-US" sz="11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0B981"/>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endParaRPr lang="en-US" sz="11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endParaRPr lang="en-US" sz="11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endParaRPr lang="en-US" sz="11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10896">
                <a:tc>
                  <a:txBody>
                    <a:bodyPr/>
                    <a:lstStyle/>
                    <a:p>
                      <a:pPr algn="l" indent="0" marL="0">
                        <a:buNone/>
                      </a:pPr>
                      <a:r>
                        <a:rPr lang="en-US" sz="1150" dirty="0">
                          <a:solidFill>
                            <a:srgbClr val="1E293B"/>
                          </a:solidFill>
                          <a:latin typeface="Calibri" pitchFamily="34" charset="0"/>
                          <a:ea typeface="Calibri" pitchFamily="34" charset="-122"/>
                          <a:cs typeface="Calibri" pitchFamily="34" charset="-120"/>
                        </a:rPr>
                        <a:t>Vote periods · Votes · Decisions</a:t>
                      </a:r>
                      <a:endParaRPr lang="en-US" sz="11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endParaRPr lang="en-US" sz="11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endParaRPr lang="en-US" sz="11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endParaRPr lang="en-US" sz="11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0B981"/>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endParaRPr lang="en-US" sz="11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endParaRPr lang="en-US" sz="11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10896">
                <a:tc>
                  <a:txBody>
                    <a:bodyPr/>
                    <a:lstStyle/>
                    <a:p>
                      <a:pPr algn="l" indent="0" marL="0">
                        <a:buNone/>
                      </a:pPr>
                      <a:r>
                        <a:rPr lang="en-US" sz="1150" dirty="0">
                          <a:solidFill>
                            <a:srgbClr val="1E293B"/>
                          </a:solidFill>
                          <a:latin typeface="Calibri" pitchFamily="34" charset="0"/>
                          <a:ea typeface="Calibri" pitchFamily="34" charset="-122"/>
                          <a:cs typeface="Calibri" pitchFamily="34" charset="-120"/>
                        </a:rPr>
                        <a:t>Earnings — mine / disputes (open)</a:t>
                      </a:r>
                      <a:endParaRPr lang="en-US" sz="11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endParaRPr lang="en-US" sz="11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0B981"/>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endParaRPr lang="en-US" sz="11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endParaRPr lang="en-US" sz="11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endParaRPr lang="en-US" sz="11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endParaRPr lang="en-US" sz="11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10896">
                <a:tc>
                  <a:txBody>
                    <a:bodyPr/>
                    <a:lstStyle/>
                    <a:p>
                      <a:pPr algn="l" indent="0" marL="0">
                        <a:buNone/>
                      </a:pPr>
                      <a:r>
                        <a:rPr lang="en-US" sz="1150" dirty="0">
                          <a:solidFill>
                            <a:srgbClr val="1E293B"/>
                          </a:solidFill>
                          <a:latin typeface="Calibri" pitchFamily="34" charset="0"/>
                          <a:ea typeface="Calibri" pitchFamily="34" charset="-122"/>
                          <a:cs typeface="Calibri" pitchFamily="34" charset="-120"/>
                        </a:rPr>
                        <a:t>Disputes — list / review / resolve</a:t>
                      </a:r>
                      <a:endParaRPr lang="en-US" sz="11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endParaRPr lang="en-US" sz="11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endParaRPr lang="en-US" sz="11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endParaRPr lang="en-US" sz="11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endParaRPr lang="en-US" sz="11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0B981"/>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endParaRPr lang="en-US" sz="11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10896">
                <a:tc>
                  <a:txBody>
                    <a:bodyPr/>
                    <a:lstStyle/>
                    <a:p>
                      <a:pPr algn="l" indent="0" marL="0">
                        <a:buNone/>
                      </a:pPr>
                      <a:r>
                        <a:rPr lang="en-US" sz="1150" dirty="0">
                          <a:solidFill>
                            <a:srgbClr val="1E293B"/>
                          </a:solidFill>
                          <a:latin typeface="Calibri" pitchFamily="34" charset="0"/>
                          <a:ea typeface="Calibri" pitchFamily="34" charset="-122"/>
                          <a:cs typeface="Calibri" pitchFamily="34" charset="-120"/>
                        </a:rPr>
                        <a:t>Admin — users / overview</a:t>
                      </a:r>
                      <a:endParaRPr lang="en-US" sz="11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endParaRPr lang="en-US" sz="11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endParaRPr lang="en-US" sz="11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endParaRPr lang="en-US" sz="11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endParaRPr lang="en-US" sz="11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0B981"/>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endParaRPr lang="en-US" sz="11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612880" y="6455664"/>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latin typeface="Calibri"/>
                <a:ea typeface="Calibri"/>
                <a:cs typeface="Calibri"/>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4142B"/>
        </a:solidFill>
      </p:bgPr>
    </p:bg>
    <p:spTree>
      <p:nvGrpSpPr>
        <p:cNvPr id="1" name=""/>
        <p:cNvGrpSpPr/>
        <p:nvPr/>
      </p:nvGrpSpPr>
      <p:grpSpPr>
        <a:xfrm>
          <a:off x="0" y="0"/>
          <a:ext cx="0" cy="0"/>
          <a:chOff x="0" y="0"/>
          <a:chExt cx="0" cy="0"/>
        </a:xfrm>
      </p:grpSpPr>
      <p:sp>
        <p:nvSpPr>
          <p:cNvPr id="2" name="Text 0"/>
          <p:cNvSpPr/>
          <p:nvPr/>
        </p:nvSpPr>
        <p:spPr>
          <a:xfrm>
            <a:off x="731520" y="1280160"/>
            <a:ext cx="3657600" cy="2194560"/>
          </a:xfrm>
          <a:prstGeom prst="rect">
            <a:avLst/>
          </a:prstGeom>
          <a:noFill/>
          <a:ln/>
        </p:spPr>
        <p:txBody>
          <a:bodyPr wrap="square" lIns="0" tIns="0" rIns="0" bIns="0" rtlCol="0" anchor="ctr"/>
          <a:lstStyle/>
          <a:p>
            <a:pPr indent="0" marL="0">
              <a:buNone/>
            </a:pPr>
            <a:r>
              <a:rPr lang="en-US" sz="15000" b="1" dirty="0">
                <a:solidFill>
                  <a:srgbClr val="FF5A5F"/>
                </a:solidFill>
                <a:latin typeface="Georgia" pitchFamily="34" charset="0"/>
                <a:ea typeface="Georgia" pitchFamily="34" charset="-122"/>
                <a:cs typeface="Georgia" pitchFamily="34" charset="-120"/>
              </a:rPr>
              <a:t>05</a:t>
            </a:r>
            <a:endParaRPr lang="en-US" sz="15000" dirty="0"/>
          </a:p>
        </p:txBody>
      </p:sp>
      <p:sp>
        <p:nvSpPr>
          <p:cNvPr id="3" name="Text 1"/>
          <p:cNvSpPr/>
          <p:nvPr/>
        </p:nvSpPr>
        <p:spPr>
          <a:xfrm>
            <a:off x="822960" y="3657600"/>
            <a:ext cx="10515600" cy="1097280"/>
          </a:xfrm>
          <a:prstGeom prst="rect">
            <a:avLst/>
          </a:prstGeom>
          <a:noFill/>
          <a:ln/>
        </p:spPr>
        <p:txBody>
          <a:bodyPr wrap="square" lIns="0" tIns="0" rIns="0" bIns="0"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The Five Roles in Action</a:t>
            </a:r>
            <a:endParaRPr lang="en-US" sz="4000" dirty="0"/>
          </a:p>
        </p:txBody>
      </p:sp>
      <p:sp>
        <p:nvSpPr>
          <p:cNvPr id="4" name="Text 2"/>
          <p:cNvSpPr/>
          <p:nvPr/>
        </p:nvSpPr>
        <p:spPr>
          <a:xfrm>
            <a:off x="868680" y="4709160"/>
            <a:ext cx="10058400" cy="1097280"/>
          </a:xfrm>
          <a:prstGeom prst="rect">
            <a:avLst/>
          </a:prstGeom>
          <a:noFill/>
          <a:ln/>
        </p:spPr>
        <p:txBody>
          <a:bodyPr wrap="square" lIns="0" tIns="0" rIns="0" bIns="0" rtlCol="0" anchor="ctr"/>
          <a:lstStyle/>
          <a:p>
            <a:pPr indent="0" marL="0">
              <a:buNone/>
            </a:pPr>
            <a:r>
              <a:rPr lang="en-US" sz="1600" dirty="0">
                <a:solidFill>
                  <a:srgbClr val="E8EDF9"/>
                </a:solidFill>
                <a:latin typeface="Calibri" pitchFamily="34" charset="0"/>
                <a:ea typeface="Calibri" pitchFamily="34" charset="-122"/>
                <a:cs typeface="Calibri" pitchFamily="34" charset="-120"/>
              </a:rPr>
              <a:t>What each person sees and does, screen by screen</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01752"/>
            <a:ext cx="11064240" cy="274320"/>
          </a:xfrm>
          <a:prstGeom prst="rect">
            <a:avLst/>
          </a:prstGeom>
          <a:noFill/>
          <a:ln/>
        </p:spPr>
        <p:txBody>
          <a:bodyPr wrap="square" lIns="0" tIns="0" rIns="0" bIns="0" rtlCol="0" anchor="ctr"/>
          <a:lstStyle/>
          <a:p>
            <a:pPr indent="0" marL="0">
              <a:buNone/>
            </a:pPr>
            <a:r>
              <a:rPr lang="en-US" sz="1100" b="1" spc="200" kern="0" dirty="0">
                <a:solidFill>
                  <a:srgbClr val="FF5A5F"/>
                </a:solidFill>
                <a:latin typeface="Calibri" pitchFamily="34" charset="0"/>
                <a:ea typeface="Calibri" pitchFamily="34" charset="-122"/>
                <a:cs typeface="Calibri" pitchFamily="34" charset="-120"/>
              </a:rPr>
              <a:t>05 · ROLES</a:t>
            </a:r>
            <a:endParaRPr lang="en-US" sz="110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Georgia" pitchFamily="34" charset="0"/>
                <a:ea typeface="Georgia" pitchFamily="34" charset="-122"/>
                <a:cs typeface="Georgia" pitchFamily="34" charset="-120"/>
              </a:rPr>
              <a:t>Use-case overview</a:t>
            </a:r>
            <a:endParaRPr lang="en-US" sz="3000" dirty="0"/>
          </a:p>
        </p:txBody>
      </p:sp>
      <p:pic>
        <p:nvPicPr>
          <p:cNvPr id="4" name="Image 0" descr="usecases">    </p:cNvPr>
          <p:cNvPicPr>
            <a:picLocks noChangeAspect="1"/>
          </p:cNvPicPr>
          <p:nvPr/>
        </p:nvPicPr>
        <p:blipFill>
          <a:blip r:embed="rId1"/>
          <a:stretch>
            <a:fillRect/>
          </a:stretch>
        </p:blipFill>
        <p:spPr>
          <a:xfrm>
            <a:off x="1351811" y="1417320"/>
            <a:ext cx="3514299" cy="5029200"/>
          </a:xfrm>
          <a:prstGeom prst="rect">
            <a:avLst/>
          </a:prstGeom>
        </p:spPr>
      </p:pic>
      <p:sp>
        <p:nvSpPr>
          <p:cNvPr id="5" name="Text 2"/>
          <p:cNvSpPr/>
          <p:nvPr/>
        </p:nvSpPr>
        <p:spPr>
          <a:xfrm>
            <a:off x="6035040" y="1645920"/>
            <a:ext cx="5669280" cy="4572000"/>
          </a:xfrm>
          <a:prstGeom prst="rect">
            <a:avLst/>
          </a:prstGeom>
          <a:noFill/>
          <a:ln/>
        </p:spPr>
        <p:txBody>
          <a:bodyPr wrap="square" lIns="0" tIns="0" rIns="0" bIns="0" rtlCol="0" anchor="t">
            <a:spAutoFit/>
          </a:bodyPr>
          <a:lstStyle/>
          <a:p>
            <a:pPr marL="203200" indent="-203200">
              <a:spcAft>
                <a:spcPts val="900"/>
              </a:spcAft>
              <a:buSzPct val="100000"/>
              <a:buChar char="•"/>
            </a:pPr>
            <a:r>
              <a:rPr lang="en-US" sz="1400" b="1" dirty="0">
                <a:solidFill>
                  <a:srgbClr val="1E293B"/>
                </a:solidFill>
                <a:latin typeface="Calibri" pitchFamily="34" charset="0"/>
                <a:ea typeface="Calibri" pitchFamily="34" charset="-122"/>
                <a:cs typeface="Calibri" pitchFamily="34" charset="-120"/>
              </a:rPr>
              <a:t>Each actor has a focused set of use cases</a:t>
            </a:r>
            <a:endParaRPr lang="en-US" sz="1400" dirty="0"/>
          </a:p>
          <a:p>
            <a:pPr marL="203200" indent="-203200">
              <a:spcAft>
                <a:spcPts val="900"/>
              </a:spcAft>
              <a:buSzPct val="100000"/>
              <a:buChar char="•"/>
            </a:pPr>
            <a:r>
              <a:rPr lang="en-US" sz="1400" b="1" dirty="0">
                <a:solidFill>
                  <a:srgbClr val="1E293B"/>
                </a:solidFill>
                <a:latin typeface="Calibri" pitchFamily="34" charset="0"/>
                <a:ea typeface="Calibri" pitchFamily="34" charset="-122"/>
                <a:cs typeface="Calibri" pitchFamily="34" charset="-120"/>
              </a:rPr>
              <a:t>Mangaka: propose &amp; produce a series</a:t>
            </a:r>
            <a:endParaRPr lang="en-US" sz="1400" dirty="0"/>
          </a:p>
          <a:p>
            <a:pPr marL="203200" indent="-203200">
              <a:spcAft>
                <a:spcPts val="900"/>
              </a:spcAft>
              <a:buSzPct val="100000"/>
              <a:buChar char="•"/>
            </a:pPr>
            <a:r>
              <a:rPr lang="en-US" sz="1400" b="1" dirty="0">
                <a:solidFill>
                  <a:srgbClr val="1E293B"/>
                </a:solidFill>
                <a:latin typeface="Calibri" pitchFamily="34" charset="0"/>
                <a:ea typeface="Calibri" pitchFamily="34" charset="-122"/>
                <a:cs typeface="Calibri" pitchFamily="34" charset="-120"/>
              </a:rPr>
              <a:t>Assistant: execute &amp; submit tasks; track earnings</a:t>
            </a:r>
            <a:endParaRPr lang="en-US" sz="1400" dirty="0"/>
          </a:p>
          <a:p>
            <a:pPr marL="203200" indent="-203200">
              <a:spcAft>
                <a:spcPts val="900"/>
              </a:spcAft>
              <a:buSzPct val="100000"/>
              <a:buChar char="•"/>
            </a:pPr>
            <a:r>
              <a:rPr lang="en-US" sz="1400" b="1" dirty="0">
                <a:solidFill>
                  <a:srgbClr val="1E293B"/>
                </a:solidFill>
                <a:latin typeface="Calibri" pitchFamily="34" charset="0"/>
                <a:ea typeface="Calibri" pitchFamily="34" charset="-122"/>
                <a:cs typeface="Calibri" pitchFamily="34" charset="-120"/>
              </a:rPr>
              <a:t>Tantou Editor: review chapters &amp; annotate</a:t>
            </a:r>
            <a:endParaRPr lang="en-US" sz="1400" dirty="0"/>
          </a:p>
          <a:p>
            <a:pPr marL="203200" indent="-203200">
              <a:spcAft>
                <a:spcPts val="900"/>
              </a:spcAft>
              <a:buSzPct val="100000"/>
              <a:buChar char="•"/>
            </a:pPr>
            <a:r>
              <a:rPr lang="en-US" sz="1400" b="1" dirty="0">
                <a:solidFill>
                  <a:srgbClr val="1E293B"/>
                </a:solidFill>
                <a:latin typeface="Calibri" pitchFamily="34" charset="0"/>
                <a:ea typeface="Calibri" pitchFamily="34" charset="-122"/>
                <a:cs typeface="Calibri" pitchFamily="34" charset="-120"/>
              </a:rPr>
              <a:t>Board: approve, assign, vote, rank, decide</a:t>
            </a:r>
            <a:endParaRPr lang="en-US" sz="1400" dirty="0"/>
          </a:p>
          <a:p>
            <a:pPr marL="203200" indent="-203200">
              <a:spcAft>
                <a:spcPts val="900"/>
              </a:spcAft>
              <a:buSzPct val="100000"/>
              <a:buChar char="•"/>
            </a:pPr>
            <a:r>
              <a:rPr lang="en-US" sz="1400" b="1" dirty="0">
                <a:solidFill>
                  <a:srgbClr val="1E293B"/>
                </a:solidFill>
                <a:latin typeface="Calibri" pitchFamily="34" charset="0"/>
                <a:ea typeface="Calibri" pitchFamily="34" charset="-122"/>
                <a:cs typeface="Calibri" pitchFamily="34" charset="-120"/>
              </a:rPr>
              <a:t>Admin: administer users &amp; disputes</a:t>
            </a:r>
            <a:endParaRPr lang="en-US" sz="1400" dirty="0"/>
          </a:p>
          <a:p>
            <a:pPr marL="203200" indent="-203200">
              <a:spcAft>
                <a:spcPts val="900"/>
              </a:spcAft>
              <a:buSzPct val="100000"/>
              <a:buChar char="•"/>
            </a:pPr>
            <a:r>
              <a:rPr lang="en-US" sz="1400" b="1" dirty="0">
                <a:solidFill>
                  <a:srgbClr val="1E293B"/>
                </a:solidFill>
                <a:latin typeface="Calibri" pitchFamily="34" charset="0"/>
                <a:ea typeface="Calibri" pitchFamily="34" charset="-122"/>
                <a:cs typeface="Calibri" pitchFamily="34" charset="-120"/>
              </a:rPr>
              <a:t>The System also acts: notify, price, accrue, rank</a:t>
            </a:r>
            <a:endParaRPr lang="en-US" sz="1400" dirty="0"/>
          </a:p>
        </p:txBody>
      </p:sp>
      <p:sp>
        <p:nvSpPr>
          <p:cNvPr id="25" name="Slide Number Placeholder 0"/>
          <p:cNvSpPr>
            <a:spLocks noGrp="1"/>
          </p:cNvSpPr>
          <p:nvPr>
            <p:ph type="sldNum" sz="quarter" idx="4294967295"/>
          </p:nvPr>
        </p:nvSpPr>
        <p:spPr>
          <a:xfrm>
            <a:off x="11612880" y="6455664"/>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latin typeface="Calibri"/>
                <a:ea typeface="Calibri"/>
                <a:cs typeface="Calibri"/>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01752"/>
            <a:ext cx="11064240" cy="274320"/>
          </a:xfrm>
          <a:prstGeom prst="rect">
            <a:avLst/>
          </a:prstGeom>
          <a:noFill/>
          <a:ln/>
        </p:spPr>
        <p:txBody>
          <a:bodyPr wrap="square" lIns="0" tIns="0" rIns="0" bIns="0" rtlCol="0" anchor="ctr"/>
          <a:lstStyle/>
          <a:p>
            <a:pPr indent="0" marL="0">
              <a:buNone/>
            </a:pPr>
            <a:r>
              <a:rPr lang="en-US" sz="1100" b="1" spc="200" kern="0" dirty="0">
                <a:solidFill>
                  <a:srgbClr val="FF5A5F"/>
                </a:solidFill>
                <a:latin typeface="Calibri" pitchFamily="34" charset="0"/>
                <a:ea typeface="Calibri" pitchFamily="34" charset="-122"/>
                <a:cs typeface="Calibri" pitchFamily="34" charset="-120"/>
              </a:rPr>
              <a:t>05 · ROLES</a:t>
            </a:r>
            <a:endParaRPr lang="en-US" sz="110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Georgia" pitchFamily="34" charset="0"/>
                <a:ea typeface="Georgia" pitchFamily="34" charset="-122"/>
                <a:cs typeface="Georgia" pitchFamily="34" charset="-120"/>
              </a:rPr>
              <a:t>Mangaka</a:t>
            </a:r>
            <a:endParaRPr lang="en-US" sz="3000" dirty="0"/>
          </a:p>
        </p:txBody>
      </p:sp>
      <p:sp>
        <p:nvSpPr>
          <p:cNvPr id="4" name="Text 2"/>
          <p:cNvSpPr/>
          <p:nvPr/>
        </p:nvSpPr>
        <p:spPr>
          <a:xfrm>
            <a:off x="566928" y="1371600"/>
            <a:ext cx="8229600" cy="365760"/>
          </a:xfrm>
          <a:prstGeom prst="rect">
            <a:avLst/>
          </a:prstGeom>
          <a:noFill/>
          <a:ln/>
        </p:spPr>
        <p:txBody>
          <a:bodyPr wrap="square" lIns="0" tIns="0" rIns="0" bIns="0" rtlCol="0" anchor="ctr"/>
          <a:lstStyle/>
          <a:p>
            <a:pPr indent="0" marL="0">
              <a:buNone/>
            </a:pPr>
            <a:r>
              <a:rPr lang="en-US" sz="1400" i="1" dirty="0">
                <a:solidFill>
                  <a:srgbClr val="7C3AED"/>
                </a:solidFill>
                <a:latin typeface="Calibri" pitchFamily="34" charset="0"/>
                <a:ea typeface="Calibri" pitchFamily="34" charset="-122"/>
                <a:cs typeface="Calibri" pitchFamily="34" charset="-120"/>
              </a:rPr>
              <a:t>漫画家 · Series Author</a:t>
            </a:r>
            <a:endParaRPr lang="en-US" sz="1400" dirty="0"/>
          </a:p>
        </p:txBody>
      </p:sp>
      <p:sp>
        <p:nvSpPr>
          <p:cNvPr id="5" name="Text 3"/>
          <p:cNvSpPr/>
          <p:nvPr/>
        </p:nvSpPr>
        <p:spPr>
          <a:xfrm>
            <a:off x="640080" y="1965960"/>
            <a:ext cx="5486400" cy="320040"/>
          </a:xfrm>
          <a:prstGeom prst="rect">
            <a:avLst/>
          </a:prstGeom>
          <a:noFill/>
          <a:ln/>
        </p:spPr>
        <p:txBody>
          <a:bodyPr wrap="square" lIns="0" tIns="0" rIns="0" bIns="0" rtlCol="0" anchor="ctr"/>
          <a:lstStyle/>
          <a:p>
            <a:pPr indent="0" marL="0">
              <a:buNone/>
            </a:pPr>
            <a:r>
              <a:rPr lang="en-US" sz="1400" b="1" dirty="0">
                <a:solidFill>
                  <a:srgbClr val="7C3AED"/>
                </a:solidFill>
                <a:latin typeface="Georgia" pitchFamily="34" charset="0"/>
                <a:ea typeface="Georgia" pitchFamily="34" charset="-122"/>
                <a:cs typeface="Georgia" pitchFamily="34" charset="-120"/>
              </a:rPr>
              <a:t>WHAT THEY DO</a:t>
            </a:r>
            <a:endParaRPr lang="en-US" sz="1400" dirty="0"/>
          </a:p>
        </p:txBody>
      </p:sp>
      <p:sp>
        <p:nvSpPr>
          <p:cNvPr id="6" name="Text 4"/>
          <p:cNvSpPr/>
          <p:nvPr/>
        </p:nvSpPr>
        <p:spPr>
          <a:xfrm>
            <a:off x="640080" y="2377440"/>
            <a:ext cx="5669280" cy="2011680"/>
          </a:xfrm>
          <a:prstGeom prst="rect">
            <a:avLst/>
          </a:prstGeom>
          <a:noFill/>
          <a:ln/>
        </p:spPr>
        <p:txBody>
          <a:bodyPr wrap="square" lIns="0" tIns="0" rIns="0" bIns="0" rtlCol="0" anchor="t">
            <a:spAutoFit/>
          </a:bodyPr>
          <a:lstStyle/>
          <a:p>
            <a:pPr marL="203200" indent="-203200">
              <a:spcAft>
                <a:spcPts val="900"/>
              </a:spcAft>
              <a:buSzPct val="100000"/>
              <a:buChar char="•"/>
            </a:pPr>
            <a:r>
              <a:rPr lang="en-US" sz="1400" b="1" dirty="0">
                <a:solidFill>
                  <a:srgbClr val="1E293B"/>
                </a:solidFill>
                <a:latin typeface="Calibri" pitchFamily="34" charset="0"/>
                <a:ea typeface="Calibri" pitchFamily="34" charset="-122"/>
                <a:cs typeface="Calibri" pitchFamily="34" charset="-120"/>
              </a:rPr>
              <a:t>Pitch and submit series proposals</a:t>
            </a:r>
            <a:endParaRPr lang="en-US" sz="1400" dirty="0"/>
          </a:p>
          <a:p>
            <a:pPr marL="203200" indent="-203200">
              <a:spcAft>
                <a:spcPts val="900"/>
              </a:spcAft>
              <a:buSzPct val="100000"/>
              <a:buChar char="•"/>
            </a:pPr>
            <a:r>
              <a:rPr lang="en-US" sz="1400" b="1" dirty="0">
                <a:solidFill>
                  <a:srgbClr val="1E293B"/>
                </a:solidFill>
                <a:latin typeface="Calibri" pitchFamily="34" charset="0"/>
                <a:ea typeface="Calibri" pitchFamily="34" charset="-122"/>
                <a:cs typeface="Calibri" pitchFamily="34" charset="-120"/>
              </a:rPr>
              <a:t>Create chapters, pages, and regions</a:t>
            </a:r>
            <a:endParaRPr lang="en-US" sz="1400" dirty="0"/>
          </a:p>
          <a:p>
            <a:pPr marL="203200" indent="-203200">
              <a:spcAft>
                <a:spcPts val="900"/>
              </a:spcAft>
              <a:buSzPct val="100000"/>
              <a:buChar char="•"/>
            </a:pPr>
            <a:r>
              <a:rPr lang="en-US" sz="1400" b="1" dirty="0">
                <a:solidFill>
                  <a:srgbClr val="1E293B"/>
                </a:solidFill>
                <a:latin typeface="Calibri" pitchFamily="34" charset="0"/>
                <a:ea typeface="Calibri" pitchFamily="34" charset="-122"/>
                <a:cs typeface="Calibri" pitchFamily="34" charset="-120"/>
              </a:rPr>
              <a:t>Create priced tasks and assign assistants</a:t>
            </a:r>
            <a:endParaRPr lang="en-US" sz="1400" dirty="0"/>
          </a:p>
          <a:p>
            <a:pPr marL="203200" indent="-203200">
              <a:spcAft>
                <a:spcPts val="900"/>
              </a:spcAft>
              <a:buSzPct val="100000"/>
              <a:buChar char="•"/>
            </a:pPr>
            <a:r>
              <a:rPr lang="en-US" sz="1400" b="1" dirty="0">
                <a:solidFill>
                  <a:srgbClr val="1E293B"/>
                </a:solidFill>
                <a:latin typeface="Calibri" pitchFamily="34" charset="0"/>
                <a:ea typeface="Calibri" pitchFamily="34" charset="-122"/>
                <a:cs typeface="Calibri" pitchFamily="34" charset="-120"/>
              </a:rPr>
              <a:t>Review submissions: approve or request revision</a:t>
            </a:r>
            <a:endParaRPr lang="en-US" sz="1400" dirty="0"/>
          </a:p>
        </p:txBody>
      </p:sp>
      <p:sp>
        <p:nvSpPr>
          <p:cNvPr id="7" name="Text 5"/>
          <p:cNvSpPr/>
          <p:nvPr/>
        </p:nvSpPr>
        <p:spPr>
          <a:xfrm>
            <a:off x="640080" y="4526280"/>
            <a:ext cx="5486400" cy="320040"/>
          </a:xfrm>
          <a:prstGeom prst="rect">
            <a:avLst/>
          </a:prstGeom>
          <a:noFill/>
          <a:ln/>
        </p:spPr>
        <p:txBody>
          <a:bodyPr wrap="square" lIns="0" tIns="0" rIns="0" bIns="0" rtlCol="0" anchor="ctr"/>
          <a:lstStyle/>
          <a:p>
            <a:pPr indent="0" marL="0">
              <a:buNone/>
            </a:pPr>
            <a:r>
              <a:rPr lang="en-US" sz="1400" b="1" dirty="0">
                <a:solidFill>
                  <a:srgbClr val="7C3AED"/>
                </a:solidFill>
                <a:latin typeface="Georgia" pitchFamily="34" charset="0"/>
                <a:ea typeface="Georgia" pitchFamily="34" charset="-122"/>
                <a:cs typeface="Georgia" pitchFamily="34" charset="-120"/>
              </a:rPr>
              <a:t>NAVIGATION</a:t>
            </a:r>
            <a:endParaRPr lang="en-US" sz="1400" dirty="0"/>
          </a:p>
        </p:txBody>
      </p:sp>
      <p:sp>
        <p:nvSpPr>
          <p:cNvPr id="8" name="Text 6"/>
          <p:cNvSpPr/>
          <p:nvPr/>
        </p:nvSpPr>
        <p:spPr>
          <a:xfrm>
            <a:off x="640080" y="4937760"/>
            <a:ext cx="5669280" cy="1371600"/>
          </a:xfrm>
          <a:prstGeom prst="rect">
            <a:avLst/>
          </a:prstGeom>
          <a:noFill/>
          <a:ln/>
        </p:spPr>
        <p:txBody>
          <a:bodyPr wrap="square" lIns="0" tIns="0" rIns="0" bIns="0" rtlCol="0" anchor="t">
            <a:spAutoFit/>
          </a:bodyPr>
          <a:lstStyle/>
          <a:p>
            <a:pPr marL="203200" indent="-203200">
              <a:spcAft>
                <a:spcPts val="500"/>
              </a:spcAft>
              <a:buSzPct val="100000"/>
              <a:buChar char="•"/>
            </a:pPr>
            <a:r>
              <a:rPr lang="en-US" sz="1250" b="1" dirty="0">
                <a:solidFill>
                  <a:srgbClr val="1E293B"/>
                </a:solidFill>
                <a:latin typeface="Calibri" pitchFamily="34" charset="0"/>
                <a:ea typeface="Calibri" pitchFamily="34" charset="-122"/>
                <a:cs typeface="Calibri" pitchFamily="34" charset="-120"/>
              </a:rPr>
              <a:t>Tổng quan  /</a:t>
            </a:r>
            <a:endParaRPr lang="en-US" sz="1250" dirty="0"/>
          </a:p>
          <a:p>
            <a:pPr marL="203200" indent="-203200">
              <a:spcAft>
                <a:spcPts val="500"/>
              </a:spcAft>
              <a:buSzPct val="100000"/>
              <a:buChar char="•"/>
            </a:pPr>
            <a:r>
              <a:rPr lang="en-US" sz="1250" b="1" dirty="0">
                <a:solidFill>
                  <a:srgbClr val="1E293B"/>
                </a:solidFill>
                <a:latin typeface="Calibri" pitchFamily="34" charset="0"/>
                <a:ea typeface="Calibri" pitchFamily="34" charset="-122"/>
                <a:cs typeface="Calibri" pitchFamily="34" charset="-120"/>
              </a:rPr>
              <a:t>Đề xuất  /proposals</a:t>
            </a:r>
            <a:endParaRPr lang="en-US" sz="1250" dirty="0"/>
          </a:p>
          <a:p>
            <a:pPr marL="203200" indent="-203200">
              <a:spcAft>
                <a:spcPts val="500"/>
              </a:spcAft>
              <a:buSzPct val="100000"/>
              <a:buChar char="•"/>
            </a:pPr>
            <a:r>
              <a:rPr lang="en-US" sz="1250" b="1" dirty="0">
                <a:solidFill>
                  <a:srgbClr val="1E293B"/>
                </a:solidFill>
                <a:latin typeface="Calibri" pitchFamily="34" charset="0"/>
                <a:ea typeface="Calibri" pitchFamily="34" charset="-122"/>
                <a:cs typeface="Calibri" pitchFamily="34" charset="-120"/>
              </a:rPr>
              <a:t>Series  /series</a:t>
            </a:r>
            <a:endParaRPr lang="en-US" sz="1250" dirty="0"/>
          </a:p>
          <a:p>
            <a:pPr marL="203200" indent="-203200">
              <a:spcAft>
                <a:spcPts val="500"/>
              </a:spcAft>
              <a:buSzPct val="100000"/>
              <a:buChar char="•"/>
            </a:pPr>
            <a:r>
              <a:rPr lang="en-US" sz="1250" b="1" dirty="0">
                <a:solidFill>
                  <a:srgbClr val="1E293B"/>
                </a:solidFill>
                <a:latin typeface="Calibri" pitchFamily="34" charset="0"/>
                <a:ea typeface="Calibri" pitchFamily="34" charset="-122"/>
                <a:cs typeface="Calibri" pitchFamily="34" charset="-120"/>
              </a:rPr>
              <a:t>Chờ duyệt  /review</a:t>
            </a:r>
            <a:endParaRPr lang="en-US" sz="1250" dirty="0"/>
          </a:p>
        </p:txBody>
      </p:sp>
      <p:sp>
        <p:nvSpPr>
          <p:cNvPr id="9" name="Shape 7"/>
          <p:cNvSpPr/>
          <p:nvPr/>
        </p:nvSpPr>
        <p:spPr>
          <a:xfrm>
            <a:off x="6583680" y="1920240"/>
            <a:ext cx="5029200" cy="2468880"/>
          </a:xfrm>
          <a:prstGeom prst="rect">
            <a:avLst/>
          </a:prstGeom>
          <a:solidFill>
            <a:srgbClr val="F8FAFC"/>
          </a:solidFill>
          <a:ln w="9525">
            <a:solidFill>
              <a:srgbClr val="CBD5E1"/>
            </a:solidFill>
            <a:prstDash val="solid"/>
          </a:ln>
          <a:effectLst>
            <a:outerShdw sx="100000" sy="100000" kx="0" ky="0" algn="bl" rotWithShape="0" blurRad="88900" dist="38100" dir="8100000">
              <a:srgbClr val="000000">
                <a:alpha val="16000"/>
              </a:srgbClr>
            </a:outerShdw>
          </a:effectLst>
        </p:spPr>
      </p:sp>
      <p:sp>
        <p:nvSpPr>
          <p:cNvPr id="10" name="Shape 8"/>
          <p:cNvSpPr/>
          <p:nvPr/>
        </p:nvSpPr>
        <p:spPr>
          <a:xfrm>
            <a:off x="6583680" y="1920240"/>
            <a:ext cx="64008" cy="2468880"/>
          </a:xfrm>
          <a:prstGeom prst="rect">
            <a:avLst/>
          </a:prstGeom>
          <a:solidFill>
            <a:srgbClr val="7C3AED"/>
          </a:solidFill>
          <a:ln/>
        </p:spPr>
      </p:sp>
      <p:sp>
        <p:nvSpPr>
          <p:cNvPr id="11" name="Text 9"/>
          <p:cNvSpPr/>
          <p:nvPr/>
        </p:nvSpPr>
        <p:spPr>
          <a:xfrm>
            <a:off x="6812280" y="2103120"/>
            <a:ext cx="4572000" cy="320040"/>
          </a:xfrm>
          <a:prstGeom prst="rect">
            <a:avLst/>
          </a:prstGeom>
          <a:noFill/>
          <a:ln/>
        </p:spPr>
        <p:txBody>
          <a:bodyPr wrap="square" lIns="0" tIns="0" rIns="0" bIns="0" rtlCol="0" anchor="ctr"/>
          <a:lstStyle/>
          <a:p>
            <a:pPr indent="0" marL="0">
              <a:buNone/>
            </a:pPr>
            <a:r>
              <a:rPr lang="en-US" sz="1350" b="1" dirty="0">
                <a:solidFill>
                  <a:srgbClr val="1E2761"/>
                </a:solidFill>
                <a:latin typeface="Georgia" pitchFamily="34" charset="0"/>
                <a:ea typeface="Georgia" pitchFamily="34" charset="-122"/>
                <a:cs typeface="Georgia" pitchFamily="34" charset="-120"/>
              </a:rPr>
              <a:t>KEY ENDPOINTS</a:t>
            </a:r>
            <a:endParaRPr lang="en-US" sz="1350" dirty="0"/>
          </a:p>
        </p:txBody>
      </p:sp>
      <p:sp>
        <p:nvSpPr>
          <p:cNvPr id="12" name="Text 10"/>
          <p:cNvSpPr/>
          <p:nvPr/>
        </p:nvSpPr>
        <p:spPr>
          <a:xfrm>
            <a:off x="6812280" y="2560320"/>
            <a:ext cx="4572000" cy="1737360"/>
          </a:xfrm>
          <a:prstGeom prst="rect">
            <a:avLst/>
          </a:prstGeom>
          <a:noFill/>
          <a:ln/>
        </p:spPr>
        <p:txBody>
          <a:bodyPr wrap="square" lIns="0" tIns="0" rIns="0" bIns="0" rtlCol="0" anchor="t"/>
          <a:lstStyle/>
          <a:p>
            <a:pPr indent="0" marL="0">
              <a:spcAft>
                <a:spcPts val="1000"/>
              </a:spcAft>
              <a:buNone/>
            </a:pPr>
            <a:r>
              <a:rPr lang="en-US" sz="1200" dirty="0">
                <a:solidFill>
                  <a:srgbClr val="1E293B"/>
                </a:solidFill>
                <a:latin typeface="Consolas" pitchFamily="34" charset="0"/>
                <a:ea typeface="Consolas" pitchFamily="34" charset="-122"/>
                <a:cs typeface="Consolas" pitchFamily="34" charset="-120"/>
              </a:rPr>
              <a:t>POST /api/proposals</a:t>
            </a:r>
            <a:endParaRPr lang="en-US" sz="1200" dirty="0"/>
          </a:p>
          <a:p>
            <a:pPr indent="0" marL="0">
              <a:spcAft>
                <a:spcPts val="1000"/>
              </a:spcAft>
              <a:buNone/>
            </a:pPr>
            <a:r>
              <a:rPr lang="en-US" sz="1200" dirty="0">
                <a:solidFill>
                  <a:srgbClr val="1E293B"/>
                </a:solidFill>
                <a:latin typeface="Consolas" pitchFamily="34" charset="0"/>
                <a:ea typeface="Consolas" pitchFamily="34" charset="-122"/>
                <a:cs typeface="Consolas" pitchFamily="34" charset="-120"/>
              </a:rPr>
              <a:t>POST /api/chapters · /pages · /regions</a:t>
            </a:r>
            <a:endParaRPr lang="en-US" sz="1200" dirty="0"/>
          </a:p>
          <a:p>
            <a:pPr indent="0" marL="0">
              <a:spcAft>
                <a:spcPts val="1000"/>
              </a:spcAft>
              <a:buNone/>
            </a:pPr>
            <a:r>
              <a:rPr lang="en-US" sz="1200" dirty="0">
                <a:solidFill>
                  <a:srgbClr val="1E293B"/>
                </a:solidFill>
                <a:latin typeface="Consolas" pitchFamily="34" charset="0"/>
                <a:ea typeface="Consolas" pitchFamily="34" charset="-122"/>
                <a:cs typeface="Consolas" pitchFamily="34" charset="-120"/>
              </a:rPr>
              <a:t>POST /api/tasks  (auto-priced)</a:t>
            </a:r>
            <a:endParaRPr lang="en-US" sz="1200" dirty="0"/>
          </a:p>
          <a:p>
            <a:pPr indent="0" marL="0">
              <a:spcAft>
                <a:spcPts val="1000"/>
              </a:spcAft>
              <a:buNone/>
            </a:pPr>
            <a:r>
              <a:rPr lang="en-US" sz="1200" dirty="0">
                <a:solidFill>
                  <a:srgbClr val="1E293B"/>
                </a:solidFill>
                <a:latin typeface="Consolas" pitchFamily="34" charset="0"/>
                <a:ea typeface="Consolas" pitchFamily="34" charset="-122"/>
                <a:cs typeface="Consolas" pitchFamily="34" charset="-120"/>
              </a:rPr>
              <a:t>PATCH /api/submissions/:id/review</a:t>
            </a:r>
            <a:endParaRPr lang="en-US" sz="1200" dirty="0"/>
          </a:p>
        </p:txBody>
      </p:sp>
      <p:sp>
        <p:nvSpPr>
          <p:cNvPr id="13" name="Shape 11"/>
          <p:cNvSpPr/>
          <p:nvPr/>
        </p:nvSpPr>
        <p:spPr>
          <a:xfrm>
            <a:off x="6583680" y="4526280"/>
            <a:ext cx="5029200" cy="1371600"/>
          </a:xfrm>
          <a:prstGeom prst="rect">
            <a:avLst/>
          </a:prstGeom>
          <a:solidFill>
            <a:srgbClr val="F8FAFC"/>
          </a:solidFill>
          <a:ln w="9525">
            <a:solidFill>
              <a:srgbClr val="CBD5E1"/>
            </a:solidFill>
            <a:prstDash val="solid"/>
          </a:ln>
          <a:effectLst>
            <a:outerShdw sx="100000" sy="100000" kx="0" ky="0" algn="bl" rotWithShape="0" blurRad="88900" dist="38100" dir="8100000">
              <a:srgbClr val="000000">
                <a:alpha val="16000"/>
              </a:srgbClr>
            </a:outerShdw>
          </a:effectLst>
        </p:spPr>
      </p:sp>
      <p:sp>
        <p:nvSpPr>
          <p:cNvPr id="14" name="Text 12"/>
          <p:cNvSpPr/>
          <p:nvPr/>
        </p:nvSpPr>
        <p:spPr>
          <a:xfrm>
            <a:off x="6812280" y="4681728"/>
            <a:ext cx="4572000" cy="292608"/>
          </a:xfrm>
          <a:prstGeom prst="rect">
            <a:avLst/>
          </a:prstGeom>
          <a:noFill/>
          <a:ln/>
        </p:spPr>
        <p:txBody>
          <a:bodyPr wrap="square" lIns="0" tIns="0" rIns="0" bIns="0" rtlCol="0" anchor="ctr"/>
          <a:lstStyle/>
          <a:p>
            <a:pPr indent="0" marL="0">
              <a:buNone/>
            </a:pPr>
            <a:r>
              <a:rPr lang="en-US" sz="1200" b="1" dirty="0">
                <a:solidFill>
                  <a:srgbClr val="64748B"/>
                </a:solidFill>
                <a:latin typeface="Georgia" pitchFamily="34" charset="0"/>
                <a:ea typeface="Georgia" pitchFamily="34" charset="-122"/>
                <a:cs typeface="Georgia" pitchFamily="34" charset="-120"/>
              </a:rPr>
              <a:t>DRIVES STATUSES</a:t>
            </a:r>
            <a:endParaRPr lang="en-US" sz="1200" dirty="0"/>
          </a:p>
        </p:txBody>
      </p:sp>
      <p:sp>
        <p:nvSpPr>
          <p:cNvPr id="15" name="Text 13"/>
          <p:cNvSpPr/>
          <p:nvPr/>
        </p:nvSpPr>
        <p:spPr>
          <a:xfrm>
            <a:off x="6812280" y="5074920"/>
            <a:ext cx="4572000" cy="73152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Proposal · Chapter · Task · Submission review</a:t>
            </a:r>
            <a:endParaRPr lang="en-US" sz="1350" dirty="0"/>
          </a:p>
        </p:txBody>
      </p:sp>
      <p:sp>
        <p:nvSpPr>
          <p:cNvPr id="25" name="Slide Number Placeholder 0"/>
          <p:cNvSpPr>
            <a:spLocks noGrp="1"/>
          </p:cNvSpPr>
          <p:nvPr>
            <p:ph type="sldNum" sz="quarter" idx="4294967295"/>
          </p:nvPr>
        </p:nvSpPr>
        <p:spPr>
          <a:xfrm>
            <a:off x="11612880" y="6455664"/>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latin typeface="Calibri"/>
                <a:ea typeface="Calibri"/>
                <a:cs typeface="Calibri"/>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01752"/>
            <a:ext cx="11064240" cy="274320"/>
          </a:xfrm>
          <a:prstGeom prst="rect">
            <a:avLst/>
          </a:prstGeom>
          <a:noFill/>
          <a:ln/>
        </p:spPr>
        <p:txBody>
          <a:bodyPr wrap="square" lIns="0" tIns="0" rIns="0" bIns="0" rtlCol="0" anchor="ctr"/>
          <a:lstStyle/>
          <a:p>
            <a:pPr indent="0" marL="0">
              <a:buNone/>
            </a:pPr>
            <a:r>
              <a:rPr lang="en-US" sz="1100" b="1" spc="200" kern="0" dirty="0">
                <a:solidFill>
                  <a:srgbClr val="FF5A5F"/>
                </a:solidFill>
                <a:latin typeface="Calibri" pitchFamily="34" charset="0"/>
                <a:ea typeface="Calibri" pitchFamily="34" charset="-122"/>
                <a:cs typeface="Calibri" pitchFamily="34" charset="-120"/>
              </a:rPr>
              <a:t>05 · ROLES</a:t>
            </a:r>
            <a:endParaRPr lang="en-US" sz="110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Georgia" pitchFamily="34" charset="0"/>
                <a:ea typeface="Georgia" pitchFamily="34" charset="-122"/>
                <a:cs typeface="Georgia" pitchFamily="34" charset="-120"/>
              </a:rPr>
              <a:t>Assistant</a:t>
            </a:r>
            <a:endParaRPr lang="en-US" sz="3000" dirty="0"/>
          </a:p>
        </p:txBody>
      </p:sp>
      <p:sp>
        <p:nvSpPr>
          <p:cNvPr id="4" name="Text 2"/>
          <p:cNvSpPr/>
          <p:nvPr/>
        </p:nvSpPr>
        <p:spPr>
          <a:xfrm>
            <a:off x="566928" y="1371600"/>
            <a:ext cx="8229600" cy="365760"/>
          </a:xfrm>
          <a:prstGeom prst="rect">
            <a:avLst/>
          </a:prstGeom>
          <a:noFill/>
          <a:ln/>
        </p:spPr>
        <p:txBody>
          <a:bodyPr wrap="square" lIns="0" tIns="0" rIns="0" bIns="0" rtlCol="0" anchor="ctr"/>
          <a:lstStyle/>
          <a:p>
            <a:pPr indent="0" marL="0">
              <a:buNone/>
            </a:pPr>
            <a:r>
              <a:rPr lang="en-US" sz="1400" i="1" dirty="0">
                <a:solidFill>
                  <a:srgbClr val="0EA5E9"/>
                </a:solidFill>
                <a:latin typeface="Calibri" pitchFamily="34" charset="0"/>
                <a:ea typeface="Calibri" pitchFamily="34" charset="-122"/>
                <a:cs typeface="Calibri" pitchFamily="34" charset="-120"/>
              </a:rPr>
              <a:t>アシスタント · Production Artist</a:t>
            </a:r>
            <a:endParaRPr lang="en-US" sz="1400" dirty="0"/>
          </a:p>
        </p:txBody>
      </p:sp>
      <p:sp>
        <p:nvSpPr>
          <p:cNvPr id="5" name="Text 3"/>
          <p:cNvSpPr/>
          <p:nvPr/>
        </p:nvSpPr>
        <p:spPr>
          <a:xfrm>
            <a:off x="640080" y="1965960"/>
            <a:ext cx="5486400" cy="320040"/>
          </a:xfrm>
          <a:prstGeom prst="rect">
            <a:avLst/>
          </a:prstGeom>
          <a:noFill/>
          <a:ln/>
        </p:spPr>
        <p:txBody>
          <a:bodyPr wrap="square" lIns="0" tIns="0" rIns="0" bIns="0" rtlCol="0" anchor="ctr"/>
          <a:lstStyle/>
          <a:p>
            <a:pPr indent="0" marL="0">
              <a:buNone/>
            </a:pPr>
            <a:r>
              <a:rPr lang="en-US" sz="1400" b="1" dirty="0">
                <a:solidFill>
                  <a:srgbClr val="0EA5E9"/>
                </a:solidFill>
                <a:latin typeface="Georgia" pitchFamily="34" charset="0"/>
                <a:ea typeface="Georgia" pitchFamily="34" charset="-122"/>
                <a:cs typeface="Georgia" pitchFamily="34" charset="-120"/>
              </a:rPr>
              <a:t>WHAT THEY DO</a:t>
            </a:r>
            <a:endParaRPr lang="en-US" sz="1400" dirty="0"/>
          </a:p>
        </p:txBody>
      </p:sp>
      <p:sp>
        <p:nvSpPr>
          <p:cNvPr id="6" name="Text 4"/>
          <p:cNvSpPr/>
          <p:nvPr/>
        </p:nvSpPr>
        <p:spPr>
          <a:xfrm>
            <a:off x="640080" y="2377440"/>
            <a:ext cx="5669280" cy="2011680"/>
          </a:xfrm>
          <a:prstGeom prst="rect">
            <a:avLst/>
          </a:prstGeom>
          <a:noFill/>
          <a:ln/>
        </p:spPr>
        <p:txBody>
          <a:bodyPr wrap="square" lIns="0" tIns="0" rIns="0" bIns="0" rtlCol="0" anchor="t">
            <a:spAutoFit/>
          </a:bodyPr>
          <a:lstStyle/>
          <a:p>
            <a:pPr marL="203200" indent="-203200">
              <a:spcAft>
                <a:spcPts val="900"/>
              </a:spcAft>
              <a:buSzPct val="100000"/>
              <a:buChar char="•"/>
            </a:pPr>
            <a:r>
              <a:rPr lang="en-US" sz="1400" b="1" dirty="0">
                <a:solidFill>
                  <a:srgbClr val="1E293B"/>
                </a:solidFill>
                <a:latin typeface="Calibri" pitchFamily="34" charset="0"/>
                <a:ea typeface="Calibri" pitchFamily="34" charset="-122"/>
                <a:cs typeface="Calibri" pitchFamily="34" charset="-120"/>
              </a:rPr>
              <a:t>Pick up and start assigned tasks</a:t>
            </a:r>
            <a:endParaRPr lang="en-US" sz="1400" dirty="0"/>
          </a:p>
          <a:p>
            <a:pPr marL="203200" indent="-203200">
              <a:spcAft>
                <a:spcPts val="900"/>
              </a:spcAft>
              <a:buSzPct val="100000"/>
              <a:buChar char="•"/>
            </a:pPr>
            <a:r>
              <a:rPr lang="en-US" sz="1400" b="1" dirty="0">
                <a:solidFill>
                  <a:srgbClr val="1E293B"/>
                </a:solidFill>
                <a:latin typeface="Calibri" pitchFamily="34" charset="0"/>
                <a:ea typeface="Calibri" pitchFamily="34" charset="-122"/>
                <a:cs typeface="Calibri" pitchFamily="34" charset="-120"/>
              </a:rPr>
              <a:t>Draw in the in-browser Studio (optional AI)</a:t>
            </a:r>
            <a:endParaRPr lang="en-US" sz="1400" dirty="0"/>
          </a:p>
          <a:p>
            <a:pPr marL="203200" indent="-203200">
              <a:spcAft>
                <a:spcPts val="900"/>
              </a:spcAft>
              <a:buSzPct val="100000"/>
              <a:buChar char="•"/>
            </a:pPr>
            <a:r>
              <a:rPr lang="en-US" sz="1400" b="1" dirty="0">
                <a:solidFill>
                  <a:srgbClr val="1E293B"/>
                </a:solidFill>
                <a:latin typeface="Calibri" pitchFamily="34" charset="0"/>
                <a:ea typeface="Calibri" pitchFamily="34" charset="-122"/>
                <a:cs typeface="Calibri" pitchFamily="34" charset="-120"/>
              </a:rPr>
              <a:t>Upload and submit work for review</a:t>
            </a:r>
            <a:endParaRPr lang="en-US" sz="1400" dirty="0"/>
          </a:p>
          <a:p>
            <a:pPr marL="203200" indent="-203200">
              <a:spcAft>
                <a:spcPts val="900"/>
              </a:spcAft>
              <a:buSzPct val="100000"/>
              <a:buChar char="•"/>
            </a:pPr>
            <a:r>
              <a:rPr lang="en-US" sz="1400" b="1" dirty="0">
                <a:solidFill>
                  <a:srgbClr val="1E293B"/>
                </a:solidFill>
                <a:latin typeface="Calibri" pitchFamily="34" charset="0"/>
                <a:ea typeface="Calibri" pitchFamily="34" charset="-122"/>
                <a:cs typeface="Calibri" pitchFamily="34" charset="-120"/>
              </a:rPr>
              <a:t>Track earnings; file a dispute if needed</a:t>
            </a:r>
            <a:endParaRPr lang="en-US" sz="1400" dirty="0"/>
          </a:p>
        </p:txBody>
      </p:sp>
      <p:sp>
        <p:nvSpPr>
          <p:cNvPr id="7" name="Text 5"/>
          <p:cNvSpPr/>
          <p:nvPr/>
        </p:nvSpPr>
        <p:spPr>
          <a:xfrm>
            <a:off x="640080" y="4526280"/>
            <a:ext cx="5486400" cy="320040"/>
          </a:xfrm>
          <a:prstGeom prst="rect">
            <a:avLst/>
          </a:prstGeom>
          <a:noFill/>
          <a:ln/>
        </p:spPr>
        <p:txBody>
          <a:bodyPr wrap="square" lIns="0" tIns="0" rIns="0" bIns="0" rtlCol="0" anchor="ctr"/>
          <a:lstStyle/>
          <a:p>
            <a:pPr indent="0" marL="0">
              <a:buNone/>
            </a:pPr>
            <a:r>
              <a:rPr lang="en-US" sz="1400" b="1" dirty="0">
                <a:solidFill>
                  <a:srgbClr val="0EA5E9"/>
                </a:solidFill>
                <a:latin typeface="Georgia" pitchFamily="34" charset="0"/>
                <a:ea typeface="Georgia" pitchFamily="34" charset="-122"/>
                <a:cs typeface="Georgia" pitchFamily="34" charset="-120"/>
              </a:rPr>
              <a:t>NAVIGATION</a:t>
            </a:r>
            <a:endParaRPr lang="en-US" sz="1400" dirty="0"/>
          </a:p>
        </p:txBody>
      </p:sp>
      <p:sp>
        <p:nvSpPr>
          <p:cNvPr id="8" name="Text 6"/>
          <p:cNvSpPr/>
          <p:nvPr/>
        </p:nvSpPr>
        <p:spPr>
          <a:xfrm>
            <a:off x="640080" y="4937760"/>
            <a:ext cx="5669280" cy="1371600"/>
          </a:xfrm>
          <a:prstGeom prst="rect">
            <a:avLst/>
          </a:prstGeom>
          <a:noFill/>
          <a:ln/>
        </p:spPr>
        <p:txBody>
          <a:bodyPr wrap="square" lIns="0" tIns="0" rIns="0" bIns="0" rtlCol="0" anchor="t">
            <a:spAutoFit/>
          </a:bodyPr>
          <a:lstStyle/>
          <a:p>
            <a:pPr marL="203200" indent="-203200">
              <a:spcAft>
                <a:spcPts val="500"/>
              </a:spcAft>
              <a:buSzPct val="100000"/>
              <a:buChar char="•"/>
            </a:pPr>
            <a:r>
              <a:rPr lang="en-US" sz="1250" b="1" dirty="0">
                <a:solidFill>
                  <a:srgbClr val="1E293B"/>
                </a:solidFill>
                <a:latin typeface="Calibri" pitchFamily="34" charset="0"/>
                <a:ea typeface="Calibri" pitchFamily="34" charset="-122"/>
                <a:cs typeface="Calibri" pitchFamily="34" charset="-120"/>
              </a:rPr>
              <a:t>Tổng quan  /</a:t>
            </a:r>
            <a:endParaRPr lang="en-US" sz="1250" dirty="0"/>
          </a:p>
          <a:p>
            <a:pPr marL="203200" indent="-203200">
              <a:spcAft>
                <a:spcPts val="500"/>
              </a:spcAft>
              <a:buSzPct val="100000"/>
              <a:buChar char="•"/>
            </a:pPr>
            <a:r>
              <a:rPr lang="en-US" sz="1250" b="1" dirty="0">
                <a:solidFill>
                  <a:srgbClr val="1E293B"/>
                </a:solidFill>
                <a:latin typeface="Calibri" pitchFamily="34" charset="0"/>
                <a:ea typeface="Calibri" pitchFamily="34" charset="-122"/>
                <a:cs typeface="Calibri" pitchFamily="34" charset="-120"/>
              </a:rPr>
              <a:t>Việc của tôi  /my-tasks</a:t>
            </a:r>
            <a:endParaRPr lang="en-US" sz="1250" dirty="0"/>
          </a:p>
          <a:p>
            <a:pPr marL="203200" indent="-203200">
              <a:spcAft>
                <a:spcPts val="500"/>
              </a:spcAft>
              <a:buSzPct val="100000"/>
              <a:buChar char="•"/>
            </a:pPr>
            <a:r>
              <a:rPr lang="en-US" sz="1250" b="1" dirty="0">
                <a:solidFill>
                  <a:srgbClr val="1E293B"/>
                </a:solidFill>
                <a:latin typeface="Calibri" pitchFamily="34" charset="0"/>
                <a:ea typeface="Calibri" pitchFamily="34" charset="-122"/>
                <a:cs typeface="Calibri" pitchFamily="34" charset="-120"/>
              </a:rPr>
              <a:t>Thu nhập  /earnings</a:t>
            </a:r>
            <a:endParaRPr lang="en-US" sz="1250" dirty="0"/>
          </a:p>
          <a:p>
            <a:pPr marL="203200" indent="-203200">
              <a:spcAft>
                <a:spcPts val="500"/>
              </a:spcAft>
              <a:buSzPct val="100000"/>
              <a:buChar char="•"/>
            </a:pPr>
            <a:r>
              <a:rPr lang="en-US" sz="1250" b="1" dirty="0">
                <a:solidFill>
                  <a:srgbClr val="1E293B"/>
                </a:solidFill>
                <a:latin typeface="Calibri" pitchFamily="34" charset="0"/>
                <a:ea typeface="Calibri" pitchFamily="34" charset="-122"/>
                <a:cs typeface="Calibri" pitchFamily="34" charset="-120"/>
              </a:rPr>
              <a:t>Studio  /studio/region/:taskId</a:t>
            </a:r>
            <a:endParaRPr lang="en-US" sz="1250" dirty="0"/>
          </a:p>
        </p:txBody>
      </p:sp>
      <p:sp>
        <p:nvSpPr>
          <p:cNvPr id="9" name="Shape 7"/>
          <p:cNvSpPr/>
          <p:nvPr/>
        </p:nvSpPr>
        <p:spPr>
          <a:xfrm>
            <a:off x="6583680" y="1920240"/>
            <a:ext cx="5029200" cy="2468880"/>
          </a:xfrm>
          <a:prstGeom prst="rect">
            <a:avLst/>
          </a:prstGeom>
          <a:solidFill>
            <a:srgbClr val="F8FAFC"/>
          </a:solidFill>
          <a:ln w="9525">
            <a:solidFill>
              <a:srgbClr val="CBD5E1"/>
            </a:solidFill>
            <a:prstDash val="solid"/>
          </a:ln>
          <a:effectLst>
            <a:outerShdw sx="100000" sy="100000" kx="0" ky="0" algn="bl" rotWithShape="0" blurRad="88900" dist="38100" dir="8100000">
              <a:srgbClr val="000000">
                <a:alpha val="16000"/>
              </a:srgbClr>
            </a:outerShdw>
          </a:effectLst>
        </p:spPr>
      </p:sp>
      <p:sp>
        <p:nvSpPr>
          <p:cNvPr id="10" name="Shape 8"/>
          <p:cNvSpPr/>
          <p:nvPr/>
        </p:nvSpPr>
        <p:spPr>
          <a:xfrm>
            <a:off x="6583680" y="1920240"/>
            <a:ext cx="64008" cy="2468880"/>
          </a:xfrm>
          <a:prstGeom prst="rect">
            <a:avLst/>
          </a:prstGeom>
          <a:solidFill>
            <a:srgbClr val="0EA5E9"/>
          </a:solidFill>
          <a:ln/>
        </p:spPr>
      </p:sp>
      <p:sp>
        <p:nvSpPr>
          <p:cNvPr id="11" name="Text 9"/>
          <p:cNvSpPr/>
          <p:nvPr/>
        </p:nvSpPr>
        <p:spPr>
          <a:xfrm>
            <a:off x="6812280" y="2103120"/>
            <a:ext cx="4572000" cy="320040"/>
          </a:xfrm>
          <a:prstGeom prst="rect">
            <a:avLst/>
          </a:prstGeom>
          <a:noFill/>
          <a:ln/>
        </p:spPr>
        <p:txBody>
          <a:bodyPr wrap="square" lIns="0" tIns="0" rIns="0" bIns="0" rtlCol="0" anchor="ctr"/>
          <a:lstStyle/>
          <a:p>
            <a:pPr indent="0" marL="0">
              <a:buNone/>
            </a:pPr>
            <a:r>
              <a:rPr lang="en-US" sz="1350" b="1" dirty="0">
                <a:solidFill>
                  <a:srgbClr val="1E2761"/>
                </a:solidFill>
                <a:latin typeface="Georgia" pitchFamily="34" charset="0"/>
                <a:ea typeface="Georgia" pitchFamily="34" charset="-122"/>
                <a:cs typeface="Georgia" pitchFamily="34" charset="-120"/>
              </a:rPr>
              <a:t>KEY ENDPOINTS</a:t>
            </a:r>
            <a:endParaRPr lang="en-US" sz="1350" dirty="0"/>
          </a:p>
        </p:txBody>
      </p:sp>
      <p:sp>
        <p:nvSpPr>
          <p:cNvPr id="12" name="Text 10"/>
          <p:cNvSpPr/>
          <p:nvPr/>
        </p:nvSpPr>
        <p:spPr>
          <a:xfrm>
            <a:off x="6812280" y="2560320"/>
            <a:ext cx="4572000" cy="1737360"/>
          </a:xfrm>
          <a:prstGeom prst="rect">
            <a:avLst/>
          </a:prstGeom>
          <a:noFill/>
          <a:ln/>
        </p:spPr>
        <p:txBody>
          <a:bodyPr wrap="square" lIns="0" tIns="0" rIns="0" bIns="0" rtlCol="0" anchor="t"/>
          <a:lstStyle/>
          <a:p>
            <a:pPr indent="0" marL="0">
              <a:spcAft>
                <a:spcPts val="1000"/>
              </a:spcAft>
              <a:buNone/>
            </a:pPr>
            <a:r>
              <a:rPr lang="en-US" sz="1200" dirty="0">
                <a:solidFill>
                  <a:srgbClr val="1E293B"/>
                </a:solidFill>
                <a:latin typeface="Consolas" pitchFamily="34" charset="0"/>
                <a:ea typeface="Consolas" pitchFamily="34" charset="-122"/>
                <a:cs typeface="Consolas" pitchFamily="34" charset="-120"/>
              </a:rPr>
              <a:t>GET /api/tasks/mine · PATCH /:id/start</a:t>
            </a:r>
            <a:endParaRPr lang="en-US" sz="1200" dirty="0"/>
          </a:p>
          <a:p>
            <a:pPr indent="0" marL="0">
              <a:spcAft>
                <a:spcPts val="1000"/>
              </a:spcAft>
              <a:buNone/>
            </a:pPr>
            <a:r>
              <a:rPr lang="en-US" sz="1200" dirty="0">
                <a:solidFill>
                  <a:srgbClr val="1E293B"/>
                </a:solidFill>
                <a:latin typeface="Consolas" pitchFamily="34" charset="0"/>
                <a:ea typeface="Consolas" pitchFamily="34" charset="-122"/>
                <a:cs typeface="Consolas" pitchFamily="34" charset="-120"/>
              </a:rPr>
              <a:t>POST /api/uploads · /api/submissions</a:t>
            </a:r>
            <a:endParaRPr lang="en-US" sz="1200" dirty="0"/>
          </a:p>
          <a:p>
            <a:pPr indent="0" marL="0">
              <a:spcAft>
                <a:spcPts val="1000"/>
              </a:spcAft>
              <a:buNone/>
            </a:pPr>
            <a:r>
              <a:rPr lang="en-US" sz="1200" dirty="0">
                <a:solidFill>
                  <a:srgbClr val="1E293B"/>
                </a:solidFill>
                <a:latin typeface="Consolas" pitchFamily="34" charset="0"/>
                <a:ea typeface="Consolas" pitchFamily="34" charset="-122"/>
                <a:cs typeface="Consolas" pitchFamily="34" charset="-120"/>
              </a:rPr>
              <a:t>GET /api/earnings/mine</a:t>
            </a:r>
            <a:endParaRPr lang="en-US" sz="1200" dirty="0"/>
          </a:p>
          <a:p>
            <a:pPr indent="0" marL="0">
              <a:spcAft>
                <a:spcPts val="1000"/>
              </a:spcAft>
              <a:buNone/>
            </a:pPr>
            <a:r>
              <a:rPr lang="en-US" sz="1200" dirty="0">
                <a:solidFill>
                  <a:srgbClr val="1E293B"/>
                </a:solidFill>
                <a:latin typeface="Consolas" pitchFamily="34" charset="0"/>
                <a:ea typeface="Consolas" pitchFamily="34" charset="-122"/>
                <a:cs typeface="Consolas" pitchFamily="34" charset="-120"/>
              </a:rPr>
              <a:t>POST /api/disputes</a:t>
            </a:r>
            <a:endParaRPr lang="en-US" sz="1200" dirty="0"/>
          </a:p>
        </p:txBody>
      </p:sp>
      <p:sp>
        <p:nvSpPr>
          <p:cNvPr id="13" name="Shape 11"/>
          <p:cNvSpPr/>
          <p:nvPr/>
        </p:nvSpPr>
        <p:spPr>
          <a:xfrm>
            <a:off x="6583680" y="4526280"/>
            <a:ext cx="5029200" cy="1371600"/>
          </a:xfrm>
          <a:prstGeom prst="rect">
            <a:avLst/>
          </a:prstGeom>
          <a:solidFill>
            <a:srgbClr val="F8FAFC"/>
          </a:solidFill>
          <a:ln w="9525">
            <a:solidFill>
              <a:srgbClr val="CBD5E1"/>
            </a:solidFill>
            <a:prstDash val="solid"/>
          </a:ln>
          <a:effectLst>
            <a:outerShdw sx="100000" sy="100000" kx="0" ky="0" algn="bl" rotWithShape="0" blurRad="88900" dist="38100" dir="8100000">
              <a:srgbClr val="000000">
                <a:alpha val="16000"/>
              </a:srgbClr>
            </a:outerShdw>
          </a:effectLst>
        </p:spPr>
      </p:sp>
      <p:sp>
        <p:nvSpPr>
          <p:cNvPr id="14" name="Text 12"/>
          <p:cNvSpPr/>
          <p:nvPr/>
        </p:nvSpPr>
        <p:spPr>
          <a:xfrm>
            <a:off x="6812280" y="4681728"/>
            <a:ext cx="4572000" cy="292608"/>
          </a:xfrm>
          <a:prstGeom prst="rect">
            <a:avLst/>
          </a:prstGeom>
          <a:noFill/>
          <a:ln/>
        </p:spPr>
        <p:txBody>
          <a:bodyPr wrap="square" lIns="0" tIns="0" rIns="0" bIns="0" rtlCol="0" anchor="ctr"/>
          <a:lstStyle/>
          <a:p>
            <a:pPr indent="0" marL="0">
              <a:buNone/>
            </a:pPr>
            <a:r>
              <a:rPr lang="en-US" sz="1200" b="1" dirty="0">
                <a:solidFill>
                  <a:srgbClr val="64748B"/>
                </a:solidFill>
                <a:latin typeface="Georgia" pitchFamily="34" charset="0"/>
                <a:ea typeface="Georgia" pitchFamily="34" charset="-122"/>
                <a:cs typeface="Georgia" pitchFamily="34" charset="-120"/>
              </a:rPr>
              <a:t>DRIVES STATUSES</a:t>
            </a:r>
            <a:endParaRPr lang="en-US" sz="1200" dirty="0"/>
          </a:p>
        </p:txBody>
      </p:sp>
      <p:sp>
        <p:nvSpPr>
          <p:cNvPr id="15" name="Text 13"/>
          <p:cNvSpPr/>
          <p:nvPr/>
        </p:nvSpPr>
        <p:spPr>
          <a:xfrm>
            <a:off x="6812280" y="5074920"/>
            <a:ext cx="4572000" cy="73152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Task start/submit · Submission · Dispute (open)</a:t>
            </a:r>
            <a:endParaRPr lang="en-US" sz="1350" dirty="0"/>
          </a:p>
        </p:txBody>
      </p:sp>
      <p:sp>
        <p:nvSpPr>
          <p:cNvPr id="25" name="Slide Number Placeholder 0"/>
          <p:cNvSpPr>
            <a:spLocks noGrp="1"/>
          </p:cNvSpPr>
          <p:nvPr>
            <p:ph type="sldNum" sz="quarter" idx="4294967295"/>
          </p:nvPr>
        </p:nvSpPr>
        <p:spPr>
          <a:xfrm>
            <a:off x="11612880" y="6455664"/>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latin typeface="Calibri"/>
                <a:ea typeface="Calibri"/>
                <a:cs typeface="Calibri"/>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01752"/>
            <a:ext cx="11064240" cy="274320"/>
          </a:xfrm>
          <a:prstGeom prst="rect">
            <a:avLst/>
          </a:prstGeom>
          <a:noFill/>
          <a:ln/>
        </p:spPr>
        <p:txBody>
          <a:bodyPr wrap="square" lIns="0" tIns="0" rIns="0" bIns="0" rtlCol="0" anchor="ctr"/>
          <a:lstStyle/>
          <a:p>
            <a:pPr indent="0" marL="0">
              <a:buNone/>
            </a:pPr>
            <a:r>
              <a:rPr lang="en-US" sz="1100" b="1" spc="200" kern="0" dirty="0">
                <a:solidFill>
                  <a:srgbClr val="FF5A5F"/>
                </a:solidFill>
                <a:latin typeface="Calibri" pitchFamily="34" charset="0"/>
                <a:ea typeface="Calibri" pitchFamily="34" charset="-122"/>
                <a:cs typeface="Calibri" pitchFamily="34" charset="-120"/>
              </a:rPr>
              <a:t>05 · ROLES</a:t>
            </a:r>
            <a:endParaRPr lang="en-US" sz="110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Georgia" pitchFamily="34" charset="0"/>
                <a:ea typeface="Georgia" pitchFamily="34" charset="-122"/>
                <a:cs typeface="Georgia" pitchFamily="34" charset="-120"/>
              </a:rPr>
              <a:t>Tantou Editor</a:t>
            </a:r>
            <a:endParaRPr lang="en-US" sz="3000" dirty="0"/>
          </a:p>
        </p:txBody>
      </p:sp>
      <p:sp>
        <p:nvSpPr>
          <p:cNvPr id="4" name="Text 2"/>
          <p:cNvSpPr/>
          <p:nvPr/>
        </p:nvSpPr>
        <p:spPr>
          <a:xfrm>
            <a:off x="566928" y="1371600"/>
            <a:ext cx="8229600" cy="365760"/>
          </a:xfrm>
          <a:prstGeom prst="rect">
            <a:avLst/>
          </a:prstGeom>
          <a:noFill/>
          <a:ln/>
        </p:spPr>
        <p:txBody>
          <a:bodyPr wrap="square" lIns="0" tIns="0" rIns="0" bIns="0" rtlCol="0" anchor="ctr"/>
          <a:lstStyle/>
          <a:p>
            <a:pPr indent="0" marL="0">
              <a:buNone/>
            </a:pPr>
            <a:r>
              <a:rPr lang="en-US" sz="1400" i="1" dirty="0">
                <a:solidFill>
                  <a:srgbClr val="F59E0B"/>
                </a:solidFill>
                <a:latin typeface="Calibri" pitchFamily="34" charset="0"/>
                <a:ea typeface="Calibri" pitchFamily="34" charset="-122"/>
                <a:cs typeface="Calibri" pitchFamily="34" charset="-120"/>
              </a:rPr>
              <a:t>担当編集 · Series Editor</a:t>
            </a:r>
            <a:endParaRPr lang="en-US" sz="1400" dirty="0"/>
          </a:p>
        </p:txBody>
      </p:sp>
      <p:sp>
        <p:nvSpPr>
          <p:cNvPr id="5" name="Text 3"/>
          <p:cNvSpPr/>
          <p:nvPr/>
        </p:nvSpPr>
        <p:spPr>
          <a:xfrm>
            <a:off x="640080" y="1965960"/>
            <a:ext cx="5486400" cy="320040"/>
          </a:xfrm>
          <a:prstGeom prst="rect">
            <a:avLst/>
          </a:prstGeom>
          <a:noFill/>
          <a:ln/>
        </p:spPr>
        <p:txBody>
          <a:bodyPr wrap="square" lIns="0" tIns="0" rIns="0" bIns="0" rtlCol="0" anchor="ctr"/>
          <a:lstStyle/>
          <a:p>
            <a:pPr indent="0" marL="0">
              <a:buNone/>
            </a:pPr>
            <a:r>
              <a:rPr lang="en-US" sz="1400" b="1" dirty="0">
                <a:solidFill>
                  <a:srgbClr val="F59E0B"/>
                </a:solidFill>
                <a:latin typeface="Georgia" pitchFamily="34" charset="0"/>
                <a:ea typeface="Georgia" pitchFamily="34" charset="-122"/>
                <a:cs typeface="Georgia" pitchFamily="34" charset="-120"/>
              </a:rPr>
              <a:t>WHAT THEY DO</a:t>
            </a:r>
            <a:endParaRPr lang="en-US" sz="1400" dirty="0"/>
          </a:p>
        </p:txBody>
      </p:sp>
      <p:sp>
        <p:nvSpPr>
          <p:cNvPr id="6" name="Text 4"/>
          <p:cNvSpPr/>
          <p:nvPr/>
        </p:nvSpPr>
        <p:spPr>
          <a:xfrm>
            <a:off x="640080" y="2377440"/>
            <a:ext cx="5669280" cy="2011680"/>
          </a:xfrm>
          <a:prstGeom prst="rect">
            <a:avLst/>
          </a:prstGeom>
          <a:noFill/>
          <a:ln/>
        </p:spPr>
        <p:txBody>
          <a:bodyPr wrap="square" lIns="0" tIns="0" rIns="0" bIns="0" rtlCol="0" anchor="t">
            <a:spAutoFit/>
          </a:bodyPr>
          <a:lstStyle/>
          <a:p>
            <a:pPr marL="203200" indent="-203200">
              <a:spcAft>
                <a:spcPts val="900"/>
              </a:spcAft>
              <a:buSzPct val="100000"/>
              <a:buChar char="•"/>
            </a:pPr>
            <a:r>
              <a:rPr lang="en-US" sz="1400" b="1" dirty="0">
                <a:solidFill>
                  <a:srgbClr val="1E293B"/>
                </a:solidFill>
                <a:latin typeface="Calibri" pitchFamily="34" charset="0"/>
                <a:ea typeface="Calibri" pitchFamily="34" charset="-122"/>
                <a:cs typeface="Calibri" pitchFamily="34" charset="-120"/>
              </a:rPr>
              <a:t>See a queue scoped to assigned series only</a:t>
            </a:r>
            <a:endParaRPr lang="en-US" sz="1400" dirty="0"/>
          </a:p>
          <a:p>
            <a:pPr marL="203200" indent="-203200">
              <a:spcAft>
                <a:spcPts val="900"/>
              </a:spcAft>
              <a:buSzPct val="100000"/>
              <a:buChar char="•"/>
            </a:pPr>
            <a:r>
              <a:rPr lang="en-US" sz="1400" b="1" dirty="0">
                <a:solidFill>
                  <a:srgbClr val="1E293B"/>
                </a:solidFill>
                <a:latin typeface="Calibri" pitchFamily="34" charset="0"/>
                <a:ea typeface="Calibri" pitchFamily="34" charset="-122"/>
                <a:cs typeface="Calibri" pitchFamily="34" charset="-120"/>
              </a:rPr>
              <a:t>Page through a chapter under review</a:t>
            </a:r>
            <a:endParaRPr lang="en-US" sz="1400" dirty="0"/>
          </a:p>
          <a:p>
            <a:pPr marL="203200" indent="-203200">
              <a:spcAft>
                <a:spcPts val="900"/>
              </a:spcAft>
              <a:buSzPct val="100000"/>
              <a:buChar char="•"/>
            </a:pPr>
            <a:r>
              <a:rPr lang="en-US" sz="1400" b="1" dirty="0">
                <a:solidFill>
                  <a:srgbClr val="1E293B"/>
                </a:solidFill>
                <a:latin typeface="Calibri" pitchFamily="34" charset="0"/>
                <a:ea typeface="Calibri" pitchFamily="34" charset="-122"/>
                <a:cs typeface="Calibri" pitchFamily="34" charset="-120"/>
              </a:rPr>
              <a:t>Leave categorized annotations on pages</a:t>
            </a:r>
            <a:endParaRPr lang="en-US" sz="1400" dirty="0"/>
          </a:p>
          <a:p>
            <a:pPr marL="203200" indent="-203200">
              <a:spcAft>
                <a:spcPts val="900"/>
              </a:spcAft>
              <a:buSzPct val="100000"/>
              <a:buChar char="•"/>
            </a:pPr>
            <a:r>
              <a:rPr lang="en-US" sz="1400" b="1" dirty="0">
                <a:solidFill>
                  <a:srgbClr val="1E293B"/>
                </a:solidFill>
                <a:latin typeface="Calibri" pitchFamily="34" charset="0"/>
                <a:ea typeface="Calibri" pitchFamily="34" charset="-122"/>
                <a:cs typeface="Calibri" pitchFamily="34" charset="-120"/>
              </a:rPr>
              <a:t>Approve the chapter or request changes</a:t>
            </a:r>
            <a:endParaRPr lang="en-US" sz="1400" dirty="0"/>
          </a:p>
        </p:txBody>
      </p:sp>
      <p:sp>
        <p:nvSpPr>
          <p:cNvPr id="7" name="Text 5"/>
          <p:cNvSpPr/>
          <p:nvPr/>
        </p:nvSpPr>
        <p:spPr>
          <a:xfrm>
            <a:off x="640080" y="4526280"/>
            <a:ext cx="5486400" cy="320040"/>
          </a:xfrm>
          <a:prstGeom prst="rect">
            <a:avLst/>
          </a:prstGeom>
          <a:noFill/>
          <a:ln/>
        </p:spPr>
        <p:txBody>
          <a:bodyPr wrap="square" lIns="0" tIns="0" rIns="0" bIns="0" rtlCol="0" anchor="ctr"/>
          <a:lstStyle/>
          <a:p>
            <a:pPr indent="0" marL="0">
              <a:buNone/>
            </a:pPr>
            <a:r>
              <a:rPr lang="en-US" sz="1400" b="1" dirty="0">
                <a:solidFill>
                  <a:srgbClr val="F59E0B"/>
                </a:solidFill>
                <a:latin typeface="Georgia" pitchFamily="34" charset="0"/>
                <a:ea typeface="Georgia" pitchFamily="34" charset="-122"/>
                <a:cs typeface="Georgia" pitchFamily="34" charset="-120"/>
              </a:rPr>
              <a:t>NAVIGATION</a:t>
            </a:r>
            <a:endParaRPr lang="en-US" sz="1400" dirty="0"/>
          </a:p>
        </p:txBody>
      </p:sp>
      <p:sp>
        <p:nvSpPr>
          <p:cNvPr id="8" name="Text 6"/>
          <p:cNvSpPr/>
          <p:nvPr/>
        </p:nvSpPr>
        <p:spPr>
          <a:xfrm>
            <a:off x="640080" y="4937760"/>
            <a:ext cx="5669280" cy="1371600"/>
          </a:xfrm>
          <a:prstGeom prst="rect">
            <a:avLst/>
          </a:prstGeom>
          <a:noFill/>
          <a:ln/>
        </p:spPr>
        <p:txBody>
          <a:bodyPr wrap="square" lIns="0" tIns="0" rIns="0" bIns="0" rtlCol="0" anchor="t">
            <a:spAutoFit/>
          </a:bodyPr>
          <a:lstStyle/>
          <a:p>
            <a:pPr marL="203200" indent="-203200">
              <a:spcAft>
                <a:spcPts val="500"/>
              </a:spcAft>
              <a:buSzPct val="100000"/>
              <a:buChar char="•"/>
            </a:pPr>
            <a:r>
              <a:rPr lang="en-US" sz="1250" b="1" dirty="0">
                <a:solidFill>
                  <a:srgbClr val="1E293B"/>
                </a:solidFill>
                <a:latin typeface="Calibri" pitchFamily="34" charset="0"/>
                <a:ea typeface="Calibri" pitchFamily="34" charset="-122"/>
                <a:cs typeface="Calibri" pitchFamily="34" charset="-120"/>
              </a:rPr>
              <a:t>Tổng quan  /</a:t>
            </a:r>
            <a:endParaRPr lang="en-US" sz="1250" dirty="0"/>
          </a:p>
          <a:p>
            <a:pPr marL="203200" indent="-203200">
              <a:spcAft>
                <a:spcPts val="500"/>
              </a:spcAft>
              <a:buSzPct val="100000"/>
              <a:buChar char="•"/>
            </a:pPr>
            <a:r>
              <a:rPr lang="en-US" sz="1250" b="1" dirty="0">
                <a:solidFill>
                  <a:srgbClr val="1E293B"/>
                </a:solidFill>
                <a:latin typeface="Calibri" pitchFamily="34" charset="0"/>
                <a:ea typeface="Calibri" pitchFamily="34" charset="-122"/>
                <a:cs typeface="Calibri" pitchFamily="34" charset="-120"/>
              </a:rPr>
              <a:t>Duyệt chương  /editor/review</a:t>
            </a:r>
            <a:endParaRPr lang="en-US" sz="1250" dirty="0"/>
          </a:p>
          <a:p>
            <a:pPr marL="203200" indent="-203200">
              <a:spcAft>
                <a:spcPts val="500"/>
              </a:spcAft>
              <a:buSzPct val="100000"/>
              <a:buChar char="•"/>
            </a:pPr>
            <a:r>
              <a:rPr lang="en-US" sz="1250" b="1" dirty="0">
                <a:solidFill>
                  <a:srgbClr val="1E293B"/>
                </a:solidFill>
                <a:latin typeface="Calibri" pitchFamily="34" charset="0"/>
                <a:ea typeface="Calibri" pitchFamily="34" charset="-122"/>
                <a:cs typeface="Calibri" pitchFamily="34" charset="-120"/>
              </a:rPr>
              <a:t>Chapter review  /editor/review/:id</a:t>
            </a:r>
            <a:endParaRPr lang="en-US" sz="1250" dirty="0"/>
          </a:p>
        </p:txBody>
      </p:sp>
      <p:sp>
        <p:nvSpPr>
          <p:cNvPr id="9" name="Shape 7"/>
          <p:cNvSpPr/>
          <p:nvPr/>
        </p:nvSpPr>
        <p:spPr>
          <a:xfrm>
            <a:off x="6583680" y="1920240"/>
            <a:ext cx="5029200" cy="2468880"/>
          </a:xfrm>
          <a:prstGeom prst="rect">
            <a:avLst/>
          </a:prstGeom>
          <a:solidFill>
            <a:srgbClr val="F8FAFC"/>
          </a:solidFill>
          <a:ln w="9525">
            <a:solidFill>
              <a:srgbClr val="CBD5E1"/>
            </a:solidFill>
            <a:prstDash val="solid"/>
          </a:ln>
          <a:effectLst>
            <a:outerShdw sx="100000" sy="100000" kx="0" ky="0" algn="bl" rotWithShape="0" blurRad="88900" dist="38100" dir="8100000">
              <a:srgbClr val="000000">
                <a:alpha val="16000"/>
              </a:srgbClr>
            </a:outerShdw>
          </a:effectLst>
        </p:spPr>
      </p:sp>
      <p:sp>
        <p:nvSpPr>
          <p:cNvPr id="10" name="Shape 8"/>
          <p:cNvSpPr/>
          <p:nvPr/>
        </p:nvSpPr>
        <p:spPr>
          <a:xfrm>
            <a:off x="6583680" y="1920240"/>
            <a:ext cx="64008" cy="2468880"/>
          </a:xfrm>
          <a:prstGeom prst="rect">
            <a:avLst/>
          </a:prstGeom>
          <a:solidFill>
            <a:srgbClr val="F59E0B"/>
          </a:solidFill>
          <a:ln/>
        </p:spPr>
      </p:sp>
      <p:sp>
        <p:nvSpPr>
          <p:cNvPr id="11" name="Text 9"/>
          <p:cNvSpPr/>
          <p:nvPr/>
        </p:nvSpPr>
        <p:spPr>
          <a:xfrm>
            <a:off x="6812280" y="2103120"/>
            <a:ext cx="4572000" cy="320040"/>
          </a:xfrm>
          <a:prstGeom prst="rect">
            <a:avLst/>
          </a:prstGeom>
          <a:noFill/>
          <a:ln/>
        </p:spPr>
        <p:txBody>
          <a:bodyPr wrap="square" lIns="0" tIns="0" rIns="0" bIns="0" rtlCol="0" anchor="ctr"/>
          <a:lstStyle/>
          <a:p>
            <a:pPr indent="0" marL="0">
              <a:buNone/>
            </a:pPr>
            <a:r>
              <a:rPr lang="en-US" sz="1350" b="1" dirty="0">
                <a:solidFill>
                  <a:srgbClr val="1E2761"/>
                </a:solidFill>
                <a:latin typeface="Georgia" pitchFamily="34" charset="0"/>
                <a:ea typeface="Georgia" pitchFamily="34" charset="-122"/>
                <a:cs typeface="Georgia" pitchFamily="34" charset="-120"/>
              </a:rPr>
              <a:t>KEY ENDPOINTS</a:t>
            </a:r>
            <a:endParaRPr lang="en-US" sz="1350" dirty="0"/>
          </a:p>
        </p:txBody>
      </p:sp>
      <p:sp>
        <p:nvSpPr>
          <p:cNvPr id="12" name="Text 10"/>
          <p:cNvSpPr/>
          <p:nvPr/>
        </p:nvSpPr>
        <p:spPr>
          <a:xfrm>
            <a:off x="6812280" y="2560320"/>
            <a:ext cx="4572000" cy="1737360"/>
          </a:xfrm>
          <a:prstGeom prst="rect">
            <a:avLst/>
          </a:prstGeom>
          <a:noFill/>
          <a:ln/>
        </p:spPr>
        <p:txBody>
          <a:bodyPr wrap="square" lIns="0" tIns="0" rIns="0" bIns="0" rtlCol="0" anchor="t"/>
          <a:lstStyle/>
          <a:p>
            <a:pPr indent="0" marL="0">
              <a:spcAft>
                <a:spcPts val="1000"/>
              </a:spcAft>
              <a:buNone/>
            </a:pPr>
            <a:r>
              <a:rPr lang="en-US" sz="1200" dirty="0">
                <a:solidFill>
                  <a:srgbClr val="1E293B"/>
                </a:solidFill>
                <a:latin typeface="Consolas" pitchFamily="34" charset="0"/>
                <a:ea typeface="Consolas" pitchFamily="34" charset="-122"/>
                <a:cs typeface="Consolas" pitchFamily="34" charset="-120"/>
              </a:rPr>
              <a:t>GET /api/chapters/review-queue</a:t>
            </a:r>
            <a:endParaRPr lang="en-US" sz="1200" dirty="0"/>
          </a:p>
          <a:p>
            <a:pPr indent="0" marL="0">
              <a:spcAft>
                <a:spcPts val="1000"/>
              </a:spcAft>
              <a:buNone/>
            </a:pPr>
            <a:r>
              <a:rPr lang="en-US" sz="1200" dirty="0">
                <a:solidFill>
                  <a:srgbClr val="1E293B"/>
                </a:solidFill>
                <a:latin typeface="Consolas" pitchFamily="34" charset="0"/>
                <a:ea typeface="Consolas" pitchFamily="34" charset="-122"/>
                <a:cs typeface="Consolas" pitchFamily="34" charset="-120"/>
              </a:rPr>
              <a:t>GET /api/chapters/:id/pages</a:t>
            </a:r>
            <a:endParaRPr lang="en-US" sz="1200" dirty="0"/>
          </a:p>
          <a:p>
            <a:pPr indent="0" marL="0">
              <a:spcAft>
                <a:spcPts val="1000"/>
              </a:spcAft>
              <a:buNone/>
            </a:pPr>
            <a:r>
              <a:rPr lang="en-US" sz="1200" dirty="0">
                <a:solidFill>
                  <a:srgbClr val="1E293B"/>
                </a:solidFill>
                <a:latin typeface="Consolas" pitchFamily="34" charset="0"/>
                <a:ea typeface="Consolas" pitchFamily="34" charset="-122"/>
                <a:cs typeface="Consolas" pitchFamily="34" charset="-120"/>
              </a:rPr>
              <a:t>POST /api/annotations · PATCH /:id/resolve</a:t>
            </a:r>
            <a:endParaRPr lang="en-US" sz="1200" dirty="0"/>
          </a:p>
          <a:p>
            <a:pPr indent="0" marL="0">
              <a:spcAft>
                <a:spcPts val="1000"/>
              </a:spcAft>
              <a:buNone/>
            </a:pPr>
            <a:r>
              <a:rPr lang="en-US" sz="1200" dirty="0">
                <a:solidFill>
                  <a:srgbClr val="1E293B"/>
                </a:solidFill>
                <a:latin typeface="Consolas" pitchFamily="34" charset="0"/>
                <a:ea typeface="Consolas" pitchFamily="34" charset="-122"/>
                <a:cs typeface="Consolas" pitchFamily="34" charset="-120"/>
              </a:rPr>
              <a:t>PATCH /api/chapters/:id/editor-review</a:t>
            </a:r>
            <a:endParaRPr lang="en-US" sz="1200" dirty="0"/>
          </a:p>
        </p:txBody>
      </p:sp>
      <p:sp>
        <p:nvSpPr>
          <p:cNvPr id="13" name="Shape 11"/>
          <p:cNvSpPr/>
          <p:nvPr/>
        </p:nvSpPr>
        <p:spPr>
          <a:xfrm>
            <a:off x="6583680" y="4526280"/>
            <a:ext cx="5029200" cy="1371600"/>
          </a:xfrm>
          <a:prstGeom prst="rect">
            <a:avLst/>
          </a:prstGeom>
          <a:solidFill>
            <a:srgbClr val="F8FAFC"/>
          </a:solidFill>
          <a:ln w="9525">
            <a:solidFill>
              <a:srgbClr val="CBD5E1"/>
            </a:solidFill>
            <a:prstDash val="solid"/>
          </a:ln>
          <a:effectLst>
            <a:outerShdw sx="100000" sy="100000" kx="0" ky="0" algn="bl" rotWithShape="0" blurRad="88900" dist="38100" dir="8100000">
              <a:srgbClr val="000000">
                <a:alpha val="16000"/>
              </a:srgbClr>
            </a:outerShdw>
          </a:effectLst>
        </p:spPr>
      </p:sp>
      <p:sp>
        <p:nvSpPr>
          <p:cNvPr id="14" name="Text 12"/>
          <p:cNvSpPr/>
          <p:nvPr/>
        </p:nvSpPr>
        <p:spPr>
          <a:xfrm>
            <a:off x="6812280" y="4681728"/>
            <a:ext cx="4572000" cy="292608"/>
          </a:xfrm>
          <a:prstGeom prst="rect">
            <a:avLst/>
          </a:prstGeom>
          <a:noFill/>
          <a:ln/>
        </p:spPr>
        <p:txBody>
          <a:bodyPr wrap="square" lIns="0" tIns="0" rIns="0" bIns="0" rtlCol="0" anchor="ctr"/>
          <a:lstStyle/>
          <a:p>
            <a:pPr indent="0" marL="0">
              <a:buNone/>
            </a:pPr>
            <a:r>
              <a:rPr lang="en-US" sz="1200" b="1" dirty="0">
                <a:solidFill>
                  <a:srgbClr val="64748B"/>
                </a:solidFill>
                <a:latin typeface="Georgia" pitchFamily="34" charset="0"/>
                <a:ea typeface="Georgia" pitchFamily="34" charset="-122"/>
                <a:cs typeface="Georgia" pitchFamily="34" charset="-120"/>
              </a:rPr>
              <a:t>DRIVES STATUSES</a:t>
            </a:r>
            <a:endParaRPr lang="en-US" sz="1200" dirty="0"/>
          </a:p>
        </p:txBody>
      </p:sp>
      <p:sp>
        <p:nvSpPr>
          <p:cNvPr id="15" name="Text 13"/>
          <p:cNvSpPr/>
          <p:nvPr/>
        </p:nvSpPr>
        <p:spPr>
          <a:xfrm>
            <a:off x="6812280" y="5074920"/>
            <a:ext cx="4572000" cy="73152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Chapter → EDITOR_APPROVED / IN_PROGRESS</a:t>
            </a:r>
            <a:endParaRPr lang="en-US" sz="1350" dirty="0"/>
          </a:p>
        </p:txBody>
      </p:sp>
      <p:sp>
        <p:nvSpPr>
          <p:cNvPr id="25" name="Slide Number Placeholder 0"/>
          <p:cNvSpPr>
            <a:spLocks noGrp="1"/>
          </p:cNvSpPr>
          <p:nvPr>
            <p:ph type="sldNum" sz="quarter" idx="4294967295"/>
          </p:nvPr>
        </p:nvSpPr>
        <p:spPr>
          <a:xfrm>
            <a:off x="11612880" y="6455664"/>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latin typeface="Calibri"/>
                <a:ea typeface="Calibri"/>
                <a:cs typeface="Calibri"/>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01752"/>
            <a:ext cx="11064240" cy="274320"/>
          </a:xfrm>
          <a:prstGeom prst="rect">
            <a:avLst/>
          </a:prstGeom>
          <a:noFill/>
          <a:ln/>
        </p:spPr>
        <p:txBody>
          <a:bodyPr wrap="square" lIns="0" tIns="0" rIns="0" bIns="0" rtlCol="0" anchor="ctr"/>
          <a:lstStyle/>
          <a:p>
            <a:pPr indent="0" marL="0">
              <a:buNone/>
            </a:pPr>
            <a:r>
              <a:rPr lang="en-US" sz="1100" b="1" spc="200" kern="0" dirty="0">
                <a:solidFill>
                  <a:srgbClr val="FF5A5F"/>
                </a:solidFill>
                <a:latin typeface="Calibri" pitchFamily="34" charset="0"/>
                <a:ea typeface="Calibri" pitchFamily="34" charset="-122"/>
                <a:cs typeface="Calibri" pitchFamily="34" charset="-120"/>
              </a:rPr>
              <a:t>05 · ROLES</a:t>
            </a:r>
            <a:endParaRPr lang="en-US" sz="110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Georgia" pitchFamily="34" charset="0"/>
                <a:ea typeface="Georgia" pitchFamily="34" charset="-122"/>
                <a:cs typeface="Georgia" pitchFamily="34" charset="-120"/>
              </a:rPr>
              <a:t>Editorial Board</a:t>
            </a:r>
            <a:endParaRPr lang="en-US" sz="3000" dirty="0"/>
          </a:p>
        </p:txBody>
      </p:sp>
      <p:sp>
        <p:nvSpPr>
          <p:cNvPr id="4" name="Text 2"/>
          <p:cNvSpPr/>
          <p:nvPr/>
        </p:nvSpPr>
        <p:spPr>
          <a:xfrm>
            <a:off x="566928" y="1371600"/>
            <a:ext cx="8229600" cy="365760"/>
          </a:xfrm>
          <a:prstGeom prst="rect">
            <a:avLst/>
          </a:prstGeom>
          <a:noFill/>
          <a:ln/>
        </p:spPr>
        <p:txBody>
          <a:bodyPr wrap="square" lIns="0" tIns="0" rIns="0" bIns="0" rtlCol="0" anchor="ctr"/>
          <a:lstStyle/>
          <a:p>
            <a:pPr indent="0" marL="0">
              <a:buNone/>
            </a:pPr>
            <a:r>
              <a:rPr lang="en-US" sz="1400" i="1" dirty="0">
                <a:solidFill>
                  <a:srgbClr val="10B981"/>
                </a:solidFill>
                <a:latin typeface="Calibri" pitchFamily="34" charset="0"/>
                <a:ea typeface="Calibri" pitchFamily="34" charset="-122"/>
                <a:cs typeface="Calibri" pitchFamily="34" charset="-120"/>
              </a:rPr>
              <a:t>編集委員会 · Governance</a:t>
            </a:r>
            <a:endParaRPr lang="en-US" sz="1400" dirty="0"/>
          </a:p>
        </p:txBody>
      </p:sp>
      <p:sp>
        <p:nvSpPr>
          <p:cNvPr id="5" name="Text 3"/>
          <p:cNvSpPr/>
          <p:nvPr/>
        </p:nvSpPr>
        <p:spPr>
          <a:xfrm>
            <a:off x="640080" y="1965960"/>
            <a:ext cx="5486400" cy="320040"/>
          </a:xfrm>
          <a:prstGeom prst="rect">
            <a:avLst/>
          </a:prstGeom>
          <a:noFill/>
          <a:ln/>
        </p:spPr>
        <p:txBody>
          <a:bodyPr wrap="square" lIns="0" tIns="0" rIns="0" bIns="0" rtlCol="0" anchor="ctr"/>
          <a:lstStyle/>
          <a:p>
            <a:pPr indent="0" marL="0">
              <a:buNone/>
            </a:pPr>
            <a:r>
              <a:rPr lang="en-US" sz="1400" b="1" dirty="0">
                <a:solidFill>
                  <a:srgbClr val="10B981"/>
                </a:solidFill>
                <a:latin typeface="Georgia" pitchFamily="34" charset="0"/>
                <a:ea typeface="Georgia" pitchFamily="34" charset="-122"/>
                <a:cs typeface="Georgia" pitchFamily="34" charset="-120"/>
              </a:rPr>
              <a:t>WHAT THEY DO</a:t>
            </a:r>
            <a:endParaRPr lang="en-US" sz="1400" dirty="0"/>
          </a:p>
        </p:txBody>
      </p:sp>
      <p:sp>
        <p:nvSpPr>
          <p:cNvPr id="6" name="Text 4"/>
          <p:cNvSpPr/>
          <p:nvPr/>
        </p:nvSpPr>
        <p:spPr>
          <a:xfrm>
            <a:off x="640080" y="2377440"/>
            <a:ext cx="5669280" cy="2011680"/>
          </a:xfrm>
          <a:prstGeom prst="rect">
            <a:avLst/>
          </a:prstGeom>
          <a:noFill/>
          <a:ln/>
        </p:spPr>
        <p:txBody>
          <a:bodyPr wrap="square" lIns="0" tIns="0" rIns="0" bIns="0" rtlCol="0" anchor="t">
            <a:spAutoFit/>
          </a:bodyPr>
          <a:lstStyle/>
          <a:p>
            <a:pPr marL="203200" indent="-203200">
              <a:spcAft>
                <a:spcPts val="900"/>
              </a:spcAft>
              <a:buSzPct val="100000"/>
              <a:buChar char="•"/>
            </a:pPr>
            <a:r>
              <a:rPr lang="en-US" sz="1400" b="1" dirty="0">
                <a:solidFill>
                  <a:srgbClr val="1E293B"/>
                </a:solidFill>
                <a:latin typeface="Calibri" pitchFamily="34" charset="0"/>
                <a:ea typeface="Calibri" pitchFamily="34" charset="-122"/>
                <a:cs typeface="Calibri" pitchFamily="34" charset="-120"/>
              </a:rPr>
              <a:t>Approve or reject proposals (→ Series)</a:t>
            </a:r>
            <a:endParaRPr lang="en-US" sz="1400" dirty="0"/>
          </a:p>
          <a:p>
            <a:pPr marL="203200" indent="-203200">
              <a:spcAft>
                <a:spcPts val="900"/>
              </a:spcAft>
              <a:buSzPct val="100000"/>
              <a:buChar char="•"/>
            </a:pPr>
            <a:r>
              <a:rPr lang="en-US" sz="1400" b="1" dirty="0">
                <a:solidFill>
                  <a:srgbClr val="1E293B"/>
                </a:solidFill>
                <a:latin typeface="Calibri" pitchFamily="34" charset="0"/>
                <a:ea typeface="Calibri" pitchFamily="34" charset="-122"/>
                <a:cs typeface="Calibri" pitchFamily="34" charset="-120"/>
              </a:rPr>
              <a:t>Assign / unassign the Tantou editor</a:t>
            </a:r>
            <a:endParaRPr lang="en-US" sz="1400" dirty="0"/>
          </a:p>
          <a:p>
            <a:pPr marL="203200" indent="-203200">
              <a:spcAft>
                <a:spcPts val="900"/>
              </a:spcAft>
              <a:buSzPct val="100000"/>
              <a:buChar char="•"/>
            </a:pPr>
            <a:r>
              <a:rPr lang="en-US" sz="1400" b="1" dirty="0">
                <a:solidFill>
                  <a:srgbClr val="1E293B"/>
                </a:solidFill>
                <a:latin typeface="Calibri" pitchFamily="34" charset="0"/>
                <a:ea typeface="Calibri" pitchFamily="34" charset="-122"/>
                <a:cs typeface="Calibri" pitchFamily="34" charset="-120"/>
              </a:rPr>
              <a:t>Open vote periods and cast scored votes</a:t>
            </a:r>
            <a:endParaRPr lang="en-US" sz="1400" dirty="0"/>
          </a:p>
          <a:p>
            <a:pPr marL="203200" indent="-203200">
              <a:spcAft>
                <a:spcPts val="900"/>
              </a:spcAft>
              <a:buSzPct val="100000"/>
              <a:buChar char="•"/>
            </a:pPr>
            <a:r>
              <a:rPr lang="en-US" sz="1400" b="1" dirty="0">
                <a:solidFill>
                  <a:srgbClr val="1E293B"/>
                </a:solidFill>
                <a:latin typeface="Calibri" pitchFamily="34" charset="0"/>
                <a:ea typeface="Calibri" pitchFamily="34" charset="-122"/>
                <a:cs typeface="Calibri" pitchFamily="34" charset="-120"/>
              </a:rPr>
              <a:t>Close periods → ranking; record decisions</a:t>
            </a:r>
            <a:endParaRPr lang="en-US" sz="1400" dirty="0"/>
          </a:p>
        </p:txBody>
      </p:sp>
      <p:sp>
        <p:nvSpPr>
          <p:cNvPr id="7" name="Text 5"/>
          <p:cNvSpPr/>
          <p:nvPr/>
        </p:nvSpPr>
        <p:spPr>
          <a:xfrm>
            <a:off x="640080" y="4526280"/>
            <a:ext cx="5486400" cy="320040"/>
          </a:xfrm>
          <a:prstGeom prst="rect">
            <a:avLst/>
          </a:prstGeom>
          <a:noFill/>
          <a:ln/>
        </p:spPr>
        <p:txBody>
          <a:bodyPr wrap="square" lIns="0" tIns="0" rIns="0" bIns="0" rtlCol="0" anchor="ctr"/>
          <a:lstStyle/>
          <a:p>
            <a:pPr indent="0" marL="0">
              <a:buNone/>
            </a:pPr>
            <a:r>
              <a:rPr lang="en-US" sz="1400" b="1" dirty="0">
                <a:solidFill>
                  <a:srgbClr val="10B981"/>
                </a:solidFill>
                <a:latin typeface="Georgia" pitchFamily="34" charset="0"/>
                <a:ea typeface="Georgia" pitchFamily="34" charset="-122"/>
                <a:cs typeface="Georgia" pitchFamily="34" charset="-120"/>
              </a:rPr>
              <a:t>NAVIGATION</a:t>
            </a:r>
            <a:endParaRPr lang="en-US" sz="1400" dirty="0"/>
          </a:p>
        </p:txBody>
      </p:sp>
      <p:sp>
        <p:nvSpPr>
          <p:cNvPr id="8" name="Text 6"/>
          <p:cNvSpPr/>
          <p:nvPr/>
        </p:nvSpPr>
        <p:spPr>
          <a:xfrm>
            <a:off x="640080" y="4937760"/>
            <a:ext cx="5669280" cy="1371600"/>
          </a:xfrm>
          <a:prstGeom prst="rect">
            <a:avLst/>
          </a:prstGeom>
          <a:noFill/>
          <a:ln/>
        </p:spPr>
        <p:txBody>
          <a:bodyPr wrap="square" lIns="0" tIns="0" rIns="0" bIns="0" rtlCol="0" anchor="t">
            <a:spAutoFit/>
          </a:bodyPr>
          <a:lstStyle/>
          <a:p>
            <a:pPr marL="203200" indent="-203200">
              <a:spcAft>
                <a:spcPts val="500"/>
              </a:spcAft>
              <a:buSzPct val="100000"/>
              <a:buChar char="•"/>
            </a:pPr>
            <a:r>
              <a:rPr lang="en-US" sz="1250" b="1" dirty="0">
                <a:solidFill>
                  <a:srgbClr val="1E293B"/>
                </a:solidFill>
                <a:latin typeface="Calibri" pitchFamily="34" charset="0"/>
                <a:ea typeface="Calibri" pitchFamily="34" charset="-122"/>
                <a:cs typeface="Calibri" pitchFamily="34" charset="-120"/>
              </a:rPr>
              <a:t>Tổng quan  /</a:t>
            </a:r>
            <a:endParaRPr lang="en-US" sz="1250" dirty="0"/>
          </a:p>
          <a:p>
            <a:pPr marL="203200" indent="-203200">
              <a:spcAft>
                <a:spcPts val="500"/>
              </a:spcAft>
              <a:buSzPct val="100000"/>
              <a:buChar char="•"/>
            </a:pPr>
            <a:r>
              <a:rPr lang="en-US" sz="1250" b="1" dirty="0">
                <a:solidFill>
                  <a:srgbClr val="1E293B"/>
                </a:solidFill>
                <a:latin typeface="Calibri" pitchFamily="34" charset="0"/>
                <a:ea typeface="Calibri" pitchFamily="34" charset="-122"/>
                <a:cs typeface="Calibri" pitchFamily="34" charset="-120"/>
              </a:rPr>
              <a:t>Duyệt đề xuất  /board/proposals</a:t>
            </a:r>
            <a:endParaRPr lang="en-US" sz="1250" dirty="0"/>
          </a:p>
          <a:p>
            <a:pPr marL="203200" indent="-203200">
              <a:spcAft>
                <a:spcPts val="500"/>
              </a:spcAft>
              <a:buSzPct val="100000"/>
              <a:buChar char="•"/>
            </a:pPr>
            <a:r>
              <a:rPr lang="en-US" sz="1250" b="1" dirty="0">
                <a:solidFill>
                  <a:srgbClr val="1E293B"/>
                </a:solidFill>
                <a:latin typeface="Calibri" pitchFamily="34" charset="0"/>
                <a:ea typeface="Calibri" pitchFamily="34" charset="-122"/>
                <a:cs typeface="Calibri" pitchFamily="34" charset="-120"/>
              </a:rPr>
              <a:t>Phân công BT  /board/series</a:t>
            </a:r>
            <a:endParaRPr lang="en-US" sz="1250" dirty="0"/>
          </a:p>
          <a:p>
            <a:pPr marL="203200" indent="-203200">
              <a:spcAft>
                <a:spcPts val="500"/>
              </a:spcAft>
              <a:buSzPct val="100000"/>
              <a:buChar char="•"/>
            </a:pPr>
            <a:r>
              <a:rPr lang="en-US" sz="1250" b="1" dirty="0">
                <a:solidFill>
                  <a:srgbClr val="1E293B"/>
                </a:solidFill>
                <a:latin typeface="Calibri" pitchFamily="34" charset="0"/>
                <a:ea typeface="Calibri" pitchFamily="34" charset="-122"/>
                <a:cs typeface="Calibri" pitchFamily="34" charset="-120"/>
              </a:rPr>
              <a:t>Xếp hạng  /board/rankings</a:t>
            </a:r>
            <a:endParaRPr lang="en-US" sz="1250" dirty="0"/>
          </a:p>
        </p:txBody>
      </p:sp>
      <p:sp>
        <p:nvSpPr>
          <p:cNvPr id="9" name="Shape 7"/>
          <p:cNvSpPr/>
          <p:nvPr/>
        </p:nvSpPr>
        <p:spPr>
          <a:xfrm>
            <a:off x="6583680" y="1920240"/>
            <a:ext cx="5029200" cy="2468880"/>
          </a:xfrm>
          <a:prstGeom prst="rect">
            <a:avLst/>
          </a:prstGeom>
          <a:solidFill>
            <a:srgbClr val="F8FAFC"/>
          </a:solidFill>
          <a:ln w="9525">
            <a:solidFill>
              <a:srgbClr val="CBD5E1"/>
            </a:solidFill>
            <a:prstDash val="solid"/>
          </a:ln>
          <a:effectLst>
            <a:outerShdw sx="100000" sy="100000" kx="0" ky="0" algn="bl" rotWithShape="0" blurRad="88900" dist="38100" dir="8100000">
              <a:srgbClr val="000000">
                <a:alpha val="16000"/>
              </a:srgbClr>
            </a:outerShdw>
          </a:effectLst>
        </p:spPr>
      </p:sp>
      <p:sp>
        <p:nvSpPr>
          <p:cNvPr id="10" name="Shape 8"/>
          <p:cNvSpPr/>
          <p:nvPr/>
        </p:nvSpPr>
        <p:spPr>
          <a:xfrm>
            <a:off x="6583680" y="1920240"/>
            <a:ext cx="64008" cy="2468880"/>
          </a:xfrm>
          <a:prstGeom prst="rect">
            <a:avLst/>
          </a:prstGeom>
          <a:solidFill>
            <a:srgbClr val="10B981"/>
          </a:solidFill>
          <a:ln/>
        </p:spPr>
      </p:sp>
      <p:sp>
        <p:nvSpPr>
          <p:cNvPr id="11" name="Text 9"/>
          <p:cNvSpPr/>
          <p:nvPr/>
        </p:nvSpPr>
        <p:spPr>
          <a:xfrm>
            <a:off x="6812280" y="2103120"/>
            <a:ext cx="4572000" cy="320040"/>
          </a:xfrm>
          <a:prstGeom prst="rect">
            <a:avLst/>
          </a:prstGeom>
          <a:noFill/>
          <a:ln/>
        </p:spPr>
        <p:txBody>
          <a:bodyPr wrap="square" lIns="0" tIns="0" rIns="0" bIns="0" rtlCol="0" anchor="ctr"/>
          <a:lstStyle/>
          <a:p>
            <a:pPr indent="0" marL="0">
              <a:buNone/>
            </a:pPr>
            <a:r>
              <a:rPr lang="en-US" sz="1350" b="1" dirty="0">
                <a:solidFill>
                  <a:srgbClr val="1E2761"/>
                </a:solidFill>
                <a:latin typeface="Georgia" pitchFamily="34" charset="0"/>
                <a:ea typeface="Georgia" pitchFamily="34" charset="-122"/>
                <a:cs typeface="Georgia" pitchFamily="34" charset="-120"/>
              </a:rPr>
              <a:t>KEY ENDPOINTS</a:t>
            </a:r>
            <a:endParaRPr lang="en-US" sz="1350" dirty="0"/>
          </a:p>
        </p:txBody>
      </p:sp>
      <p:sp>
        <p:nvSpPr>
          <p:cNvPr id="12" name="Text 10"/>
          <p:cNvSpPr/>
          <p:nvPr/>
        </p:nvSpPr>
        <p:spPr>
          <a:xfrm>
            <a:off x="6812280" y="2560320"/>
            <a:ext cx="4572000" cy="1737360"/>
          </a:xfrm>
          <a:prstGeom prst="rect">
            <a:avLst/>
          </a:prstGeom>
          <a:noFill/>
          <a:ln/>
        </p:spPr>
        <p:txBody>
          <a:bodyPr wrap="square" lIns="0" tIns="0" rIns="0" bIns="0" rtlCol="0" anchor="t"/>
          <a:lstStyle/>
          <a:p>
            <a:pPr indent="0" marL="0">
              <a:spcAft>
                <a:spcPts val="1000"/>
              </a:spcAft>
              <a:buNone/>
            </a:pPr>
            <a:r>
              <a:rPr lang="en-US" sz="1200" dirty="0">
                <a:solidFill>
                  <a:srgbClr val="1E293B"/>
                </a:solidFill>
                <a:latin typeface="Consolas" pitchFamily="34" charset="0"/>
                <a:ea typeface="Consolas" pitchFamily="34" charset="-122"/>
                <a:cs typeface="Consolas" pitchFamily="34" charset="-120"/>
              </a:rPr>
              <a:t>PATCH /api/proposals/:id/decision</a:t>
            </a:r>
            <a:endParaRPr lang="en-US" sz="1200" dirty="0"/>
          </a:p>
          <a:p>
            <a:pPr indent="0" marL="0">
              <a:spcAft>
                <a:spcPts val="1000"/>
              </a:spcAft>
              <a:buNone/>
            </a:pPr>
            <a:r>
              <a:rPr lang="en-US" sz="1200" dirty="0">
                <a:solidFill>
                  <a:srgbClr val="1E293B"/>
                </a:solidFill>
                <a:latin typeface="Consolas" pitchFamily="34" charset="0"/>
                <a:ea typeface="Consolas" pitchFamily="34" charset="-122"/>
                <a:cs typeface="Consolas" pitchFamily="34" charset="-120"/>
              </a:rPr>
              <a:t>PUT/DELETE /api/series/:id/editor</a:t>
            </a:r>
            <a:endParaRPr lang="en-US" sz="1200" dirty="0"/>
          </a:p>
          <a:p>
            <a:pPr indent="0" marL="0">
              <a:spcAft>
                <a:spcPts val="1000"/>
              </a:spcAft>
              <a:buNone/>
            </a:pPr>
            <a:r>
              <a:rPr lang="en-US" sz="1200" dirty="0">
                <a:solidFill>
                  <a:srgbClr val="1E293B"/>
                </a:solidFill>
                <a:latin typeface="Consolas" pitchFamily="34" charset="0"/>
                <a:ea typeface="Consolas" pitchFamily="34" charset="-122"/>
                <a:cs typeface="Consolas" pitchFamily="34" charset="-120"/>
              </a:rPr>
              <a:t>POST /api/vote-periods · /votes · /:id/close</a:t>
            </a:r>
            <a:endParaRPr lang="en-US" sz="1200" dirty="0"/>
          </a:p>
          <a:p>
            <a:pPr indent="0" marL="0">
              <a:spcAft>
                <a:spcPts val="1000"/>
              </a:spcAft>
              <a:buNone/>
            </a:pPr>
            <a:r>
              <a:rPr lang="en-US" sz="1200" dirty="0">
                <a:solidFill>
                  <a:srgbClr val="1E293B"/>
                </a:solidFill>
                <a:latin typeface="Consolas" pitchFamily="34" charset="0"/>
                <a:ea typeface="Consolas" pitchFamily="34" charset="-122"/>
                <a:cs typeface="Consolas" pitchFamily="34" charset="-120"/>
              </a:rPr>
              <a:t>POST /api/decisions</a:t>
            </a:r>
            <a:endParaRPr lang="en-US" sz="1200" dirty="0"/>
          </a:p>
        </p:txBody>
      </p:sp>
      <p:sp>
        <p:nvSpPr>
          <p:cNvPr id="13" name="Shape 11"/>
          <p:cNvSpPr/>
          <p:nvPr/>
        </p:nvSpPr>
        <p:spPr>
          <a:xfrm>
            <a:off x="6583680" y="4526280"/>
            <a:ext cx="5029200" cy="1371600"/>
          </a:xfrm>
          <a:prstGeom prst="rect">
            <a:avLst/>
          </a:prstGeom>
          <a:solidFill>
            <a:srgbClr val="F8FAFC"/>
          </a:solidFill>
          <a:ln w="9525">
            <a:solidFill>
              <a:srgbClr val="CBD5E1"/>
            </a:solidFill>
            <a:prstDash val="solid"/>
          </a:ln>
          <a:effectLst>
            <a:outerShdw sx="100000" sy="100000" kx="0" ky="0" algn="bl" rotWithShape="0" blurRad="88900" dist="38100" dir="8100000">
              <a:srgbClr val="000000">
                <a:alpha val="16000"/>
              </a:srgbClr>
            </a:outerShdw>
          </a:effectLst>
        </p:spPr>
      </p:sp>
      <p:sp>
        <p:nvSpPr>
          <p:cNvPr id="14" name="Text 12"/>
          <p:cNvSpPr/>
          <p:nvPr/>
        </p:nvSpPr>
        <p:spPr>
          <a:xfrm>
            <a:off x="6812280" y="4681728"/>
            <a:ext cx="4572000" cy="292608"/>
          </a:xfrm>
          <a:prstGeom prst="rect">
            <a:avLst/>
          </a:prstGeom>
          <a:noFill/>
          <a:ln/>
        </p:spPr>
        <p:txBody>
          <a:bodyPr wrap="square" lIns="0" tIns="0" rIns="0" bIns="0" rtlCol="0" anchor="ctr"/>
          <a:lstStyle/>
          <a:p>
            <a:pPr indent="0" marL="0">
              <a:buNone/>
            </a:pPr>
            <a:r>
              <a:rPr lang="en-US" sz="1200" b="1" dirty="0">
                <a:solidFill>
                  <a:srgbClr val="64748B"/>
                </a:solidFill>
                <a:latin typeface="Georgia" pitchFamily="34" charset="0"/>
                <a:ea typeface="Georgia" pitchFamily="34" charset="-122"/>
                <a:cs typeface="Georgia" pitchFamily="34" charset="-120"/>
              </a:rPr>
              <a:t>DRIVES STATUSES</a:t>
            </a:r>
            <a:endParaRPr lang="en-US" sz="1200" dirty="0"/>
          </a:p>
        </p:txBody>
      </p:sp>
      <p:sp>
        <p:nvSpPr>
          <p:cNvPr id="15" name="Text 13"/>
          <p:cNvSpPr/>
          <p:nvPr/>
        </p:nvSpPr>
        <p:spPr>
          <a:xfrm>
            <a:off x="6812280" y="5074920"/>
            <a:ext cx="4572000" cy="73152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Proposal · Vote Period · Series status</a:t>
            </a:r>
            <a:endParaRPr lang="en-US" sz="1350" dirty="0"/>
          </a:p>
        </p:txBody>
      </p:sp>
      <p:sp>
        <p:nvSpPr>
          <p:cNvPr id="25" name="Slide Number Placeholder 0"/>
          <p:cNvSpPr>
            <a:spLocks noGrp="1"/>
          </p:cNvSpPr>
          <p:nvPr>
            <p:ph type="sldNum" sz="quarter" idx="4294967295"/>
          </p:nvPr>
        </p:nvSpPr>
        <p:spPr>
          <a:xfrm>
            <a:off x="11612880" y="6455664"/>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latin typeface="Calibri"/>
                <a:ea typeface="Calibri"/>
                <a:cs typeface="Calibri"/>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01752"/>
            <a:ext cx="11064240" cy="274320"/>
          </a:xfrm>
          <a:prstGeom prst="rect">
            <a:avLst/>
          </a:prstGeom>
          <a:noFill/>
          <a:ln/>
        </p:spPr>
        <p:txBody>
          <a:bodyPr wrap="square" lIns="0" tIns="0" rIns="0" bIns="0" rtlCol="0" anchor="ctr"/>
          <a:lstStyle/>
          <a:p>
            <a:pPr indent="0" marL="0">
              <a:buNone/>
            </a:pPr>
            <a:r>
              <a:rPr lang="en-US" sz="1100" b="1" spc="200" kern="0" dirty="0">
                <a:solidFill>
                  <a:srgbClr val="FF5A5F"/>
                </a:solidFill>
                <a:latin typeface="Calibri" pitchFamily="34" charset="0"/>
                <a:ea typeface="Calibri" pitchFamily="34" charset="-122"/>
                <a:cs typeface="Calibri" pitchFamily="34" charset="-120"/>
              </a:rPr>
              <a:t>05 · ROLES</a:t>
            </a:r>
            <a:endParaRPr lang="en-US" sz="110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Georgia" pitchFamily="34" charset="0"/>
                <a:ea typeface="Georgia" pitchFamily="34" charset="-122"/>
                <a:cs typeface="Georgia" pitchFamily="34" charset="-120"/>
              </a:rPr>
              <a:t>Admin</a:t>
            </a:r>
            <a:endParaRPr lang="en-US" sz="3000" dirty="0"/>
          </a:p>
        </p:txBody>
      </p:sp>
      <p:sp>
        <p:nvSpPr>
          <p:cNvPr id="4" name="Text 2"/>
          <p:cNvSpPr/>
          <p:nvPr/>
        </p:nvSpPr>
        <p:spPr>
          <a:xfrm>
            <a:off x="566928" y="1371600"/>
            <a:ext cx="8229600" cy="365760"/>
          </a:xfrm>
          <a:prstGeom prst="rect">
            <a:avLst/>
          </a:prstGeom>
          <a:noFill/>
          <a:ln/>
        </p:spPr>
        <p:txBody>
          <a:bodyPr wrap="square" lIns="0" tIns="0" rIns="0" bIns="0" rtlCol="0" anchor="ctr"/>
          <a:lstStyle/>
          <a:p>
            <a:pPr indent="0" marL="0">
              <a:buNone/>
            </a:pPr>
            <a:r>
              <a:rPr lang="en-US" sz="1400" i="1" dirty="0">
                <a:solidFill>
                  <a:srgbClr val="EF4444"/>
                </a:solidFill>
                <a:latin typeface="Calibri" pitchFamily="34" charset="0"/>
                <a:ea typeface="Calibri" pitchFamily="34" charset="-122"/>
                <a:cs typeface="Calibri" pitchFamily="34" charset="-120"/>
              </a:rPr>
              <a:t>システム管理者 · Platform Admin</a:t>
            </a:r>
            <a:endParaRPr lang="en-US" sz="1400" dirty="0"/>
          </a:p>
        </p:txBody>
      </p:sp>
      <p:sp>
        <p:nvSpPr>
          <p:cNvPr id="5" name="Text 3"/>
          <p:cNvSpPr/>
          <p:nvPr/>
        </p:nvSpPr>
        <p:spPr>
          <a:xfrm>
            <a:off x="640080" y="1965960"/>
            <a:ext cx="5486400" cy="320040"/>
          </a:xfrm>
          <a:prstGeom prst="rect">
            <a:avLst/>
          </a:prstGeom>
          <a:noFill/>
          <a:ln/>
        </p:spPr>
        <p:txBody>
          <a:bodyPr wrap="square" lIns="0" tIns="0" rIns="0" bIns="0" rtlCol="0" anchor="ctr"/>
          <a:lstStyle/>
          <a:p>
            <a:pPr indent="0" marL="0">
              <a:buNone/>
            </a:pPr>
            <a:r>
              <a:rPr lang="en-US" sz="1400" b="1" dirty="0">
                <a:solidFill>
                  <a:srgbClr val="EF4444"/>
                </a:solidFill>
                <a:latin typeface="Georgia" pitchFamily="34" charset="0"/>
                <a:ea typeface="Georgia" pitchFamily="34" charset="-122"/>
                <a:cs typeface="Georgia" pitchFamily="34" charset="-120"/>
              </a:rPr>
              <a:t>WHAT THEY DO</a:t>
            </a:r>
            <a:endParaRPr lang="en-US" sz="1400" dirty="0"/>
          </a:p>
        </p:txBody>
      </p:sp>
      <p:sp>
        <p:nvSpPr>
          <p:cNvPr id="6" name="Text 4"/>
          <p:cNvSpPr/>
          <p:nvPr/>
        </p:nvSpPr>
        <p:spPr>
          <a:xfrm>
            <a:off x="640080" y="2377440"/>
            <a:ext cx="5669280" cy="2011680"/>
          </a:xfrm>
          <a:prstGeom prst="rect">
            <a:avLst/>
          </a:prstGeom>
          <a:noFill/>
          <a:ln/>
        </p:spPr>
        <p:txBody>
          <a:bodyPr wrap="square" lIns="0" tIns="0" rIns="0" bIns="0" rtlCol="0" anchor="t">
            <a:spAutoFit/>
          </a:bodyPr>
          <a:lstStyle/>
          <a:p>
            <a:pPr marL="203200" indent="-203200">
              <a:spcAft>
                <a:spcPts val="900"/>
              </a:spcAft>
              <a:buSzPct val="100000"/>
              <a:buChar char="•"/>
            </a:pPr>
            <a:r>
              <a:rPr lang="en-US" sz="1400" b="1" dirty="0">
                <a:solidFill>
                  <a:srgbClr val="1E293B"/>
                </a:solidFill>
                <a:latin typeface="Calibri" pitchFamily="34" charset="0"/>
                <a:ea typeface="Calibri" pitchFamily="34" charset="-122"/>
                <a:cs typeface="Calibri" pitchFamily="34" charset="-120"/>
              </a:rPr>
              <a:t>See a system overview / metrics</a:t>
            </a:r>
            <a:endParaRPr lang="en-US" sz="1400" dirty="0"/>
          </a:p>
          <a:p>
            <a:pPr marL="203200" indent="-203200">
              <a:spcAft>
                <a:spcPts val="900"/>
              </a:spcAft>
              <a:buSzPct val="100000"/>
              <a:buChar char="•"/>
            </a:pPr>
            <a:r>
              <a:rPr lang="en-US" sz="1400" b="1" dirty="0">
                <a:solidFill>
                  <a:srgbClr val="1E293B"/>
                </a:solidFill>
                <a:latin typeface="Calibri" pitchFamily="34" charset="0"/>
                <a:ea typeface="Calibri" pitchFamily="34" charset="-122"/>
                <a:cs typeface="Calibri" pitchFamily="34" charset="-120"/>
              </a:rPr>
              <a:t>Activate users and assign roles</a:t>
            </a:r>
            <a:endParaRPr lang="en-US" sz="1400" dirty="0"/>
          </a:p>
          <a:p>
            <a:pPr marL="203200" indent="-203200">
              <a:spcAft>
                <a:spcPts val="900"/>
              </a:spcAft>
              <a:buSzPct val="100000"/>
              <a:buChar char="•"/>
            </a:pPr>
            <a:r>
              <a:rPr lang="en-US" sz="1400" b="1" dirty="0">
                <a:solidFill>
                  <a:srgbClr val="1E293B"/>
                </a:solidFill>
                <a:latin typeface="Calibri" pitchFamily="34" charset="0"/>
                <a:ea typeface="Calibri" pitchFamily="34" charset="-122"/>
                <a:cs typeface="Calibri" pitchFamily="34" charset="-120"/>
              </a:rPr>
              <a:t>Guarded so the last admin can't be removed</a:t>
            </a:r>
            <a:endParaRPr lang="en-US" sz="1400" dirty="0"/>
          </a:p>
          <a:p>
            <a:pPr marL="203200" indent="-203200">
              <a:spcAft>
                <a:spcPts val="900"/>
              </a:spcAft>
              <a:buSzPct val="100000"/>
              <a:buChar char="•"/>
            </a:pPr>
            <a:r>
              <a:rPr lang="en-US" sz="1400" b="1" dirty="0">
                <a:solidFill>
                  <a:srgbClr val="1E293B"/>
                </a:solidFill>
                <a:latin typeface="Calibri" pitchFamily="34" charset="0"/>
                <a:ea typeface="Calibri" pitchFamily="34" charset="-122"/>
                <a:cs typeface="Calibri" pitchFamily="34" charset="-120"/>
              </a:rPr>
              <a:t>Adjudicate earning disputes (adjust amount)</a:t>
            </a:r>
            <a:endParaRPr lang="en-US" sz="1400" dirty="0"/>
          </a:p>
        </p:txBody>
      </p:sp>
      <p:sp>
        <p:nvSpPr>
          <p:cNvPr id="7" name="Text 5"/>
          <p:cNvSpPr/>
          <p:nvPr/>
        </p:nvSpPr>
        <p:spPr>
          <a:xfrm>
            <a:off x="640080" y="4526280"/>
            <a:ext cx="5486400" cy="320040"/>
          </a:xfrm>
          <a:prstGeom prst="rect">
            <a:avLst/>
          </a:prstGeom>
          <a:noFill/>
          <a:ln/>
        </p:spPr>
        <p:txBody>
          <a:bodyPr wrap="square" lIns="0" tIns="0" rIns="0" bIns="0" rtlCol="0" anchor="ctr"/>
          <a:lstStyle/>
          <a:p>
            <a:pPr indent="0" marL="0">
              <a:buNone/>
            </a:pPr>
            <a:r>
              <a:rPr lang="en-US" sz="1400" b="1" dirty="0">
                <a:solidFill>
                  <a:srgbClr val="EF4444"/>
                </a:solidFill>
                <a:latin typeface="Georgia" pitchFamily="34" charset="0"/>
                <a:ea typeface="Georgia" pitchFamily="34" charset="-122"/>
                <a:cs typeface="Georgia" pitchFamily="34" charset="-120"/>
              </a:rPr>
              <a:t>NAVIGATION</a:t>
            </a:r>
            <a:endParaRPr lang="en-US" sz="1400" dirty="0"/>
          </a:p>
        </p:txBody>
      </p:sp>
      <p:sp>
        <p:nvSpPr>
          <p:cNvPr id="8" name="Text 6"/>
          <p:cNvSpPr/>
          <p:nvPr/>
        </p:nvSpPr>
        <p:spPr>
          <a:xfrm>
            <a:off x="640080" y="4937760"/>
            <a:ext cx="5669280" cy="1371600"/>
          </a:xfrm>
          <a:prstGeom prst="rect">
            <a:avLst/>
          </a:prstGeom>
          <a:noFill/>
          <a:ln/>
        </p:spPr>
        <p:txBody>
          <a:bodyPr wrap="square" lIns="0" tIns="0" rIns="0" bIns="0" rtlCol="0" anchor="t">
            <a:spAutoFit/>
          </a:bodyPr>
          <a:lstStyle/>
          <a:p>
            <a:pPr marL="203200" indent="-203200">
              <a:spcAft>
                <a:spcPts val="500"/>
              </a:spcAft>
              <a:buSzPct val="100000"/>
              <a:buChar char="•"/>
            </a:pPr>
            <a:r>
              <a:rPr lang="en-US" sz="1250" b="1" dirty="0">
                <a:solidFill>
                  <a:srgbClr val="1E293B"/>
                </a:solidFill>
                <a:latin typeface="Calibri" pitchFamily="34" charset="0"/>
                <a:ea typeface="Calibri" pitchFamily="34" charset="-122"/>
                <a:cs typeface="Calibri" pitchFamily="34" charset="-120"/>
              </a:rPr>
              <a:t>Tổng quan  /</a:t>
            </a:r>
            <a:endParaRPr lang="en-US" sz="1250" dirty="0"/>
          </a:p>
          <a:p>
            <a:pPr marL="203200" indent="-203200">
              <a:spcAft>
                <a:spcPts val="500"/>
              </a:spcAft>
              <a:buSzPct val="100000"/>
              <a:buChar char="•"/>
            </a:pPr>
            <a:r>
              <a:rPr lang="en-US" sz="1250" b="1" dirty="0">
                <a:solidFill>
                  <a:srgbClr val="1E293B"/>
                </a:solidFill>
                <a:latin typeface="Calibri" pitchFamily="34" charset="0"/>
                <a:ea typeface="Calibri" pitchFamily="34" charset="-122"/>
                <a:cs typeface="Calibri" pitchFamily="34" charset="-120"/>
              </a:rPr>
              <a:t>Quản trị  /admin</a:t>
            </a:r>
            <a:endParaRPr lang="en-US" sz="1250" dirty="0"/>
          </a:p>
          <a:p>
            <a:pPr marL="203200" indent="-203200">
              <a:spcAft>
                <a:spcPts val="500"/>
              </a:spcAft>
              <a:buSzPct val="100000"/>
              <a:buChar char="•"/>
            </a:pPr>
            <a:r>
              <a:rPr lang="en-US" sz="1250" b="1" dirty="0">
                <a:solidFill>
                  <a:srgbClr val="1E293B"/>
                </a:solidFill>
                <a:latin typeface="Calibri" pitchFamily="34" charset="0"/>
                <a:ea typeface="Calibri" pitchFamily="34" charset="-122"/>
                <a:cs typeface="Calibri" pitchFamily="34" charset="-120"/>
              </a:rPr>
              <a:t>Khiếu nại  /admin/disputes</a:t>
            </a:r>
            <a:endParaRPr lang="en-US" sz="1250" dirty="0"/>
          </a:p>
        </p:txBody>
      </p:sp>
      <p:sp>
        <p:nvSpPr>
          <p:cNvPr id="9" name="Shape 7"/>
          <p:cNvSpPr/>
          <p:nvPr/>
        </p:nvSpPr>
        <p:spPr>
          <a:xfrm>
            <a:off x="6583680" y="1920240"/>
            <a:ext cx="5029200" cy="2468880"/>
          </a:xfrm>
          <a:prstGeom prst="rect">
            <a:avLst/>
          </a:prstGeom>
          <a:solidFill>
            <a:srgbClr val="F8FAFC"/>
          </a:solidFill>
          <a:ln w="9525">
            <a:solidFill>
              <a:srgbClr val="CBD5E1"/>
            </a:solidFill>
            <a:prstDash val="solid"/>
          </a:ln>
          <a:effectLst>
            <a:outerShdw sx="100000" sy="100000" kx="0" ky="0" algn="bl" rotWithShape="0" blurRad="88900" dist="38100" dir="8100000">
              <a:srgbClr val="000000">
                <a:alpha val="16000"/>
              </a:srgbClr>
            </a:outerShdw>
          </a:effectLst>
        </p:spPr>
      </p:sp>
      <p:sp>
        <p:nvSpPr>
          <p:cNvPr id="10" name="Shape 8"/>
          <p:cNvSpPr/>
          <p:nvPr/>
        </p:nvSpPr>
        <p:spPr>
          <a:xfrm>
            <a:off x="6583680" y="1920240"/>
            <a:ext cx="64008" cy="2468880"/>
          </a:xfrm>
          <a:prstGeom prst="rect">
            <a:avLst/>
          </a:prstGeom>
          <a:solidFill>
            <a:srgbClr val="EF4444"/>
          </a:solidFill>
          <a:ln/>
        </p:spPr>
      </p:sp>
      <p:sp>
        <p:nvSpPr>
          <p:cNvPr id="11" name="Text 9"/>
          <p:cNvSpPr/>
          <p:nvPr/>
        </p:nvSpPr>
        <p:spPr>
          <a:xfrm>
            <a:off x="6812280" y="2103120"/>
            <a:ext cx="4572000" cy="320040"/>
          </a:xfrm>
          <a:prstGeom prst="rect">
            <a:avLst/>
          </a:prstGeom>
          <a:noFill/>
          <a:ln/>
        </p:spPr>
        <p:txBody>
          <a:bodyPr wrap="square" lIns="0" tIns="0" rIns="0" bIns="0" rtlCol="0" anchor="ctr"/>
          <a:lstStyle/>
          <a:p>
            <a:pPr indent="0" marL="0">
              <a:buNone/>
            </a:pPr>
            <a:r>
              <a:rPr lang="en-US" sz="1350" b="1" dirty="0">
                <a:solidFill>
                  <a:srgbClr val="1E2761"/>
                </a:solidFill>
                <a:latin typeface="Georgia" pitchFamily="34" charset="0"/>
                <a:ea typeface="Georgia" pitchFamily="34" charset="-122"/>
                <a:cs typeface="Georgia" pitchFamily="34" charset="-120"/>
              </a:rPr>
              <a:t>KEY ENDPOINTS</a:t>
            </a:r>
            <a:endParaRPr lang="en-US" sz="1350" dirty="0"/>
          </a:p>
        </p:txBody>
      </p:sp>
      <p:sp>
        <p:nvSpPr>
          <p:cNvPr id="12" name="Text 10"/>
          <p:cNvSpPr/>
          <p:nvPr/>
        </p:nvSpPr>
        <p:spPr>
          <a:xfrm>
            <a:off x="6812280" y="2560320"/>
            <a:ext cx="4572000" cy="1737360"/>
          </a:xfrm>
          <a:prstGeom prst="rect">
            <a:avLst/>
          </a:prstGeom>
          <a:noFill/>
          <a:ln/>
        </p:spPr>
        <p:txBody>
          <a:bodyPr wrap="square" lIns="0" tIns="0" rIns="0" bIns="0" rtlCol="0" anchor="t"/>
          <a:lstStyle/>
          <a:p>
            <a:pPr indent="0" marL="0">
              <a:spcAft>
                <a:spcPts val="1000"/>
              </a:spcAft>
              <a:buNone/>
            </a:pPr>
            <a:r>
              <a:rPr lang="en-US" sz="1200" dirty="0">
                <a:solidFill>
                  <a:srgbClr val="1E293B"/>
                </a:solidFill>
                <a:latin typeface="Consolas" pitchFamily="34" charset="0"/>
                <a:ea typeface="Consolas" pitchFamily="34" charset="-122"/>
                <a:cs typeface="Consolas" pitchFamily="34" charset="-120"/>
              </a:rPr>
              <a:t>GET /api/admin/overview · /users</a:t>
            </a:r>
            <a:endParaRPr lang="en-US" sz="1200" dirty="0"/>
          </a:p>
          <a:p>
            <a:pPr indent="0" marL="0">
              <a:spcAft>
                <a:spcPts val="1000"/>
              </a:spcAft>
              <a:buNone/>
            </a:pPr>
            <a:r>
              <a:rPr lang="en-US" sz="1200" dirty="0">
                <a:solidFill>
                  <a:srgbClr val="1E293B"/>
                </a:solidFill>
                <a:latin typeface="Consolas" pitchFamily="34" charset="0"/>
                <a:ea typeface="Consolas" pitchFamily="34" charset="-122"/>
                <a:cs typeface="Consolas" pitchFamily="34" charset="-120"/>
              </a:rPr>
              <a:t>PATCH /api/admin/users/:id</a:t>
            </a:r>
            <a:endParaRPr lang="en-US" sz="1200" dirty="0"/>
          </a:p>
          <a:p>
            <a:pPr indent="0" marL="0">
              <a:spcAft>
                <a:spcPts val="1000"/>
              </a:spcAft>
              <a:buNone/>
            </a:pPr>
            <a:r>
              <a:rPr lang="en-US" sz="1200" dirty="0">
                <a:solidFill>
                  <a:srgbClr val="1E293B"/>
                </a:solidFill>
                <a:latin typeface="Consolas" pitchFamily="34" charset="0"/>
                <a:ea typeface="Consolas" pitchFamily="34" charset="-122"/>
                <a:cs typeface="Consolas" pitchFamily="34" charset="-120"/>
              </a:rPr>
              <a:t>GET /api/disputes</a:t>
            </a:r>
            <a:endParaRPr lang="en-US" sz="1200" dirty="0"/>
          </a:p>
          <a:p>
            <a:pPr indent="0" marL="0">
              <a:spcAft>
                <a:spcPts val="1000"/>
              </a:spcAft>
              <a:buNone/>
            </a:pPr>
            <a:r>
              <a:rPr lang="en-US" sz="1200" dirty="0">
                <a:solidFill>
                  <a:srgbClr val="1E293B"/>
                </a:solidFill>
                <a:latin typeface="Consolas" pitchFamily="34" charset="0"/>
                <a:ea typeface="Consolas" pitchFamily="34" charset="-122"/>
                <a:cs typeface="Consolas" pitchFamily="34" charset="-120"/>
              </a:rPr>
              <a:t>PATCH /api/disputes/:id/review · /resolve</a:t>
            </a:r>
            <a:endParaRPr lang="en-US" sz="1200" dirty="0"/>
          </a:p>
        </p:txBody>
      </p:sp>
      <p:sp>
        <p:nvSpPr>
          <p:cNvPr id="13" name="Shape 11"/>
          <p:cNvSpPr/>
          <p:nvPr/>
        </p:nvSpPr>
        <p:spPr>
          <a:xfrm>
            <a:off x="6583680" y="4526280"/>
            <a:ext cx="5029200" cy="1371600"/>
          </a:xfrm>
          <a:prstGeom prst="rect">
            <a:avLst/>
          </a:prstGeom>
          <a:solidFill>
            <a:srgbClr val="F8FAFC"/>
          </a:solidFill>
          <a:ln w="9525">
            <a:solidFill>
              <a:srgbClr val="CBD5E1"/>
            </a:solidFill>
            <a:prstDash val="solid"/>
          </a:ln>
          <a:effectLst>
            <a:outerShdw sx="100000" sy="100000" kx="0" ky="0" algn="bl" rotWithShape="0" blurRad="88900" dist="38100" dir="8100000">
              <a:srgbClr val="000000">
                <a:alpha val="16000"/>
              </a:srgbClr>
            </a:outerShdw>
          </a:effectLst>
        </p:spPr>
      </p:sp>
      <p:sp>
        <p:nvSpPr>
          <p:cNvPr id="14" name="Text 12"/>
          <p:cNvSpPr/>
          <p:nvPr/>
        </p:nvSpPr>
        <p:spPr>
          <a:xfrm>
            <a:off x="6812280" y="4681728"/>
            <a:ext cx="4572000" cy="292608"/>
          </a:xfrm>
          <a:prstGeom prst="rect">
            <a:avLst/>
          </a:prstGeom>
          <a:noFill/>
          <a:ln/>
        </p:spPr>
        <p:txBody>
          <a:bodyPr wrap="square" lIns="0" tIns="0" rIns="0" bIns="0" rtlCol="0" anchor="ctr"/>
          <a:lstStyle/>
          <a:p>
            <a:pPr indent="0" marL="0">
              <a:buNone/>
            </a:pPr>
            <a:r>
              <a:rPr lang="en-US" sz="1200" b="1" dirty="0">
                <a:solidFill>
                  <a:srgbClr val="64748B"/>
                </a:solidFill>
                <a:latin typeface="Georgia" pitchFamily="34" charset="0"/>
                <a:ea typeface="Georgia" pitchFamily="34" charset="-122"/>
                <a:cs typeface="Georgia" pitchFamily="34" charset="-120"/>
              </a:rPr>
              <a:t>DRIVES STATUSES</a:t>
            </a:r>
            <a:endParaRPr lang="en-US" sz="1200" dirty="0"/>
          </a:p>
        </p:txBody>
      </p:sp>
      <p:sp>
        <p:nvSpPr>
          <p:cNvPr id="15" name="Text 13"/>
          <p:cNvSpPr/>
          <p:nvPr/>
        </p:nvSpPr>
        <p:spPr>
          <a:xfrm>
            <a:off x="6812280" y="5074920"/>
            <a:ext cx="4572000" cy="73152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User activation/role · Earning Dispute</a:t>
            </a:r>
            <a:endParaRPr lang="en-US" sz="1350" dirty="0"/>
          </a:p>
        </p:txBody>
      </p:sp>
      <p:sp>
        <p:nvSpPr>
          <p:cNvPr id="25" name="Slide Number Placeholder 0"/>
          <p:cNvSpPr>
            <a:spLocks noGrp="1"/>
          </p:cNvSpPr>
          <p:nvPr>
            <p:ph type="sldNum" sz="quarter" idx="4294967295"/>
          </p:nvPr>
        </p:nvSpPr>
        <p:spPr>
          <a:xfrm>
            <a:off x="11612880" y="6455664"/>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latin typeface="Calibri"/>
                <a:ea typeface="Calibri"/>
                <a:cs typeface="Calibri"/>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4142B"/>
        </a:solidFill>
      </p:bgPr>
    </p:bg>
    <p:spTree>
      <p:nvGrpSpPr>
        <p:cNvPr id="1" name=""/>
        <p:cNvGrpSpPr/>
        <p:nvPr/>
      </p:nvGrpSpPr>
      <p:grpSpPr>
        <a:xfrm>
          <a:off x="0" y="0"/>
          <a:ext cx="0" cy="0"/>
          <a:chOff x="0" y="0"/>
          <a:chExt cx="0" cy="0"/>
        </a:xfrm>
      </p:grpSpPr>
      <p:sp>
        <p:nvSpPr>
          <p:cNvPr id="2" name="Text 0"/>
          <p:cNvSpPr/>
          <p:nvPr/>
        </p:nvSpPr>
        <p:spPr>
          <a:xfrm>
            <a:off x="731520" y="1280160"/>
            <a:ext cx="3657600" cy="2194560"/>
          </a:xfrm>
          <a:prstGeom prst="rect">
            <a:avLst/>
          </a:prstGeom>
          <a:noFill/>
          <a:ln/>
        </p:spPr>
        <p:txBody>
          <a:bodyPr wrap="square" lIns="0" tIns="0" rIns="0" bIns="0" rtlCol="0" anchor="ctr"/>
          <a:lstStyle/>
          <a:p>
            <a:pPr indent="0" marL="0">
              <a:buNone/>
            </a:pPr>
            <a:r>
              <a:rPr lang="en-US" sz="15000" b="1" dirty="0">
                <a:solidFill>
                  <a:srgbClr val="FF5A5F"/>
                </a:solidFill>
                <a:latin typeface="Georgia" pitchFamily="34" charset="0"/>
                <a:ea typeface="Georgia" pitchFamily="34" charset="-122"/>
                <a:cs typeface="Georgia" pitchFamily="34" charset="-120"/>
              </a:rPr>
              <a:t>06</a:t>
            </a:r>
            <a:endParaRPr lang="en-US" sz="15000" dirty="0"/>
          </a:p>
        </p:txBody>
      </p:sp>
      <p:sp>
        <p:nvSpPr>
          <p:cNvPr id="3" name="Text 1"/>
          <p:cNvSpPr/>
          <p:nvPr/>
        </p:nvSpPr>
        <p:spPr>
          <a:xfrm>
            <a:off x="822960" y="3657600"/>
            <a:ext cx="10515600" cy="1097280"/>
          </a:xfrm>
          <a:prstGeom prst="rect">
            <a:avLst/>
          </a:prstGeom>
          <a:noFill/>
          <a:ln/>
        </p:spPr>
        <p:txBody>
          <a:bodyPr wrap="square" lIns="0" tIns="0" rIns="0" bIns="0"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Key Feature Flows</a:t>
            </a:r>
            <a:endParaRPr lang="en-US" sz="4000" dirty="0"/>
          </a:p>
        </p:txBody>
      </p:sp>
      <p:sp>
        <p:nvSpPr>
          <p:cNvPr id="4" name="Text 2"/>
          <p:cNvSpPr/>
          <p:nvPr/>
        </p:nvSpPr>
        <p:spPr>
          <a:xfrm>
            <a:off x="868680" y="4709160"/>
            <a:ext cx="10058400" cy="1097280"/>
          </a:xfrm>
          <a:prstGeom prst="rect">
            <a:avLst/>
          </a:prstGeom>
          <a:noFill/>
          <a:ln/>
        </p:spPr>
        <p:txBody>
          <a:bodyPr wrap="square" lIns="0" tIns="0" rIns="0" bIns="0" rtlCol="0" anchor="ctr"/>
          <a:lstStyle/>
          <a:p>
            <a:pPr indent="0" marL="0">
              <a:buNone/>
            </a:pPr>
            <a:r>
              <a:rPr lang="en-US" sz="1600" dirty="0">
                <a:solidFill>
                  <a:srgbClr val="E8EDF9"/>
                </a:solidFill>
                <a:latin typeface="Calibri" pitchFamily="34" charset="0"/>
                <a:ea typeface="Calibri" pitchFamily="34" charset="-122"/>
                <a:cs typeface="Calibri" pitchFamily="34" charset="-120"/>
              </a:rPr>
              <a:t>Five flows that exercise the whole system</a:t>
            </a:r>
            <a:endParaRPr lang="en-US" sz="1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01752"/>
            <a:ext cx="11064240" cy="274320"/>
          </a:xfrm>
          <a:prstGeom prst="rect">
            <a:avLst/>
          </a:prstGeom>
          <a:noFill/>
          <a:ln/>
        </p:spPr>
        <p:txBody>
          <a:bodyPr wrap="square" lIns="0" tIns="0" rIns="0" bIns="0" rtlCol="0" anchor="ctr"/>
          <a:lstStyle/>
          <a:p>
            <a:pPr indent="0" marL="0">
              <a:buNone/>
            </a:pPr>
            <a:r>
              <a:rPr lang="en-US" sz="1100" b="1" spc="200" kern="0" dirty="0">
                <a:solidFill>
                  <a:srgbClr val="FF5A5F"/>
                </a:solidFill>
                <a:latin typeface="Calibri" pitchFamily="34" charset="0"/>
                <a:ea typeface="Calibri" pitchFamily="34" charset="-122"/>
                <a:cs typeface="Calibri" pitchFamily="34" charset="-120"/>
              </a:rPr>
              <a:t>06 · FEATURE FLOWS</a:t>
            </a:r>
            <a:endParaRPr lang="en-US" sz="110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Georgia" pitchFamily="34" charset="0"/>
                <a:ea typeface="Georgia" pitchFamily="34" charset="-122"/>
                <a:cs typeface="Georgia" pitchFamily="34" charset="-120"/>
              </a:rPr>
              <a:t>Proposal → approval → Series</a:t>
            </a:r>
            <a:endParaRPr lang="en-US" sz="3000" dirty="0"/>
          </a:p>
        </p:txBody>
      </p:sp>
      <p:pic>
        <p:nvPicPr>
          <p:cNvPr id="4" name="Image 0" descr="seqProposal">    </p:cNvPr>
          <p:cNvPicPr>
            <a:picLocks noChangeAspect="1"/>
          </p:cNvPicPr>
          <p:nvPr/>
        </p:nvPicPr>
        <p:blipFill>
          <a:blip r:embed="rId1"/>
          <a:stretch>
            <a:fillRect/>
          </a:stretch>
        </p:blipFill>
        <p:spPr>
          <a:xfrm>
            <a:off x="548640" y="2183130"/>
            <a:ext cx="7223760" cy="3497580"/>
          </a:xfrm>
          <a:prstGeom prst="rect">
            <a:avLst/>
          </a:prstGeom>
        </p:spPr>
      </p:pic>
      <p:sp>
        <p:nvSpPr>
          <p:cNvPr id="5" name="Text 2"/>
          <p:cNvSpPr/>
          <p:nvPr/>
        </p:nvSpPr>
        <p:spPr>
          <a:xfrm>
            <a:off x="7955280" y="1691640"/>
            <a:ext cx="3749040" cy="4572000"/>
          </a:xfrm>
          <a:prstGeom prst="rect">
            <a:avLst/>
          </a:prstGeom>
          <a:noFill/>
          <a:ln/>
        </p:spPr>
        <p:txBody>
          <a:bodyPr wrap="square" lIns="0" tIns="0" rIns="0" bIns="0" rtlCol="0" anchor="t">
            <a:spAutoFit/>
          </a:bodyPr>
          <a:lstStyle/>
          <a:p>
            <a:pPr marL="203200" indent="-203200">
              <a:spcAft>
                <a:spcPts val="1000"/>
              </a:spcAft>
              <a:buSzPct val="100000"/>
              <a:buChar char="•"/>
            </a:pPr>
            <a:r>
              <a:rPr lang="en-US" sz="1350" b="1" dirty="0">
                <a:solidFill>
                  <a:srgbClr val="1E293B"/>
                </a:solidFill>
                <a:latin typeface="Calibri" pitchFamily="34" charset="0"/>
                <a:ea typeface="Calibri" pitchFamily="34" charset="-122"/>
                <a:cs typeface="Calibri" pitchFamily="34" charset="-120"/>
              </a:rPr>
              <a:t>Board approval creates the Series</a:t>
            </a:r>
            <a:endParaRPr lang="en-US" sz="1350" dirty="0"/>
          </a:p>
          <a:p>
            <a:pPr marL="203200" indent="-203200">
              <a:spcAft>
                <a:spcPts val="1000"/>
              </a:spcAft>
              <a:buSzPct val="100000"/>
              <a:buChar char="•"/>
            </a:pPr>
            <a:r>
              <a:rPr lang="en-US" sz="1350" b="1" dirty="0">
                <a:solidFill>
                  <a:srgbClr val="1E293B"/>
                </a:solidFill>
                <a:latin typeface="Calibri" pitchFamily="34" charset="0"/>
                <a:ea typeface="Calibri" pitchFamily="34" charset="-122"/>
                <a:cs typeface="Calibri" pitchFamily="34" charset="-120"/>
              </a:rPr>
              <a:t>Mangaka drafts then submits a proposal</a:t>
            </a:r>
            <a:endParaRPr lang="en-US" sz="1350" dirty="0"/>
          </a:p>
          <a:p>
            <a:pPr marL="203200" indent="-203200">
              <a:spcAft>
                <a:spcPts val="1000"/>
              </a:spcAft>
              <a:buSzPct val="100000"/>
              <a:buChar char="•"/>
            </a:pPr>
            <a:r>
              <a:rPr lang="en-US" sz="1350" b="1" dirty="0">
                <a:solidFill>
                  <a:srgbClr val="1E293B"/>
                </a:solidFill>
                <a:latin typeface="Calibri" pitchFamily="34" charset="0"/>
                <a:ea typeface="Calibri" pitchFamily="34" charset="-122"/>
                <a:cs typeface="Calibri" pitchFamily="34" charset="-120"/>
              </a:rPr>
              <a:t>Board reviews the queue and decides</a:t>
            </a:r>
            <a:endParaRPr lang="en-US" sz="1350" dirty="0"/>
          </a:p>
          <a:p>
            <a:pPr marL="203200" indent="-203200">
              <a:spcAft>
                <a:spcPts val="1000"/>
              </a:spcAft>
              <a:buSzPct val="100000"/>
              <a:buChar char="•"/>
            </a:pPr>
            <a:r>
              <a:rPr lang="en-US" sz="1350" b="1" dirty="0">
                <a:solidFill>
                  <a:srgbClr val="1E293B"/>
                </a:solidFill>
                <a:latin typeface="Calibri" pitchFamily="34" charset="0"/>
                <a:ea typeface="Calibri" pitchFamily="34" charset="-122"/>
                <a:cs typeface="Calibri" pitchFamily="34" charset="-120"/>
              </a:rPr>
              <a:t>APPROVED auto-inserts a Series row</a:t>
            </a:r>
            <a:endParaRPr lang="en-US" sz="1350" dirty="0"/>
          </a:p>
          <a:p>
            <a:pPr marL="203200" indent="-203200">
              <a:spcAft>
                <a:spcPts val="1000"/>
              </a:spcAft>
              <a:buSzPct val="100000"/>
              <a:buChar char="•"/>
            </a:pPr>
            <a:r>
              <a:rPr lang="en-US" sz="1350" b="1" dirty="0">
                <a:solidFill>
                  <a:srgbClr val="1E293B"/>
                </a:solidFill>
                <a:latin typeface="Calibri" pitchFamily="34" charset="0"/>
                <a:ea typeface="Calibri" pitchFamily="34" charset="-122"/>
                <a:cs typeface="Calibri" pitchFamily="34" charset="-120"/>
              </a:rPr>
              <a:t>Mangaka is notified of the decision</a:t>
            </a:r>
            <a:endParaRPr lang="en-US" sz="1350" dirty="0"/>
          </a:p>
        </p:txBody>
      </p:sp>
      <p:sp>
        <p:nvSpPr>
          <p:cNvPr id="25" name="Slide Number Placeholder 0"/>
          <p:cNvSpPr>
            <a:spLocks noGrp="1"/>
          </p:cNvSpPr>
          <p:nvPr>
            <p:ph type="sldNum" sz="quarter" idx="4294967295"/>
          </p:nvPr>
        </p:nvSpPr>
        <p:spPr>
          <a:xfrm>
            <a:off x="11612880" y="6455664"/>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latin typeface="Calibri"/>
                <a:ea typeface="Calibri"/>
                <a:cs typeface="Calibri"/>
              </a:defRPr>
            </a:lvl1pPr>
          </a:lstStyle>
          <a:p>
            <a:pPr algn="l"/>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01752"/>
            <a:ext cx="11064240" cy="274320"/>
          </a:xfrm>
          <a:prstGeom prst="rect">
            <a:avLst/>
          </a:prstGeom>
          <a:noFill/>
          <a:ln/>
        </p:spPr>
        <p:txBody>
          <a:bodyPr wrap="square" lIns="0" tIns="0" rIns="0" bIns="0" rtlCol="0" anchor="ctr"/>
          <a:lstStyle/>
          <a:p>
            <a:pPr indent="0" marL="0">
              <a:buNone/>
            </a:pPr>
            <a:r>
              <a:rPr lang="en-US" sz="1100" b="1" spc="200" kern="0" dirty="0">
                <a:solidFill>
                  <a:srgbClr val="FF5A5F"/>
                </a:solidFill>
                <a:latin typeface="Calibri" pitchFamily="34" charset="0"/>
                <a:ea typeface="Calibri" pitchFamily="34" charset="-122"/>
                <a:cs typeface="Calibri" pitchFamily="34" charset="-120"/>
              </a:rPr>
              <a:t>06 · FEATURE FLOWS</a:t>
            </a:r>
            <a:endParaRPr lang="en-US" sz="110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Georgia" pitchFamily="34" charset="0"/>
                <a:ea typeface="Georgia" pitchFamily="34" charset="-122"/>
                <a:cs typeface="Georgia" pitchFamily="34" charset="-120"/>
              </a:rPr>
              <a:t>Production loop</a:t>
            </a:r>
            <a:endParaRPr lang="en-US" sz="3000" dirty="0"/>
          </a:p>
        </p:txBody>
      </p:sp>
      <p:pic>
        <p:nvPicPr>
          <p:cNvPr id="4" name="Image 0" descr="actProduction">    </p:cNvPr>
          <p:cNvPicPr>
            <a:picLocks noChangeAspect="1"/>
          </p:cNvPicPr>
          <p:nvPr/>
        </p:nvPicPr>
        <p:blipFill>
          <a:blip r:embed="rId1"/>
          <a:stretch>
            <a:fillRect/>
          </a:stretch>
        </p:blipFill>
        <p:spPr>
          <a:xfrm>
            <a:off x="2831696" y="1463040"/>
            <a:ext cx="2657647" cy="4937760"/>
          </a:xfrm>
          <a:prstGeom prst="rect">
            <a:avLst/>
          </a:prstGeom>
        </p:spPr>
      </p:pic>
      <p:sp>
        <p:nvSpPr>
          <p:cNvPr id="5" name="Text 2"/>
          <p:cNvSpPr/>
          <p:nvPr/>
        </p:nvSpPr>
        <p:spPr>
          <a:xfrm>
            <a:off x="7955280" y="1691640"/>
            <a:ext cx="3749040" cy="4572000"/>
          </a:xfrm>
          <a:prstGeom prst="rect">
            <a:avLst/>
          </a:prstGeom>
          <a:noFill/>
          <a:ln/>
        </p:spPr>
        <p:txBody>
          <a:bodyPr wrap="square" lIns="0" tIns="0" rIns="0" bIns="0" rtlCol="0" anchor="t">
            <a:spAutoFit/>
          </a:bodyPr>
          <a:lstStyle/>
          <a:p>
            <a:pPr marL="203200" indent="-203200">
              <a:spcAft>
                <a:spcPts val="1000"/>
              </a:spcAft>
              <a:buSzPct val="100000"/>
              <a:buChar char="•"/>
            </a:pPr>
            <a:r>
              <a:rPr lang="en-US" sz="1350" b="1" dirty="0">
                <a:solidFill>
                  <a:srgbClr val="1E293B"/>
                </a:solidFill>
                <a:latin typeface="Calibri" pitchFamily="34" charset="0"/>
                <a:ea typeface="Calibri" pitchFamily="34" charset="-122"/>
                <a:cs typeface="Calibri" pitchFamily="34" charset="-120"/>
              </a:rPr>
              <a:t>Tasks iterate until approved</a:t>
            </a:r>
            <a:endParaRPr lang="en-US" sz="1350" dirty="0"/>
          </a:p>
          <a:p>
            <a:pPr marL="203200" indent="-203200">
              <a:spcAft>
                <a:spcPts val="1000"/>
              </a:spcAft>
              <a:buSzPct val="100000"/>
              <a:buChar char="•"/>
            </a:pPr>
            <a:r>
              <a:rPr lang="en-US" sz="1350" b="1" dirty="0">
                <a:solidFill>
                  <a:srgbClr val="1E293B"/>
                </a:solidFill>
                <a:latin typeface="Calibri" pitchFamily="34" charset="0"/>
                <a:ea typeface="Calibri" pitchFamily="34" charset="-122"/>
                <a:cs typeface="Calibri" pitchFamily="34" charset="-120"/>
              </a:rPr>
              <a:t>Task auto-priced from Task_Price_Rule</a:t>
            </a:r>
            <a:endParaRPr lang="en-US" sz="1350" dirty="0"/>
          </a:p>
          <a:p>
            <a:pPr marL="203200" indent="-203200">
              <a:spcAft>
                <a:spcPts val="1000"/>
              </a:spcAft>
              <a:buSzPct val="100000"/>
              <a:buChar char="•"/>
            </a:pPr>
            <a:r>
              <a:rPr lang="en-US" sz="1350" b="1" dirty="0">
                <a:solidFill>
                  <a:srgbClr val="1E293B"/>
                </a:solidFill>
                <a:latin typeface="Calibri" pitchFamily="34" charset="0"/>
                <a:ea typeface="Calibri" pitchFamily="34" charset="-122"/>
                <a:cs typeface="Calibri" pitchFamily="34" charset="-120"/>
              </a:rPr>
              <a:t>Assistant starts, draws, submits</a:t>
            </a:r>
            <a:endParaRPr lang="en-US" sz="1350" dirty="0"/>
          </a:p>
          <a:p>
            <a:pPr marL="203200" indent="-203200">
              <a:spcAft>
                <a:spcPts val="1000"/>
              </a:spcAft>
              <a:buSzPct val="100000"/>
              <a:buChar char="•"/>
            </a:pPr>
            <a:r>
              <a:rPr lang="en-US" sz="1350" b="1" dirty="0">
                <a:solidFill>
                  <a:srgbClr val="1E293B"/>
                </a:solidFill>
                <a:latin typeface="Calibri" pitchFamily="34" charset="0"/>
                <a:ea typeface="Calibri" pitchFamily="34" charset="-122"/>
                <a:cs typeface="Calibri" pitchFamily="34" charset="-120"/>
              </a:rPr>
              <a:t>Mangaka approves → earnings accrue</a:t>
            </a:r>
            <a:endParaRPr lang="en-US" sz="1350" dirty="0"/>
          </a:p>
          <a:p>
            <a:pPr marL="203200" indent="-203200">
              <a:spcAft>
                <a:spcPts val="1000"/>
              </a:spcAft>
              <a:buSzPct val="100000"/>
              <a:buChar char="•"/>
            </a:pPr>
            <a:r>
              <a:rPr lang="en-US" sz="1350" b="1" dirty="0">
                <a:solidFill>
                  <a:srgbClr val="1E293B"/>
                </a:solidFill>
                <a:latin typeface="Calibri" pitchFamily="34" charset="0"/>
                <a:ea typeface="Calibri" pitchFamily="34" charset="-122"/>
                <a:cs typeface="Calibri" pitchFamily="34" charset="-120"/>
              </a:rPr>
              <a:t>Or requests changes → loops back</a:t>
            </a:r>
            <a:endParaRPr lang="en-US" sz="1350" dirty="0"/>
          </a:p>
        </p:txBody>
      </p:sp>
      <p:sp>
        <p:nvSpPr>
          <p:cNvPr id="25" name="Slide Number Placeholder 0"/>
          <p:cNvSpPr>
            <a:spLocks noGrp="1"/>
          </p:cNvSpPr>
          <p:nvPr>
            <p:ph type="sldNum" sz="quarter" idx="4294967295"/>
          </p:nvPr>
        </p:nvSpPr>
        <p:spPr>
          <a:xfrm>
            <a:off x="11612880" y="6455664"/>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latin typeface="Calibri"/>
                <a:ea typeface="Calibri"/>
                <a:cs typeface="Calibri"/>
              </a:defRPr>
            </a:lvl1pPr>
          </a:lstStyle>
          <a:p>
            <a:pPr algn="l"/>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01752"/>
            <a:ext cx="11064240" cy="274320"/>
          </a:xfrm>
          <a:prstGeom prst="rect">
            <a:avLst/>
          </a:prstGeom>
          <a:noFill/>
          <a:ln/>
        </p:spPr>
        <p:txBody>
          <a:bodyPr wrap="square" lIns="0" tIns="0" rIns="0" bIns="0" rtlCol="0" anchor="ctr"/>
          <a:lstStyle/>
          <a:p>
            <a:pPr indent="0" marL="0">
              <a:buNone/>
            </a:pPr>
            <a:r>
              <a:rPr lang="en-US" sz="1100" b="1" spc="200" kern="0" dirty="0">
                <a:solidFill>
                  <a:srgbClr val="FF5A5F"/>
                </a:solidFill>
                <a:latin typeface="Calibri" pitchFamily="34" charset="0"/>
                <a:ea typeface="Calibri" pitchFamily="34" charset="-122"/>
                <a:cs typeface="Calibri" pitchFamily="34" charset="-120"/>
              </a:rPr>
              <a:t>06 · FEATURE FLOWS</a:t>
            </a:r>
            <a:endParaRPr lang="en-US" sz="110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Georgia" pitchFamily="34" charset="0"/>
                <a:ea typeface="Georgia" pitchFamily="34" charset="-122"/>
                <a:cs typeface="Georgia" pitchFamily="34" charset="-120"/>
              </a:rPr>
              <a:t>Submission review &amp; earnings accrual</a:t>
            </a:r>
            <a:endParaRPr lang="en-US" sz="3000" dirty="0"/>
          </a:p>
        </p:txBody>
      </p:sp>
      <p:pic>
        <p:nvPicPr>
          <p:cNvPr id="4" name="Image 0" descr="smSubmission">    </p:cNvPr>
          <p:cNvPicPr>
            <a:picLocks noChangeAspect="1"/>
          </p:cNvPicPr>
          <p:nvPr/>
        </p:nvPicPr>
        <p:blipFill>
          <a:blip r:embed="rId1"/>
          <a:stretch>
            <a:fillRect/>
          </a:stretch>
        </p:blipFill>
        <p:spPr>
          <a:xfrm>
            <a:off x="640080" y="2326640"/>
            <a:ext cx="3657600" cy="2844800"/>
          </a:xfrm>
          <a:prstGeom prst="rect">
            <a:avLst/>
          </a:prstGeom>
        </p:spPr>
      </p:pic>
      <p:sp>
        <p:nvSpPr>
          <p:cNvPr id="5" name="Text 2"/>
          <p:cNvSpPr/>
          <p:nvPr/>
        </p:nvSpPr>
        <p:spPr>
          <a:xfrm>
            <a:off x="4572000" y="1691640"/>
            <a:ext cx="3657600" cy="4389120"/>
          </a:xfrm>
          <a:prstGeom prst="rect">
            <a:avLst/>
          </a:prstGeom>
          <a:noFill/>
          <a:ln/>
        </p:spPr>
        <p:txBody>
          <a:bodyPr wrap="square" lIns="0" tIns="0" rIns="0" bIns="0" rtlCol="0" anchor="t">
            <a:spAutoFit/>
          </a:bodyPr>
          <a:lstStyle/>
          <a:p>
            <a:pPr marL="203200" indent="-203200">
              <a:spcAft>
                <a:spcPts val="1000"/>
              </a:spcAft>
              <a:buSzPct val="100000"/>
              <a:buChar char="•"/>
            </a:pPr>
            <a:r>
              <a:rPr lang="en-US" sz="1350" b="1" dirty="0">
                <a:solidFill>
                  <a:srgbClr val="1E293B"/>
                </a:solidFill>
                <a:latin typeface="Calibri" pitchFamily="34" charset="0"/>
                <a:ea typeface="Calibri" pitchFamily="34" charset="-122"/>
                <a:cs typeface="Calibri" pitchFamily="34" charset="-120"/>
              </a:rPr>
              <a:t>Approval is the only path to payment</a:t>
            </a:r>
            <a:endParaRPr lang="en-US" sz="1350" dirty="0"/>
          </a:p>
          <a:p>
            <a:pPr marL="203200" indent="-203200">
              <a:spcAft>
                <a:spcPts val="1000"/>
              </a:spcAft>
              <a:buSzPct val="100000"/>
              <a:buChar char="•"/>
            </a:pPr>
            <a:r>
              <a:rPr lang="en-US" sz="1350" b="1" dirty="0">
                <a:solidFill>
                  <a:srgbClr val="1E293B"/>
                </a:solidFill>
                <a:latin typeface="Calibri" pitchFamily="34" charset="0"/>
                <a:ea typeface="Calibri" pitchFamily="34" charset="-122"/>
                <a:cs typeface="Calibri" pitchFamily="34" charset="-120"/>
              </a:rPr>
              <a:t>Mangaka reviews from a queue</a:t>
            </a:r>
            <a:endParaRPr lang="en-US" sz="1350" dirty="0"/>
          </a:p>
          <a:p>
            <a:pPr marL="203200" indent="-203200">
              <a:spcAft>
                <a:spcPts val="1000"/>
              </a:spcAft>
              <a:buSzPct val="100000"/>
              <a:buChar char="•"/>
            </a:pPr>
            <a:r>
              <a:rPr lang="en-US" sz="1350" b="1" dirty="0">
                <a:solidFill>
                  <a:srgbClr val="1E293B"/>
                </a:solidFill>
                <a:latin typeface="Calibri" pitchFamily="34" charset="0"/>
                <a:ea typeface="Calibri" pitchFamily="34" charset="-122"/>
                <a:cs typeface="Calibri" pitchFamily="34" charset="-120"/>
              </a:rPr>
              <a:t>APPROVED → total_earnings += task payment</a:t>
            </a:r>
            <a:endParaRPr lang="en-US" sz="1350" dirty="0"/>
          </a:p>
          <a:p>
            <a:pPr marL="203200" indent="-203200">
              <a:spcAft>
                <a:spcPts val="1000"/>
              </a:spcAft>
              <a:buSzPct val="100000"/>
              <a:buChar char="•"/>
            </a:pPr>
            <a:r>
              <a:rPr lang="en-US" sz="1350" b="1" dirty="0">
                <a:solidFill>
                  <a:srgbClr val="1E293B"/>
                </a:solidFill>
                <a:latin typeface="Calibri" pitchFamily="34" charset="0"/>
                <a:ea typeface="Calibri" pitchFamily="34" charset="-122"/>
                <a:cs typeface="Calibri" pitchFamily="34" charset="-120"/>
              </a:rPr>
              <a:t>REVISION_REQUIRED → assistant iterates</a:t>
            </a:r>
            <a:endParaRPr lang="en-US" sz="1350" dirty="0"/>
          </a:p>
          <a:p>
            <a:pPr marL="203200" indent="-203200">
              <a:spcAft>
                <a:spcPts val="1000"/>
              </a:spcAft>
              <a:buSzPct val="100000"/>
              <a:buChar char="•"/>
            </a:pPr>
            <a:r>
              <a:rPr lang="en-US" sz="1350" b="1" dirty="0">
                <a:solidFill>
                  <a:srgbClr val="1E293B"/>
                </a:solidFill>
                <a:latin typeface="Calibri" pitchFamily="34" charset="0"/>
                <a:ea typeface="Calibri" pitchFamily="34" charset="-122"/>
                <a:cs typeface="Calibri" pitchFamily="34" charset="-120"/>
              </a:rPr>
              <a:t>Every outcome notifies the assistant</a:t>
            </a:r>
            <a:endParaRPr lang="en-US" sz="1350" dirty="0"/>
          </a:p>
        </p:txBody>
      </p:sp>
      <p:sp>
        <p:nvSpPr>
          <p:cNvPr id="6" name="Text 3"/>
          <p:cNvSpPr/>
          <p:nvPr/>
        </p:nvSpPr>
        <p:spPr>
          <a:xfrm>
            <a:off x="8503920" y="1828800"/>
            <a:ext cx="3108960" cy="777240"/>
          </a:xfrm>
          <a:prstGeom prst="rect">
            <a:avLst/>
          </a:prstGeom>
          <a:noFill/>
          <a:ln/>
        </p:spPr>
        <p:txBody>
          <a:bodyPr wrap="square" lIns="0" tIns="0" rIns="0" bIns="0" rtlCol="0" anchor="ctr"/>
          <a:lstStyle/>
          <a:p>
            <a:pPr algn="ctr" indent="0" marL="0">
              <a:buNone/>
            </a:pPr>
            <a:r>
              <a:rPr lang="en-US" sz="4600" b="1" dirty="0">
                <a:solidFill>
                  <a:srgbClr val="1E2761"/>
                </a:solidFill>
                <a:latin typeface="Georgia" pitchFamily="34" charset="0"/>
                <a:ea typeface="Georgia" pitchFamily="34" charset="-122"/>
                <a:cs typeface="Georgia" pitchFamily="34" charset="-120"/>
              </a:rPr>
              <a:t>Auto</a:t>
            </a:r>
            <a:endParaRPr lang="en-US" sz="4600" dirty="0"/>
          </a:p>
        </p:txBody>
      </p:sp>
      <p:sp>
        <p:nvSpPr>
          <p:cNvPr id="7" name="Text 4"/>
          <p:cNvSpPr/>
          <p:nvPr/>
        </p:nvSpPr>
        <p:spPr>
          <a:xfrm>
            <a:off x="8503920" y="2606040"/>
            <a:ext cx="3108960" cy="502920"/>
          </a:xfrm>
          <a:prstGeom prst="rect">
            <a:avLst/>
          </a:prstGeom>
          <a:noFill/>
          <a:ln/>
        </p:spPr>
        <p:txBody>
          <a:bodyPr wrap="square" lIns="0" tIns="0" rIns="0" bIns="0" rtlCol="0" anchor="ctr"/>
          <a:lstStyle/>
          <a:p>
            <a:pPr algn="ctr" indent="0" marL="0">
              <a:buNone/>
            </a:pPr>
            <a:r>
              <a:rPr lang="en-US" sz="1250" dirty="0">
                <a:solidFill>
                  <a:srgbClr val="64748B"/>
                </a:solidFill>
                <a:latin typeface="Calibri" pitchFamily="34" charset="0"/>
                <a:ea typeface="Calibri" pitchFamily="34" charset="-122"/>
                <a:cs typeface="Calibri" pitchFamily="34" charset="-120"/>
              </a:rPr>
              <a:t>task pricing by region type</a:t>
            </a:r>
            <a:endParaRPr lang="en-US" sz="1250" dirty="0"/>
          </a:p>
        </p:txBody>
      </p:sp>
      <p:sp>
        <p:nvSpPr>
          <p:cNvPr id="8" name="Text 5"/>
          <p:cNvSpPr/>
          <p:nvPr/>
        </p:nvSpPr>
        <p:spPr>
          <a:xfrm>
            <a:off x="8503920" y="3383280"/>
            <a:ext cx="3108960" cy="777240"/>
          </a:xfrm>
          <a:prstGeom prst="rect">
            <a:avLst/>
          </a:prstGeom>
          <a:noFill/>
          <a:ln/>
        </p:spPr>
        <p:txBody>
          <a:bodyPr wrap="square" lIns="0" tIns="0" rIns="0" bIns="0" rtlCol="0" anchor="ctr"/>
          <a:lstStyle/>
          <a:p>
            <a:pPr algn="ctr" indent="0" marL="0">
              <a:buNone/>
            </a:pPr>
            <a:r>
              <a:rPr lang="en-US" sz="4600" b="1" dirty="0">
                <a:solidFill>
                  <a:srgbClr val="10B981"/>
                </a:solidFill>
                <a:latin typeface="Georgia" pitchFamily="34" charset="0"/>
                <a:ea typeface="Georgia" pitchFamily="34" charset="-122"/>
                <a:cs typeface="Georgia" pitchFamily="34" charset="-120"/>
              </a:rPr>
              <a:t>+$</a:t>
            </a:r>
            <a:endParaRPr lang="en-US" sz="4600" dirty="0"/>
          </a:p>
        </p:txBody>
      </p:sp>
      <p:sp>
        <p:nvSpPr>
          <p:cNvPr id="9" name="Text 6"/>
          <p:cNvSpPr/>
          <p:nvPr/>
        </p:nvSpPr>
        <p:spPr>
          <a:xfrm>
            <a:off x="8503920" y="4160520"/>
            <a:ext cx="3108960" cy="502920"/>
          </a:xfrm>
          <a:prstGeom prst="rect">
            <a:avLst/>
          </a:prstGeom>
          <a:noFill/>
          <a:ln/>
        </p:spPr>
        <p:txBody>
          <a:bodyPr wrap="square" lIns="0" tIns="0" rIns="0" bIns="0" rtlCol="0" anchor="ctr"/>
          <a:lstStyle/>
          <a:p>
            <a:pPr algn="ctr" indent="0" marL="0">
              <a:buNone/>
            </a:pPr>
            <a:r>
              <a:rPr lang="en-US" sz="1250" dirty="0">
                <a:solidFill>
                  <a:srgbClr val="64748B"/>
                </a:solidFill>
                <a:latin typeface="Calibri" pitchFamily="34" charset="0"/>
                <a:ea typeface="Calibri" pitchFamily="34" charset="-122"/>
                <a:cs typeface="Calibri" pitchFamily="34" charset="-120"/>
              </a:rPr>
              <a:t>accrues only on APPROVED</a:t>
            </a:r>
            <a:endParaRPr lang="en-US" sz="1250" dirty="0"/>
          </a:p>
        </p:txBody>
      </p:sp>
      <p:sp>
        <p:nvSpPr>
          <p:cNvPr id="10" name="Text 7"/>
          <p:cNvSpPr/>
          <p:nvPr/>
        </p:nvSpPr>
        <p:spPr>
          <a:xfrm>
            <a:off x="8503920" y="4937760"/>
            <a:ext cx="3108960" cy="777240"/>
          </a:xfrm>
          <a:prstGeom prst="rect">
            <a:avLst/>
          </a:prstGeom>
          <a:noFill/>
          <a:ln/>
        </p:spPr>
        <p:txBody>
          <a:bodyPr wrap="square" lIns="0" tIns="0" rIns="0" bIns="0" rtlCol="0" anchor="ctr"/>
          <a:lstStyle/>
          <a:p>
            <a:pPr algn="ctr" indent="0" marL="0">
              <a:buNone/>
            </a:pPr>
            <a:r>
              <a:rPr lang="en-US" sz="4600" b="1" dirty="0">
                <a:solidFill>
                  <a:srgbClr val="FF5A5F"/>
                </a:solidFill>
                <a:latin typeface="Georgia" pitchFamily="34" charset="0"/>
                <a:ea typeface="Georgia" pitchFamily="34" charset="-122"/>
                <a:cs typeface="Georgia" pitchFamily="34" charset="-120"/>
              </a:rPr>
              <a:t>Δ</a:t>
            </a:r>
            <a:endParaRPr lang="en-US" sz="4600" dirty="0"/>
          </a:p>
        </p:txBody>
      </p:sp>
      <p:sp>
        <p:nvSpPr>
          <p:cNvPr id="11" name="Text 8"/>
          <p:cNvSpPr/>
          <p:nvPr/>
        </p:nvSpPr>
        <p:spPr>
          <a:xfrm>
            <a:off x="8503920" y="5715000"/>
            <a:ext cx="3108960" cy="502920"/>
          </a:xfrm>
          <a:prstGeom prst="rect">
            <a:avLst/>
          </a:prstGeom>
          <a:noFill/>
          <a:ln/>
        </p:spPr>
        <p:txBody>
          <a:bodyPr wrap="square" lIns="0" tIns="0" rIns="0" bIns="0" rtlCol="0" anchor="ctr"/>
          <a:lstStyle/>
          <a:p>
            <a:pPr algn="ctr" indent="0" marL="0">
              <a:buNone/>
            </a:pPr>
            <a:r>
              <a:rPr lang="en-US" sz="1250" dirty="0">
                <a:solidFill>
                  <a:srgbClr val="64748B"/>
                </a:solidFill>
                <a:latin typeface="Calibri" pitchFamily="34" charset="0"/>
                <a:ea typeface="Calibri" pitchFamily="34" charset="-122"/>
                <a:cs typeface="Calibri" pitchFamily="34" charset="-120"/>
              </a:rPr>
              <a:t>disputes adjust by delta</a:t>
            </a:r>
            <a:endParaRPr lang="en-US" sz="1250" dirty="0"/>
          </a:p>
        </p:txBody>
      </p:sp>
      <p:sp>
        <p:nvSpPr>
          <p:cNvPr id="25" name="Slide Number Placeholder 0"/>
          <p:cNvSpPr>
            <a:spLocks noGrp="1"/>
          </p:cNvSpPr>
          <p:nvPr>
            <p:ph type="sldNum" sz="quarter" idx="4294967295"/>
          </p:nvPr>
        </p:nvSpPr>
        <p:spPr>
          <a:xfrm>
            <a:off x="11612880" y="6455664"/>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latin typeface="Calibri"/>
                <a:ea typeface="Calibri"/>
                <a:cs typeface="Calibri"/>
              </a:defRPr>
            </a:lvl1pPr>
          </a:lstStyle>
          <a:p>
            <a:pPr algn="l"/>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01752"/>
            <a:ext cx="11064240" cy="274320"/>
          </a:xfrm>
          <a:prstGeom prst="rect">
            <a:avLst/>
          </a:prstGeom>
          <a:noFill/>
          <a:ln/>
        </p:spPr>
        <p:txBody>
          <a:bodyPr wrap="square" lIns="0" tIns="0" rIns="0" bIns="0" rtlCol="0" anchor="ctr"/>
          <a:lstStyle/>
          <a:p>
            <a:pPr indent="0" marL="0">
              <a:buNone/>
            </a:pPr>
            <a:r>
              <a:rPr lang="en-US" sz="1100" b="1" spc="200" kern="0" dirty="0">
                <a:solidFill>
                  <a:srgbClr val="FF5A5F"/>
                </a:solidFill>
                <a:latin typeface="Calibri" pitchFamily="34" charset="0"/>
                <a:ea typeface="Calibri" pitchFamily="34" charset="-122"/>
                <a:cs typeface="Calibri" pitchFamily="34" charset="-120"/>
              </a:rPr>
              <a:t>06 · FEATURE FLOWS</a:t>
            </a:r>
            <a:endParaRPr lang="en-US" sz="110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Georgia" pitchFamily="34" charset="0"/>
                <a:ea typeface="Georgia" pitchFamily="34" charset="-122"/>
                <a:cs typeface="Georgia" pitchFamily="34" charset="-120"/>
              </a:rPr>
              <a:t>Governance: vote → ranking → decision</a:t>
            </a:r>
            <a:endParaRPr lang="en-US" sz="3000" dirty="0"/>
          </a:p>
        </p:txBody>
      </p:sp>
      <p:pic>
        <p:nvPicPr>
          <p:cNvPr id="4" name="Image 0" descr="actGovernance">    </p:cNvPr>
          <p:cNvPicPr>
            <a:picLocks noChangeAspect="1"/>
          </p:cNvPicPr>
          <p:nvPr/>
        </p:nvPicPr>
        <p:blipFill>
          <a:blip r:embed="rId1"/>
          <a:stretch>
            <a:fillRect/>
          </a:stretch>
        </p:blipFill>
        <p:spPr>
          <a:xfrm>
            <a:off x="2168293" y="1463040"/>
            <a:ext cx="3984453" cy="4937760"/>
          </a:xfrm>
          <a:prstGeom prst="rect">
            <a:avLst/>
          </a:prstGeom>
        </p:spPr>
      </p:pic>
      <p:sp>
        <p:nvSpPr>
          <p:cNvPr id="5" name="Text 2"/>
          <p:cNvSpPr/>
          <p:nvPr/>
        </p:nvSpPr>
        <p:spPr>
          <a:xfrm>
            <a:off x="7955280" y="1691640"/>
            <a:ext cx="3749040" cy="4572000"/>
          </a:xfrm>
          <a:prstGeom prst="rect">
            <a:avLst/>
          </a:prstGeom>
          <a:noFill/>
          <a:ln/>
        </p:spPr>
        <p:txBody>
          <a:bodyPr wrap="square" lIns="0" tIns="0" rIns="0" bIns="0" rtlCol="0" anchor="t">
            <a:spAutoFit/>
          </a:bodyPr>
          <a:lstStyle/>
          <a:p>
            <a:pPr marL="203200" indent="-203200">
              <a:spcAft>
                <a:spcPts val="1000"/>
              </a:spcAft>
              <a:buSzPct val="100000"/>
              <a:buChar char="•"/>
            </a:pPr>
            <a:r>
              <a:rPr lang="en-US" sz="1350" b="1" dirty="0">
                <a:solidFill>
                  <a:srgbClr val="1E293B"/>
                </a:solidFill>
                <a:latin typeface="Calibri" pitchFamily="34" charset="0"/>
                <a:ea typeface="Calibri" pitchFamily="34" charset="-122"/>
                <a:cs typeface="Calibri" pitchFamily="34" charset="-120"/>
              </a:rPr>
              <a:t>Voting steers a series' future</a:t>
            </a:r>
            <a:endParaRPr lang="en-US" sz="1350" dirty="0"/>
          </a:p>
          <a:p>
            <a:pPr marL="203200" indent="-203200">
              <a:spcAft>
                <a:spcPts val="1000"/>
              </a:spcAft>
              <a:buSzPct val="100000"/>
              <a:buChar char="•"/>
            </a:pPr>
            <a:r>
              <a:rPr lang="en-US" sz="1350" b="1" dirty="0">
                <a:solidFill>
                  <a:srgbClr val="1E293B"/>
                </a:solidFill>
                <a:latin typeface="Calibri" pitchFamily="34" charset="0"/>
                <a:ea typeface="Calibri" pitchFamily="34" charset="-122"/>
                <a:cs typeface="Calibri" pitchFamily="34" charset="-120"/>
              </a:rPr>
              <a:t>One vote per board member per period</a:t>
            </a:r>
            <a:endParaRPr lang="en-US" sz="1350" dirty="0"/>
          </a:p>
          <a:p>
            <a:pPr marL="203200" indent="-203200">
              <a:spcAft>
                <a:spcPts val="1000"/>
              </a:spcAft>
              <a:buSzPct val="100000"/>
              <a:buChar char="•"/>
            </a:pPr>
            <a:r>
              <a:rPr lang="en-US" sz="1350" b="1" dirty="0">
                <a:solidFill>
                  <a:srgbClr val="1E293B"/>
                </a:solidFill>
                <a:latin typeface="Calibri" pitchFamily="34" charset="0"/>
                <a:ea typeface="Calibri" pitchFamily="34" charset="-122"/>
                <a:cs typeface="Calibri" pitchFamily="34" charset="-120"/>
              </a:rPr>
              <a:t>Closing computes ranking + risk level</a:t>
            </a:r>
            <a:endParaRPr lang="en-US" sz="1350" dirty="0"/>
          </a:p>
          <a:p>
            <a:pPr marL="203200" indent="-203200">
              <a:spcAft>
                <a:spcPts val="1000"/>
              </a:spcAft>
              <a:buSzPct val="100000"/>
              <a:buChar char="•"/>
            </a:pPr>
            <a:r>
              <a:rPr lang="en-US" sz="1350" b="1" dirty="0">
                <a:solidFill>
                  <a:srgbClr val="1E293B"/>
                </a:solidFill>
                <a:latin typeface="Calibri" pitchFamily="34" charset="0"/>
                <a:ea typeface="Calibri" pitchFamily="34" charset="-122"/>
                <a:cs typeface="Calibri" pitchFamily="34" charset="-120"/>
              </a:rPr>
              <a:t>High risk flips Series to AT_RISK</a:t>
            </a:r>
            <a:endParaRPr lang="en-US" sz="1350" dirty="0"/>
          </a:p>
          <a:p>
            <a:pPr marL="203200" indent="-203200">
              <a:spcAft>
                <a:spcPts val="1000"/>
              </a:spcAft>
              <a:buSzPct val="100000"/>
              <a:buChar char="•"/>
            </a:pPr>
            <a:r>
              <a:rPr lang="en-US" sz="1350" b="1" dirty="0">
                <a:solidFill>
                  <a:srgbClr val="1E293B"/>
                </a:solidFill>
                <a:latin typeface="Calibri" pitchFamily="34" charset="0"/>
                <a:ea typeface="Calibri" pitchFamily="34" charset="-122"/>
                <a:cs typeface="Calibri" pitchFamily="34" charset="-120"/>
              </a:rPr>
              <a:t>Decision: continue / change / hiatus / cancel</a:t>
            </a:r>
            <a:endParaRPr lang="en-US" sz="1350" dirty="0"/>
          </a:p>
        </p:txBody>
      </p:sp>
      <p:sp>
        <p:nvSpPr>
          <p:cNvPr id="25" name="Slide Number Placeholder 0"/>
          <p:cNvSpPr>
            <a:spLocks noGrp="1"/>
          </p:cNvSpPr>
          <p:nvPr>
            <p:ph type="sldNum" sz="quarter" idx="4294967295"/>
          </p:nvPr>
        </p:nvSpPr>
        <p:spPr>
          <a:xfrm>
            <a:off x="11612880" y="6455664"/>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latin typeface="Calibri"/>
                <a:ea typeface="Calibri"/>
                <a:cs typeface="Calibri"/>
              </a:defRPr>
            </a:lvl1pPr>
          </a:lstStyle>
          <a:p>
            <a:pPr algn="l"/>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01752"/>
            <a:ext cx="11064240" cy="274320"/>
          </a:xfrm>
          <a:prstGeom prst="rect">
            <a:avLst/>
          </a:prstGeom>
          <a:noFill/>
          <a:ln/>
        </p:spPr>
        <p:txBody>
          <a:bodyPr wrap="square" lIns="0" tIns="0" rIns="0" bIns="0" rtlCol="0" anchor="ctr"/>
          <a:lstStyle/>
          <a:p>
            <a:pPr indent="0" marL="0">
              <a:buNone/>
            </a:pPr>
            <a:r>
              <a:rPr lang="en-US" sz="1100" b="1" spc="200" kern="0" dirty="0">
                <a:solidFill>
                  <a:srgbClr val="FF5A5F"/>
                </a:solidFill>
                <a:latin typeface="Calibri" pitchFamily="34" charset="0"/>
                <a:ea typeface="Calibri" pitchFamily="34" charset="-122"/>
                <a:cs typeface="Calibri" pitchFamily="34" charset="-120"/>
              </a:rPr>
              <a:t>06 · FEATURE FLOWS</a:t>
            </a:r>
            <a:endParaRPr lang="en-US" sz="110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Georgia" pitchFamily="34" charset="0"/>
                <a:ea typeface="Georgia" pitchFamily="34" charset="-122"/>
                <a:cs typeface="Georgia" pitchFamily="34" charset="-120"/>
              </a:rPr>
              <a:t>Earnings &amp; disputes</a:t>
            </a:r>
            <a:endParaRPr lang="en-US" sz="3000" dirty="0"/>
          </a:p>
        </p:txBody>
      </p:sp>
      <p:pic>
        <p:nvPicPr>
          <p:cNvPr id="4" name="Image 0" descr="seqDispute">    </p:cNvPr>
          <p:cNvPicPr>
            <a:picLocks noChangeAspect="1"/>
          </p:cNvPicPr>
          <p:nvPr/>
        </p:nvPicPr>
        <p:blipFill>
          <a:blip r:embed="rId1"/>
          <a:stretch>
            <a:fillRect/>
          </a:stretch>
        </p:blipFill>
        <p:spPr>
          <a:xfrm>
            <a:off x="548640" y="2304166"/>
            <a:ext cx="7223760" cy="3255508"/>
          </a:xfrm>
          <a:prstGeom prst="rect">
            <a:avLst/>
          </a:prstGeom>
        </p:spPr>
      </p:pic>
      <p:sp>
        <p:nvSpPr>
          <p:cNvPr id="5" name="Text 2"/>
          <p:cNvSpPr/>
          <p:nvPr/>
        </p:nvSpPr>
        <p:spPr>
          <a:xfrm>
            <a:off x="7955280" y="1691640"/>
            <a:ext cx="3749040" cy="4572000"/>
          </a:xfrm>
          <a:prstGeom prst="rect">
            <a:avLst/>
          </a:prstGeom>
          <a:noFill/>
          <a:ln/>
        </p:spPr>
        <p:txBody>
          <a:bodyPr wrap="square" lIns="0" tIns="0" rIns="0" bIns="0" rtlCol="0" anchor="t">
            <a:spAutoFit/>
          </a:bodyPr>
          <a:lstStyle/>
          <a:p>
            <a:pPr marL="203200" indent="-203200">
              <a:spcAft>
                <a:spcPts val="1000"/>
              </a:spcAft>
              <a:buSzPct val="100000"/>
              <a:buChar char="•"/>
            </a:pPr>
            <a:r>
              <a:rPr lang="en-US" sz="1350" b="1" dirty="0">
                <a:solidFill>
                  <a:srgbClr val="1E293B"/>
                </a:solidFill>
                <a:latin typeface="Calibri" pitchFamily="34" charset="0"/>
                <a:ea typeface="Calibri" pitchFamily="34" charset="-122"/>
                <a:cs typeface="Calibri" pitchFamily="34" charset="-120"/>
              </a:rPr>
              <a:t>A fair, auditable money trail</a:t>
            </a:r>
            <a:endParaRPr lang="en-US" sz="1350" dirty="0"/>
          </a:p>
          <a:p>
            <a:pPr marL="203200" indent="-203200">
              <a:spcAft>
                <a:spcPts val="1000"/>
              </a:spcAft>
              <a:buSzPct val="100000"/>
              <a:buChar char="•"/>
            </a:pPr>
            <a:r>
              <a:rPr lang="en-US" sz="1350" b="1" dirty="0">
                <a:solidFill>
                  <a:srgbClr val="1E293B"/>
                </a:solidFill>
                <a:latin typeface="Calibri" pitchFamily="34" charset="0"/>
                <a:ea typeface="Calibri" pitchFamily="34" charset="-122"/>
                <a:cs typeface="Calibri" pitchFamily="34" charset="-120"/>
              </a:rPr>
              <a:t>Assistant views earnings by task</a:t>
            </a:r>
            <a:endParaRPr lang="en-US" sz="1350" dirty="0"/>
          </a:p>
          <a:p>
            <a:pPr marL="203200" indent="-203200">
              <a:spcAft>
                <a:spcPts val="1000"/>
              </a:spcAft>
              <a:buSzPct val="100000"/>
              <a:buChar char="•"/>
            </a:pPr>
            <a:r>
              <a:rPr lang="en-US" sz="1350" b="1" dirty="0">
                <a:solidFill>
                  <a:srgbClr val="1E293B"/>
                </a:solidFill>
                <a:latin typeface="Calibri" pitchFamily="34" charset="0"/>
                <a:ea typeface="Calibri" pitchFamily="34" charset="-122"/>
                <a:cs typeface="Calibri" pitchFamily="34" charset="-120"/>
              </a:rPr>
              <a:t>Opens a dispute on an approved task</a:t>
            </a:r>
            <a:endParaRPr lang="en-US" sz="1350" dirty="0"/>
          </a:p>
          <a:p>
            <a:pPr marL="203200" indent="-203200">
              <a:spcAft>
                <a:spcPts val="1000"/>
              </a:spcAft>
              <a:buSzPct val="100000"/>
              <a:buChar char="•"/>
            </a:pPr>
            <a:r>
              <a:rPr lang="en-US" sz="1350" b="1" dirty="0">
                <a:solidFill>
                  <a:srgbClr val="1E293B"/>
                </a:solidFill>
                <a:latin typeface="Calibri" pitchFamily="34" charset="0"/>
                <a:ea typeface="Calibri" pitchFamily="34" charset="-122"/>
                <a:cs typeface="Calibri" pitchFamily="34" charset="-120"/>
              </a:rPr>
              <a:t>Admins are notified; one reviews</a:t>
            </a:r>
            <a:endParaRPr lang="en-US" sz="1350" dirty="0"/>
          </a:p>
          <a:p>
            <a:pPr marL="203200" indent="-203200">
              <a:spcAft>
                <a:spcPts val="1000"/>
              </a:spcAft>
              <a:buSzPct val="100000"/>
              <a:buChar char="•"/>
            </a:pPr>
            <a:r>
              <a:rPr lang="en-US" sz="1350" b="1" dirty="0">
                <a:solidFill>
                  <a:srgbClr val="1E293B"/>
                </a:solidFill>
                <a:latin typeface="Calibri" pitchFamily="34" charset="0"/>
                <a:ea typeface="Calibri" pitchFamily="34" charset="-122"/>
                <a:cs typeface="Calibri" pitchFamily="34" charset="-120"/>
              </a:rPr>
              <a:t>Resolve can adjust pay + re-accrue</a:t>
            </a:r>
            <a:endParaRPr lang="en-US" sz="1350" dirty="0"/>
          </a:p>
        </p:txBody>
      </p:sp>
      <p:sp>
        <p:nvSpPr>
          <p:cNvPr id="25" name="Slide Number Placeholder 0"/>
          <p:cNvSpPr>
            <a:spLocks noGrp="1"/>
          </p:cNvSpPr>
          <p:nvPr>
            <p:ph type="sldNum" sz="quarter" idx="4294967295"/>
          </p:nvPr>
        </p:nvSpPr>
        <p:spPr>
          <a:xfrm>
            <a:off x="11612880" y="6455664"/>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latin typeface="Calibri"/>
                <a:ea typeface="Calibri"/>
                <a:cs typeface="Calibri"/>
              </a:defRPr>
            </a:lvl1pPr>
          </a:lstStyle>
          <a:p>
            <a:pPr algn="l"/>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4142B"/>
        </a:solidFill>
      </p:bgPr>
    </p:bg>
    <p:spTree>
      <p:nvGrpSpPr>
        <p:cNvPr id="1" name=""/>
        <p:cNvGrpSpPr/>
        <p:nvPr/>
      </p:nvGrpSpPr>
      <p:grpSpPr>
        <a:xfrm>
          <a:off x="0" y="0"/>
          <a:ext cx="0" cy="0"/>
          <a:chOff x="0" y="0"/>
          <a:chExt cx="0" cy="0"/>
        </a:xfrm>
      </p:grpSpPr>
      <p:sp>
        <p:nvSpPr>
          <p:cNvPr id="2" name="Text 0"/>
          <p:cNvSpPr/>
          <p:nvPr/>
        </p:nvSpPr>
        <p:spPr>
          <a:xfrm>
            <a:off x="731520" y="1280160"/>
            <a:ext cx="3657600" cy="2194560"/>
          </a:xfrm>
          <a:prstGeom prst="rect">
            <a:avLst/>
          </a:prstGeom>
          <a:noFill/>
          <a:ln/>
        </p:spPr>
        <p:txBody>
          <a:bodyPr wrap="square" lIns="0" tIns="0" rIns="0" bIns="0" rtlCol="0" anchor="ctr"/>
          <a:lstStyle/>
          <a:p>
            <a:pPr indent="0" marL="0">
              <a:buNone/>
            </a:pPr>
            <a:r>
              <a:rPr lang="en-US" sz="15000" b="1" dirty="0">
                <a:solidFill>
                  <a:srgbClr val="FF5A5F"/>
                </a:solidFill>
                <a:latin typeface="Georgia" pitchFamily="34" charset="0"/>
                <a:ea typeface="Georgia" pitchFamily="34" charset="-122"/>
                <a:cs typeface="Georgia" pitchFamily="34" charset="-120"/>
              </a:rPr>
              <a:t>07</a:t>
            </a:r>
            <a:endParaRPr lang="en-US" sz="15000" dirty="0"/>
          </a:p>
        </p:txBody>
      </p:sp>
      <p:sp>
        <p:nvSpPr>
          <p:cNvPr id="3" name="Text 1"/>
          <p:cNvSpPr/>
          <p:nvPr/>
        </p:nvSpPr>
        <p:spPr>
          <a:xfrm>
            <a:off x="822960" y="3657600"/>
            <a:ext cx="10515600" cy="1097280"/>
          </a:xfrm>
          <a:prstGeom prst="rect">
            <a:avLst/>
          </a:prstGeom>
          <a:noFill/>
          <a:ln/>
        </p:spPr>
        <p:txBody>
          <a:bodyPr wrap="square" lIns="0" tIns="0" rIns="0" bIns="0"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Studio &amp; On-Device AI</a:t>
            </a:r>
            <a:endParaRPr lang="en-US" sz="4000" dirty="0"/>
          </a:p>
        </p:txBody>
      </p:sp>
      <p:sp>
        <p:nvSpPr>
          <p:cNvPr id="4" name="Text 2"/>
          <p:cNvSpPr/>
          <p:nvPr/>
        </p:nvSpPr>
        <p:spPr>
          <a:xfrm>
            <a:off x="868680" y="4709160"/>
            <a:ext cx="10058400" cy="1097280"/>
          </a:xfrm>
          <a:prstGeom prst="rect">
            <a:avLst/>
          </a:prstGeom>
          <a:noFill/>
          <a:ln/>
        </p:spPr>
        <p:txBody>
          <a:bodyPr wrap="square" lIns="0" tIns="0" rIns="0" bIns="0" rtlCol="0" anchor="ctr"/>
          <a:lstStyle/>
          <a:p>
            <a:pPr indent="0" marL="0">
              <a:buNone/>
            </a:pPr>
            <a:r>
              <a:rPr lang="en-US" sz="1600" dirty="0">
                <a:solidFill>
                  <a:srgbClr val="E8EDF9"/>
                </a:solidFill>
                <a:latin typeface="Calibri" pitchFamily="34" charset="0"/>
                <a:ea typeface="Calibri" pitchFamily="34" charset="-122"/>
                <a:cs typeface="Calibri" pitchFamily="34" charset="-120"/>
              </a:rPr>
              <a:t>An in-browser drawing tool with private, zero-cost AI</a:t>
            </a:r>
            <a:endParaRPr lang="en-US" sz="16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01752"/>
            <a:ext cx="11064240" cy="274320"/>
          </a:xfrm>
          <a:prstGeom prst="rect">
            <a:avLst/>
          </a:prstGeom>
          <a:noFill/>
          <a:ln/>
        </p:spPr>
        <p:txBody>
          <a:bodyPr wrap="square" lIns="0" tIns="0" rIns="0" bIns="0" rtlCol="0" anchor="ctr"/>
          <a:lstStyle/>
          <a:p>
            <a:pPr indent="0" marL="0">
              <a:buNone/>
            </a:pPr>
            <a:r>
              <a:rPr lang="en-US" sz="1100" b="1" spc="200" kern="0" dirty="0">
                <a:solidFill>
                  <a:srgbClr val="FF5A5F"/>
                </a:solidFill>
                <a:latin typeface="Calibri" pitchFamily="34" charset="0"/>
                <a:ea typeface="Calibri" pitchFamily="34" charset="-122"/>
                <a:cs typeface="Calibri" pitchFamily="34" charset="-120"/>
              </a:rPr>
              <a:t>07 · STUDIO &amp; AI</a:t>
            </a:r>
            <a:endParaRPr lang="en-US" sz="110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Georgia" pitchFamily="34" charset="0"/>
                <a:ea typeface="Georgia" pitchFamily="34" charset="-122"/>
                <a:cs typeface="Georgia" pitchFamily="34" charset="-120"/>
              </a:rPr>
              <a:t>The in-browser Studio</a:t>
            </a:r>
            <a:endParaRPr lang="en-US" sz="3000" dirty="0"/>
          </a:p>
        </p:txBody>
      </p:sp>
      <p:sp>
        <p:nvSpPr>
          <p:cNvPr id="4" name="Shape 2"/>
          <p:cNvSpPr/>
          <p:nvPr/>
        </p:nvSpPr>
        <p:spPr>
          <a:xfrm>
            <a:off x="640080" y="1554480"/>
            <a:ext cx="3611880" cy="1371600"/>
          </a:xfrm>
          <a:prstGeom prst="rect">
            <a:avLst/>
          </a:prstGeom>
          <a:solidFill>
            <a:srgbClr val="F8FAFC"/>
          </a:solidFill>
          <a:ln w="9525">
            <a:solidFill>
              <a:srgbClr val="CBD5E1"/>
            </a:solidFill>
            <a:prstDash val="solid"/>
          </a:ln>
          <a:effectLst>
            <a:outerShdw sx="100000" sy="100000" kx="0" ky="0" algn="bl" rotWithShape="0" blurRad="88900" dist="38100" dir="8100000">
              <a:srgbClr val="000000">
                <a:alpha val="16000"/>
              </a:srgbClr>
            </a:outerShdw>
          </a:effectLst>
        </p:spPr>
      </p:sp>
      <p:sp>
        <p:nvSpPr>
          <p:cNvPr id="5" name="Shape 3"/>
          <p:cNvSpPr/>
          <p:nvPr/>
        </p:nvSpPr>
        <p:spPr>
          <a:xfrm>
            <a:off x="640080" y="1554480"/>
            <a:ext cx="64008" cy="1371600"/>
          </a:xfrm>
          <a:prstGeom prst="rect">
            <a:avLst/>
          </a:prstGeom>
          <a:solidFill>
            <a:srgbClr val="0EA5E9"/>
          </a:solidFill>
          <a:ln/>
        </p:spPr>
      </p:sp>
      <p:sp>
        <p:nvSpPr>
          <p:cNvPr id="6" name="Text 4"/>
          <p:cNvSpPr/>
          <p:nvPr/>
        </p:nvSpPr>
        <p:spPr>
          <a:xfrm>
            <a:off x="822960" y="1719072"/>
            <a:ext cx="3246120" cy="365760"/>
          </a:xfrm>
          <a:prstGeom prst="rect">
            <a:avLst/>
          </a:prstGeom>
          <a:noFill/>
          <a:ln/>
        </p:spPr>
        <p:txBody>
          <a:bodyPr wrap="square" lIns="0" tIns="0" rIns="0" bIns="0" rtlCol="0" anchor="ctr"/>
          <a:lstStyle/>
          <a:p>
            <a:pPr indent="0" marL="0">
              <a:buNone/>
            </a:pPr>
            <a:r>
              <a:rPr lang="en-US" sz="1400" b="1" dirty="0">
                <a:solidFill>
                  <a:srgbClr val="1E2761"/>
                </a:solidFill>
                <a:latin typeface="Georgia" pitchFamily="34" charset="0"/>
                <a:ea typeface="Georgia" pitchFamily="34" charset="-122"/>
                <a:cs typeface="Georgia" pitchFamily="34" charset="-120"/>
              </a:rPr>
              <a:t>Layers &amp; document</a:t>
            </a:r>
            <a:endParaRPr lang="en-US" sz="1400" dirty="0"/>
          </a:p>
        </p:txBody>
      </p:sp>
      <p:sp>
        <p:nvSpPr>
          <p:cNvPr id="7" name="Text 5"/>
          <p:cNvSpPr/>
          <p:nvPr/>
        </p:nvSpPr>
        <p:spPr>
          <a:xfrm>
            <a:off x="822960" y="2121408"/>
            <a:ext cx="3246120" cy="64008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Non-destructive layer stack with history</a:t>
            </a:r>
            <a:endParaRPr lang="en-US" sz="1200" dirty="0"/>
          </a:p>
        </p:txBody>
      </p:sp>
      <p:sp>
        <p:nvSpPr>
          <p:cNvPr id="8" name="Shape 6"/>
          <p:cNvSpPr/>
          <p:nvPr/>
        </p:nvSpPr>
        <p:spPr>
          <a:xfrm>
            <a:off x="4480560" y="1554480"/>
            <a:ext cx="3611880" cy="1371600"/>
          </a:xfrm>
          <a:prstGeom prst="rect">
            <a:avLst/>
          </a:prstGeom>
          <a:solidFill>
            <a:srgbClr val="F8FAFC"/>
          </a:solidFill>
          <a:ln w="9525">
            <a:solidFill>
              <a:srgbClr val="CBD5E1"/>
            </a:solidFill>
            <a:prstDash val="solid"/>
          </a:ln>
          <a:effectLst>
            <a:outerShdw sx="100000" sy="100000" kx="0" ky="0" algn="bl" rotWithShape="0" blurRad="88900" dist="38100" dir="8100000">
              <a:srgbClr val="000000">
                <a:alpha val="16000"/>
              </a:srgbClr>
            </a:outerShdw>
          </a:effectLst>
        </p:spPr>
      </p:sp>
      <p:sp>
        <p:nvSpPr>
          <p:cNvPr id="9" name="Shape 7"/>
          <p:cNvSpPr/>
          <p:nvPr/>
        </p:nvSpPr>
        <p:spPr>
          <a:xfrm>
            <a:off x="4480560" y="1554480"/>
            <a:ext cx="64008" cy="1371600"/>
          </a:xfrm>
          <a:prstGeom prst="rect">
            <a:avLst/>
          </a:prstGeom>
          <a:solidFill>
            <a:srgbClr val="0EA5E9"/>
          </a:solidFill>
          <a:ln/>
        </p:spPr>
      </p:sp>
      <p:sp>
        <p:nvSpPr>
          <p:cNvPr id="10" name="Text 8"/>
          <p:cNvSpPr/>
          <p:nvPr/>
        </p:nvSpPr>
        <p:spPr>
          <a:xfrm>
            <a:off x="4663440" y="1719072"/>
            <a:ext cx="3246120" cy="365760"/>
          </a:xfrm>
          <a:prstGeom prst="rect">
            <a:avLst/>
          </a:prstGeom>
          <a:noFill/>
          <a:ln/>
        </p:spPr>
        <p:txBody>
          <a:bodyPr wrap="square" lIns="0" tIns="0" rIns="0" bIns="0" rtlCol="0" anchor="ctr"/>
          <a:lstStyle/>
          <a:p>
            <a:pPr indent="0" marL="0">
              <a:buNone/>
            </a:pPr>
            <a:r>
              <a:rPr lang="en-US" sz="1400" b="1" dirty="0">
                <a:solidFill>
                  <a:srgbClr val="1E2761"/>
                </a:solidFill>
                <a:latin typeface="Georgia" pitchFamily="34" charset="0"/>
                <a:ea typeface="Georgia" pitchFamily="34" charset="-122"/>
                <a:cs typeface="Georgia" pitchFamily="34" charset="-120"/>
              </a:rPr>
              <a:t>Brush engine</a:t>
            </a:r>
            <a:endParaRPr lang="en-US" sz="1400" dirty="0"/>
          </a:p>
        </p:txBody>
      </p:sp>
      <p:sp>
        <p:nvSpPr>
          <p:cNvPr id="11" name="Text 9"/>
          <p:cNvSpPr/>
          <p:nvPr/>
        </p:nvSpPr>
        <p:spPr>
          <a:xfrm>
            <a:off x="4663440" y="2121408"/>
            <a:ext cx="3246120" cy="64008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Pressure-style brush, WASM-accelerated pixels</a:t>
            </a:r>
            <a:endParaRPr lang="en-US" sz="1200" dirty="0"/>
          </a:p>
        </p:txBody>
      </p:sp>
      <p:sp>
        <p:nvSpPr>
          <p:cNvPr id="12" name="Shape 10"/>
          <p:cNvSpPr/>
          <p:nvPr/>
        </p:nvSpPr>
        <p:spPr>
          <a:xfrm>
            <a:off x="8321040" y="1554480"/>
            <a:ext cx="3611880" cy="1371600"/>
          </a:xfrm>
          <a:prstGeom prst="rect">
            <a:avLst/>
          </a:prstGeom>
          <a:solidFill>
            <a:srgbClr val="F8FAFC"/>
          </a:solidFill>
          <a:ln w="9525">
            <a:solidFill>
              <a:srgbClr val="CBD5E1"/>
            </a:solidFill>
            <a:prstDash val="solid"/>
          </a:ln>
          <a:effectLst>
            <a:outerShdw sx="100000" sy="100000" kx="0" ky="0" algn="bl" rotWithShape="0" blurRad="88900" dist="38100" dir="8100000">
              <a:srgbClr val="000000">
                <a:alpha val="16000"/>
              </a:srgbClr>
            </a:outerShdw>
          </a:effectLst>
        </p:spPr>
      </p:sp>
      <p:sp>
        <p:nvSpPr>
          <p:cNvPr id="13" name="Shape 11"/>
          <p:cNvSpPr/>
          <p:nvPr/>
        </p:nvSpPr>
        <p:spPr>
          <a:xfrm>
            <a:off x="8321040" y="1554480"/>
            <a:ext cx="64008" cy="1371600"/>
          </a:xfrm>
          <a:prstGeom prst="rect">
            <a:avLst/>
          </a:prstGeom>
          <a:solidFill>
            <a:srgbClr val="0EA5E9"/>
          </a:solidFill>
          <a:ln/>
        </p:spPr>
      </p:sp>
      <p:sp>
        <p:nvSpPr>
          <p:cNvPr id="14" name="Text 12"/>
          <p:cNvSpPr/>
          <p:nvPr/>
        </p:nvSpPr>
        <p:spPr>
          <a:xfrm>
            <a:off x="8503920" y="1719072"/>
            <a:ext cx="3246120" cy="365760"/>
          </a:xfrm>
          <a:prstGeom prst="rect">
            <a:avLst/>
          </a:prstGeom>
          <a:noFill/>
          <a:ln/>
        </p:spPr>
        <p:txBody>
          <a:bodyPr wrap="square" lIns="0" tIns="0" rIns="0" bIns="0" rtlCol="0" anchor="ctr"/>
          <a:lstStyle/>
          <a:p>
            <a:pPr indent="0" marL="0">
              <a:buNone/>
            </a:pPr>
            <a:r>
              <a:rPr lang="en-US" sz="1400" b="1" dirty="0">
                <a:solidFill>
                  <a:srgbClr val="1E2761"/>
                </a:solidFill>
                <a:latin typeface="Georgia" pitchFamily="34" charset="0"/>
                <a:ea typeface="Georgia" pitchFamily="34" charset="-122"/>
                <a:cs typeface="Georgia" pitchFamily="34" charset="-120"/>
              </a:rPr>
              <a:t>Selection &amp; transform</a:t>
            </a:r>
            <a:endParaRPr lang="en-US" sz="1400" dirty="0"/>
          </a:p>
        </p:txBody>
      </p:sp>
      <p:sp>
        <p:nvSpPr>
          <p:cNvPr id="15" name="Text 13"/>
          <p:cNvSpPr/>
          <p:nvPr/>
        </p:nvSpPr>
        <p:spPr>
          <a:xfrm>
            <a:off x="8503920" y="2121408"/>
            <a:ext cx="3246120" cy="64008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Rect, ellipse, lasso, wand, move/scale</a:t>
            </a:r>
            <a:endParaRPr lang="en-US" sz="1200" dirty="0"/>
          </a:p>
        </p:txBody>
      </p:sp>
      <p:sp>
        <p:nvSpPr>
          <p:cNvPr id="16" name="Shape 14"/>
          <p:cNvSpPr/>
          <p:nvPr/>
        </p:nvSpPr>
        <p:spPr>
          <a:xfrm>
            <a:off x="640080" y="3182112"/>
            <a:ext cx="3611880" cy="1371600"/>
          </a:xfrm>
          <a:prstGeom prst="rect">
            <a:avLst/>
          </a:prstGeom>
          <a:solidFill>
            <a:srgbClr val="F8FAFC"/>
          </a:solidFill>
          <a:ln w="9525">
            <a:solidFill>
              <a:srgbClr val="CBD5E1"/>
            </a:solidFill>
            <a:prstDash val="solid"/>
          </a:ln>
          <a:effectLst>
            <a:outerShdw sx="100000" sy="100000" kx="0" ky="0" algn="bl" rotWithShape="0" blurRad="88900" dist="38100" dir="8100000">
              <a:srgbClr val="000000">
                <a:alpha val="16000"/>
              </a:srgbClr>
            </a:outerShdw>
          </a:effectLst>
        </p:spPr>
      </p:sp>
      <p:sp>
        <p:nvSpPr>
          <p:cNvPr id="17" name="Shape 15"/>
          <p:cNvSpPr/>
          <p:nvPr/>
        </p:nvSpPr>
        <p:spPr>
          <a:xfrm>
            <a:off x="640080" y="3182112"/>
            <a:ext cx="64008" cy="1371600"/>
          </a:xfrm>
          <a:prstGeom prst="rect">
            <a:avLst/>
          </a:prstGeom>
          <a:solidFill>
            <a:srgbClr val="0EA5E9"/>
          </a:solidFill>
          <a:ln/>
        </p:spPr>
      </p:sp>
      <p:sp>
        <p:nvSpPr>
          <p:cNvPr id="18" name="Text 16"/>
          <p:cNvSpPr/>
          <p:nvPr/>
        </p:nvSpPr>
        <p:spPr>
          <a:xfrm>
            <a:off x="822960" y="3346704"/>
            <a:ext cx="3246120" cy="365760"/>
          </a:xfrm>
          <a:prstGeom prst="rect">
            <a:avLst/>
          </a:prstGeom>
          <a:noFill/>
          <a:ln/>
        </p:spPr>
        <p:txBody>
          <a:bodyPr wrap="square" lIns="0" tIns="0" rIns="0" bIns="0" rtlCol="0" anchor="ctr"/>
          <a:lstStyle/>
          <a:p>
            <a:pPr indent="0" marL="0">
              <a:buNone/>
            </a:pPr>
            <a:r>
              <a:rPr lang="en-US" sz="1400" b="1" dirty="0">
                <a:solidFill>
                  <a:srgbClr val="1E2761"/>
                </a:solidFill>
                <a:latin typeface="Georgia" pitchFamily="34" charset="0"/>
                <a:ea typeface="Georgia" pitchFamily="34" charset="-122"/>
                <a:cs typeface="Georgia" pitchFamily="34" charset="-120"/>
              </a:rPr>
              <a:t>Manga tools</a:t>
            </a:r>
            <a:endParaRPr lang="en-US" sz="1400" dirty="0"/>
          </a:p>
        </p:txBody>
      </p:sp>
      <p:sp>
        <p:nvSpPr>
          <p:cNvPr id="19" name="Text 17"/>
          <p:cNvSpPr/>
          <p:nvPr/>
        </p:nvSpPr>
        <p:spPr>
          <a:xfrm>
            <a:off x="822960" y="3749040"/>
            <a:ext cx="3246120" cy="64008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Panels, tone, lines, symmetry</a:t>
            </a:r>
            <a:endParaRPr lang="en-US" sz="1200" dirty="0"/>
          </a:p>
        </p:txBody>
      </p:sp>
      <p:sp>
        <p:nvSpPr>
          <p:cNvPr id="20" name="Shape 18"/>
          <p:cNvSpPr/>
          <p:nvPr/>
        </p:nvSpPr>
        <p:spPr>
          <a:xfrm>
            <a:off x="4480560" y="3182112"/>
            <a:ext cx="3611880" cy="1371600"/>
          </a:xfrm>
          <a:prstGeom prst="rect">
            <a:avLst/>
          </a:prstGeom>
          <a:solidFill>
            <a:srgbClr val="F8FAFC"/>
          </a:solidFill>
          <a:ln w="9525">
            <a:solidFill>
              <a:srgbClr val="CBD5E1"/>
            </a:solidFill>
            <a:prstDash val="solid"/>
          </a:ln>
          <a:effectLst>
            <a:outerShdw sx="100000" sy="100000" kx="0" ky="0" algn="bl" rotWithShape="0" blurRad="88900" dist="38100" dir="8100000">
              <a:srgbClr val="000000">
                <a:alpha val="16000"/>
              </a:srgbClr>
            </a:outerShdw>
          </a:effectLst>
        </p:spPr>
      </p:sp>
      <p:sp>
        <p:nvSpPr>
          <p:cNvPr id="21" name="Shape 19"/>
          <p:cNvSpPr/>
          <p:nvPr/>
        </p:nvSpPr>
        <p:spPr>
          <a:xfrm>
            <a:off x="4480560" y="3182112"/>
            <a:ext cx="64008" cy="1371600"/>
          </a:xfrm>
          <a:prstGeom prst="rect">
            <a:avLst/>
          </a:prstGeom>
          <a:solidFill>
            <a:srgbClr val="0EA5E9"/>
          </a:solidFill>
          <a:ln/>
        </p:spPr>
      </p:sp>
      <p:sp>
        <p:nvSpPr>
          <p:cNvPr id="22" name="Text 20"/>
          <p:cNvSpPr/>
          <p:nvPr/>
        </p:nvSpPr>
        <p:spPr>
          <a:xfrm>
            <a:off x="4663440" y="3346704"/>
            <a:ext cx="3246120" cy="365760"/>
          </a:xfrm>
          <a:prstGeom prst="rect">
            <a:avLst/>
          </a:prstGeom>
          <a:noFill/>
          <a:ln/>
        </p:spPr>
        <p:txBody>
          <a:bodyPr wrap="square" lIns="0" tIns="0" rIns="0" bIns="0" rtlCol="0" anchor="ctr"/>
          <a:lstStyle/>
          <a:p>
            <a:pPr indent="0" marL="0">
              <a:buNone/>
            </a:pPr>
            <a:r>
              <a:rPr lang="en-US" sz="1400" b="1" dirty="0">
                <a:solidFill>
                  <a:srgbClr val="1E2761"/>
                </a:solidFill>
                <a:latin typeface="Georgia" pitchFamily="34" charset="0"/>
                <a:ea typeface="Georgia" pitchFamily="34" charset="-122"/>
                <a:cs typeface="Georgia" pitchFamily="34" charset="-120"/>
              </a:rPr>
              <a:t>Text &amp; bubbles</a:t>
            </a:r>
            <a:endParaRPr lang="en-US" sz="1400" dirty="0"/>
          </a:p>
        </p:txBody>
      </p:sp>
      <p:sp>
        <p:nvSpPr>
          <p:cNvPr id="23" name="Text 21"/>
          <p:cNvSpPr/>
          <p:nvPr/>
        </p:nvSpPr>
        <p:spPr>
          <a:xfrm>
            <a:off x="4663440" y="3749040"/>
            <a:ext cx="3246120" cy="64008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Speech bubbles and text layers</a:t>
            </a:r>
            <a:endParaRPr lang="en-US" sz="1200" dirty="0"/>
          </a:p>
        </p:txBody>
      </p:sp>
      <p:sp>
        <p:nvSpPr>
          <p:cNvPr id="24" name="Shape 22"/>
          <p:cNvSpPr/>
          <p:nvPr/>
        </p:nvSpPr>
        <p:spPr>
          <a:xfrm>
            <a:off x="8321040" y="3182112"/>
            <a:ext cx="3611880" cy="1371600"/>
          </a:xfrm>
          <a:prstGeom prst="rect">
            <a:avLst/>
          </a:prstGeom>
          <a:solidFill>
            <a:srgbClr val="F8FAFC"/>
          </a:solidFill>
          <a:ln w="9525">
            <a:solidFill>
              <a:srgbClr val="CBD5E1"/>
            </a:solidFill>
            <a:prstDash val="solid"/>
          </a:ln>
          <a:effectLst>
            <a:outerShdw sx="100000" sy="100000" kx="0" ky="0" algn="bl" rotWithShape="0" blurRad="88900" dist="38100" dir="8100000">
              <a:srgbClr val="000000">
                <a:alpha val="16000"/>
              </a:srgbClr>
            </a:outerShdw>
          </a:effectLst>
        </p:spPr>
      </p:sp>
      <p:sp>
        <p:nvSpPr>
          <p:cNvPr id="25" name="Shape 23"/>
          <p:cNvSpPr/>
          <p:nvPr/>
        </p:nvSpPr>
        <p:spPr>
          <a:xfrm>
            <a:off x="8321040" y="3182112"/>
            <a:ext cx="64008" cy="1371600"/>
          </a:xfrm>
          <a:prstGeom prst="rect">
            <a:avLst/>
          </a:prstGeom>
          <a:solidFill>
            <a:srgbClr val="0EA5E9"/>
          </a:solidFill>
          <a:ln/>
        </p:spPr>
      </p:sp>
      <p:sp>
        <p:nvSpPr>
          <p:cNvPr id="26" name="Text 24"/>
          <p:cNvSpPr/>
          <p:nvPr/>
        </p:nvSpPr>
        <p:spPr>
          <a:xfrm>
            <a:off x="8503920" y="3346704"/>
            <a:ext cx="3246120" cy="365760"/>
          </a:xfrm>
          <a:prstGeom prst="rect">
            <a:avLst/>
          </a:prstGeom>
          <a:noFill/>
          <a:ln/>
        </p:spPr>
        <p:txBody>
          <a:bodyPr wrap="square" lIns="0" tIns="0" rIns="0" bIns="0" rtlCol="0" anchor="ctr"/>
          <a:lstStyle/>
          <a:p>
            <a:pPr indent="0" marL="0">
              <a:buNone/>
            </a:pPr>
            <a:r>
              <a:rPr lang="en-US" sz="1400" b="1" dirty="0">
                <a:solidFill>
                  <a:srgbClr val="1E2761"/>
                </a:solidFill>
                <a:latin typeface="Georgia" pitchFamily="34" charset="0"/>
                <a:ea typeface="Georgia" pitchFamily="34" charset="-122"/>
                <a:cs typeface="Georgia" pitchFamily="34" charset="-120"/>
              </a:rPr>
              <a:t>Import / export</a:t>
            </a:r>
            <a:endParaRPr lang="en-US" sz="1400" dirty="0"/>
          </a:p>
        </p:txBody>
      </p:sp>
      <p:sp>
        <p:nvSpPr>
          <p:cNvPr id="27" name="Text 25"/>
          <p:cNvSpPr/>
          <p:nvPr/>
        </p:nvSpPr>
        <p:spPr>
          <a:xfrm>
            <a:off x="8503920" y="3749040"/>
            <a:ext cx="3246120" cy="64008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Load references, export the artwork</a:t>
            </a:r>
            <a:endParaRPr lang="en-US" sz="1200" dirty="0"/>
          </a:p>
        </p:txBody>
      </p:sp>
      <p:sp>
        <p:nvSpPr>
          <p:cNvPr id="28" name="Text 26"/>
          <p:cNvSpPr/>
          <p:nvPr/>
        </p:nvSpPr>
        <p:spPr>
          <a:xfrm>
            <a:off x="640080" y="5166360"/>
            <a:ext cx="10972800" cy="548640"/>
          </a:xfrm>
          <a:prstGeom prst="rect">
            <a:avLst/>
          </a:prstGeom>
          <a:noFill/>
          <a:ln/>
        </p:spPr>
        <p:txBody>
          <a:bodyPr wrap="square" lIns="0" tIns="0" rIns="0" bIns="0" rtlCol="0" anchor="ctr"/>
          <a:lstStyle/>
          <a:p>
            <a:pPr indent="0" marL="0">
              <a:buNone/>
            </a:pPr>
            <a:r>
              <a:rPr lang="en-US" sz="1350" i="1" dirty="0">
                <a:solidFill>
                  <a:srgbClr val="64748B"/>
                </a:solidFill>
                <a:latin typeface="Calibri" pitchFamily="34" charset="0"/>
                <a:ea typeface="Calibri" pitchFamily="34" charset="-122"/>
                <a:cs typeface="Calibri" pitchFamily="34" charset="-120"/>
              </a:rPr>
              <a:t>Pixel operations are compiled from AssemblyScript to WebAssembly for native-like speed — all in the browser.</a:t>
            </a:r>
            <a:endParaRPr lang="en-US" sz="1350" dirty="0"/>
          </a:p>
        </p:txBody>
      </p:sp>
      <p:sp>
        <p:nvSpPr>
          <p:cNvPr id="25" name="Slide Number Placeholder 0"/>
          <p:cNvSpPr>
            <a:spLocks noGrp="1"/>
          </p:cNvSpPr>
          <p:nvPr>
            <p:ph type="sldNum" sz="quarter" idx="4294967295"/>
          </p:nvPr>
        </p:nvSpPr>
        <p:spPr>
          <a:xfrm>
            <a:off x="11612880" y="6455664"/>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latin typeface="Calibri"/>
                <a:ea typeface="Calibri"/>
                <a:cs typeface="Calibri"/>
              </a:defRPr>
            </a:lvl1pPr>
          </a:lstStyle>
          <a:p>
            <a:pPr algn="l"/>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01752"/>
            <a:ext cx="11064240" cy="274320"/>
          </a:xfrm>
          <a:prstGeom prst="rect">
            <a:avLst/>
          </a:prstGeom>
          <a:noFill/>
          <a:ln/>
        </p:spPr>
        <p:txBody>
          <a:bodyPr wrap="square" lIns="0" tIns="0" rIns="0" bIns="0" rtlCol="0" anchor="ctr"/>
          <a:lstStyle/>
          <a:p>
            <a:pPr indent="0" marL="0">
              <a:buNone/>
            </a:pPr>
            <a:r>
              <a:rPr lang="en-US" sz="1100" b="1" spc="200" kern="0" dirty="0">
                <a:solidFill>
                  <a:srgbClr val="FF5A5F"/>
                </a:solidFill>
                <a:latin typeface="Calibri" pitchFamily="34" charset="0"/>
                <a:ea typeface="Calibri" pitchFamily="34" charset="-122"/>
                <a:cs typeface="Calibri" pitchFamily="34" charset="-120"/>
              </a:rPr>
              <a:t>07 · STUDIO &amp; AI</a:t>
            </a:r>
            <a:endParaRPr lang="en-US" sz="110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Georgia" pitchFamily="34" charset="0"/>
                <a:ea typeface="Georgia" pitchFamily="34" charset="-122"/>
                <a:cs typeface="Georgia" pitchFamily="34" charset="-120"/>
              </a:rPr>
              <a:t>On-device AI assists</a:t>
            </a:r>
            <a:endParaRPr lang="en-US" sz="3000" dirty="0"/>
          </a:p>
        </p:txBody>
      </p:sp>
      <p:pic>
        <p:nvPicPr>
          <p:cNvPr id="4" name="Image 0" descr="studioAi">    </p:cNvPr>
          <p:cNvPicPr>
            <a:picLocks noChangeAspect="1"/>
          </p:cNvPicPr>
          <p:nvPr/>
        </p:nvPicPr>
        <p:blipFill>
          <a:blip r:embed="rId1"/>
          <a:stretch>
            <a:fillRect/>
          </a:stretch>
        </p:blipFill>
        <p:spPr>
          <a:xfrm>
            <a:off x="548640" y="2402554"/>
            <a:ext cx="7040880" cy="2875852"/>
          </a:xfrm>
          <a:prstGeom prst="rect">
            <a:avLst/>
          </a:prstGeom>
        </p:spPr>
      </p:pic>
      <p:sp>
        <p:nvSpPr>
          <p:cNvPr id="5" name="Text 2"/>
          <p:cNvSpPr/>
          <p:nvPr/>
        </p:nvSpPr>
        <p:spPr>
          <a:xfrm>
            <a:off x="7772400" y="1691640"/>
            <a:ext cx="3931920" cy="4572000"/>
          </a:xfrm>
          <a:prstGeom prst="rect">
            <a:avLst/>
          </a:prstGeom>
          <a:noFill/>
          <a:ln/>
        </p:spPr>
        <p:txBody>
          <a:bodyPr wrap="square" lIns="0" tIns="0" rIns="0" bIns="0" rtlCol="0" anchor="t">
            <a:spAutoFit/>
          </a:bodyPr>
          <a:lstStyle/>
          <a:p>
            <a:pPr marL="203200" indent="-203200">
              <a:spcAft>
                <a:spcPts val="800"/>
              </a:spcAft>
              <a:buSzPct val="100000"/>
              <a:buChar char="•"/>
            </a:pPr>
            <a:r>
              <a:rPr lang="en-US" sz="1350" b="1" dirty="0">
                <a:solidFill>
                  <a:srgbClr val="1E293B"/>
                </a:solidFill>
                <a:latin typeface="Calibri" pitchFamily="34" charset="0"/>
                <a:ea typeface="Calibri" pitchFamily="34" charset="-122"/>
                <a:cs typeface="Calibri" pitchFamily="34" charset="-120"/>
              </a:rPr>
              <a:t>ONNX Runtime Web — inference in the browser</a:t>
            </a:r>
            <a:endParaRPr lang="en-US" sz="1350" dirty="0"/>
          </a:p>
          <a:p>
            <a:pPr marL="203200" indent="-203200">
              <a:spcAft>
                <a:spcPts val="800"/>
              </a:spcAft>
              <a:buSzPct val="100000"/>
              <a:buChar char="•"/>
            </a:pPr>
            <a:r>
              <a:rPr lang="en-US" sz="1350" b="1" dirty="0">
                <a:solidFill>
                  <a:srgbClr val="1E293B"/>
                </a:solidFill>
                <a:latin typeface="Calibri" pitchFamily="34" charset="0"/>
                <a:ea typeface="Calibri" pitchFamily="34" charset="-122"/>
                <a:cs typeface="Calibri" pitchFamily="34" charset="-120"/>
              </a:rPr>
              <a:t>Panel detection (YOLO)</a:t>
            </a:r>
            <a:endParaRPr lang="en-US" sz="1350" dirty="0"/>
          </a:p>
          <a:p>
            <a:pPr marL="203200" indent="-203200">
              <a:spcAft>
                <a:spcPts val="800"/>
              </a:spcAft>
              <a:buSzPct val="100000"/>
              <a:buChar char="•"/>
            </a:pPr>
            <a:r>
              <a:rPr lang="en-US" sz="1350" b="1" dirty="0">
                <a:solidFill>
                  <a:srgbClr val="1E293B"/>
                </a:solidFill>
                <a:latin typeface="Calibri" pitchFamily="34" charset="0"/>
                <a:ea typeface="Calibri" pitchFamily="34" charset="-122"/>
                <a:cs typeface="Calibri" pitchFamily="34" charset="-120"/>
              </a:rPr>
              <a:t>Smart selection (MobileSAM)</a:t>
            </a:r>
            <a:endParaRPr lang="en-US" sz="1350" dirty="0"/>
          </a:p>
          <a:p>
            <a:pPr marL="203200" indent="-203200">
              <a:spcAft>
                <a:spcPts val="800"/>
              </a:spcAft>
              <a:buSzPct val="100000"/>
              <a:buChar char="•"/>
            </a:pPr>
            <a:r>
              <a:rPr lang="en-US" sz="1350" b="1" dirty="0">
                <a:solidFill>
                  <a:srgbClr val="1E293B"/>
                </a:solidFill>
                <a:latin typeface="Calibri" pitchFamily="34" charset="0"/>
                <a:ea typeface="Calibri" pitchFamily="34" charset="-122"/>
                <a:cs typeface="Calibri" pitchFamily="34" charset="-120"/>
              </a:rPr>
              <a:t>Colorization (DeOldify)</a:t>
            </a:r>
            <a:endParaRPr lang="en-US" sz="1350" dirty="0"/>
          </a:p>
          <a:p>
            <a:pPr marL="203200" indent="-203200">
              <a:spcAft>
                <a:spcPts val="800"/>
              </a:spcAft>
              <a:buSzPct val="100000"/>
              <a:buChar char="•"/>
            </a:pPr>
            <a:r>
              <a:rPr lang="en-US" sz="1350" b="1" dirty="0">
                <a:solidFill>
                  <a:srgbClr val="1E293B"/>
                </a:solidFill>
                <a:latin typeface="Calibri" pitchFamily="34" charset="0"/>
                <a:ea typeface="Calibri" pitchFamily="34" charset="-122"/>
                <a:cs typeface="Calibri" pitchFamily="34" charset="-120"/>
              </a:rPr>
              <a:t>Heuristic fallback if models unavailable</a:t>
            </a:r>
            <a:endParaRPr lang="en-US" sz="1350" dirty="0"/>
          </a:p>
          <a:p>
            <a:pPr marL="203200" indent="-203200">
              <a:spcAft>
                <a:spcPts val="800"/>
              </a:spcAft>
              <a:buSzPct val="100000"/>
              <a:buChar char="•"/>
            </a:pPr>
            <a:r>
              <a:rPr lang="en-US" sz="1350" b="1" dirty="0">
                <a:solidFill>
                  <a:srgbClr val="1E293B"/>
                </a:solidFill>
                <a:latin typeface="Calibri" pitchFamily="34" charset="0"/>
                <a:ea typeface="Calibri" pitchFamily="34" charset="-122"/>
                <a:cs typeface="Calibri" pitchFamily="34" charset="-120"/>
              </a:rPr>
              <a:t>Privacy: images never leave the client</a:t>
            </a:r>
            <a:endParaRPr lang="en-US" sz="1350" dirty="0"/>
          </a:p>
          <a:p>
            <a:pPr marL="203200" indent="-203200">
              <a:spcAft>
                <a:spcPts val="800"/>
              </a:spcAft>
              <a:buSzPct val="100000"/>
              <a:buChar char="•"/>
            </a:pPr>
            <a:r>
              <a:rPr lang="en-US" sz="1350" b="1" dirty="0">
                <a:solidFill>
                  <a:srgbClr val="1E293B"/>
                </a:solidFill>
                <a:latin typeface="Calibri" pitchFamily="34" charset="0"/>
                <a:ea typeface="Calibri" pitchFamily="34" charset="-122"/>
                <a:cs typeface="Calibri" pitchFamily="34" charset="-120"/>
              </a:rPr>
              <a:t>Cost: zero per-inference server cost</a:t>
            </a:r>
            <a:endParaRPr lang="en-US" sz="1350" dirty="0"/>
          </a:p>
        </p:txBody>
      </p:sp>
      <p:sp>
        <p:nvSpPr>
          <p:cNvPr id="25" name="Slide Number Placeholder 0"/>
          <p:cNvSpPr>
            <a:spLocks noGrp="1"/>
          </p:cNvSpPr>
          <p:nvPr>
            <p:ph type="sldNum" sz="quarter" idx="4294967295"/>
          </p:nvPr>
        </p:nvSpPr>
        <p:spPr>
          <a:xfrm>
            <a:off x="11612880" y="6455664"/>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latin typeface="Calibri"/>
                <a:ea typeface="Calibri"/>
                <a:cs typeface="Calibri"/>
              </a:defRPr>
            </a:lvl1pPr>
          </a:lstStyle>
          <a:p>
            <a:pPr algn="l"/>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4142B"/>
        </a:solidFill>
      </p:bgPr>
    </p:bg>
    <p:spTree>
      <p:nvGrpSpPr>
        <p:cNvPr id="1" name=""/>
        <p:cNvGrpSpPr/>
        <p:nvPr/>
      </p:nvGrpSpPr>
      <p:grpSpPr>
        <a:xfrm>
          <a:off x="0" y="0"/>
          <a:ext cx="0" cy="0"/>
          <a:chOff x="0" y="0"/>
          <a:chExt cx="0" cy="0"/>
        </a:xfrm>
      </p:grpSpPr>
      <p:sp>
        <p:nvSpPr>
          <p:cNvPr id="2" name="Text 0"/>
          <p:cNvSpPr/>
          <p:nvPr/>
        </p:nvSpPr>
        <p:spPr>
          <a:xfrm>
            <a:off x="731520" y="1280160"/>
            <a:ext cx="3657600" cy="2194560"/>
          </a:xfrm>
          <a:prstGeom prst="rect">
            <a:avLst/>
          </a:prstGeom>
          <a:noFill/>
          <a:ln/>
        </p:spPr>
        <p:txBody>
          <a:bodyPr wrap="square" lIns="0" tIns="0" rIns="0" bIns="0" rtlCol="0" anchor="ctr"/>
          <a:lstStyle/>
          <a:p>
            <a:pPr indent="0" marL="0">
              <a:buNone/>
            </a:pPr>
            <a:r>
              <a:rPr lang="en-US" sz="15000" b="1" dirty="0">
                <a:solidFill>
                  <a:srgbClr val="FF5A5F"/>
                </a:solidFill>
                <a:latin typeface="Georgia" pitchFamily="34" charset="0"/>
                <a:ea typeface="Georgia" pitchFamily="34" charset="-122"/>
                <a:cs typeface="Georgia" pitchFamily="34" charset="-120"/>
              </a:rPr>
              <a:t>08</a:t>
            </a:r>
            <a:endParaRPr lang="en-US" sz="15000" dirty="0"/>
          </a:p>
        </p:txBody>
      </p:sp>
      <p:sp>
        <p:nvSpPr>
          <p:cNvPr id="3" name="Text 1"/>
          <p:cNvSpPr/>
          <p:nvPr/>
        </p:nvSpPr>
        <p:spPr>
          <a:xfrm>
            <a:off x="822960" y="3657600"/>
            <a:ext cx="10515600" cy="1097280"/>
          </a:xfrm>
          <a:prstGeom prst="rect">
            <a:avLst/>
          </a:prstGeom>
          <a:noFill/>
          <a:ln/>
        </p:spPr>
        <p:txBody>
          <a:bodyPr wrap="square" lIns="0" tIns="0" rIns="0" bIns="0"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Quality &amp; Roadmap</a:t>
            </a:r>
            <a:endParaRPr lang="en-US" sz="4000" dirty="0"/>
          </a:p>
        </p:txBody>
      </p:sp>
      <p:sp>
        <p:nvSpPr>
          <p:cNvPr id="4" name="Text 2"/>
          <p:cNvSpPr/>
          <p:nvPr/>
        </p:nvSpPr>
        <p:spPr>
          <a:xfrm>
            <a:off x="868680" y="4709160"/>
            <a:ext cx="10058400" cy="1097280"/>
          </a:xfrm>
          <a:prstGeom prst="rect">
            <a:avLst/>
          </a:prstGeom>
          <a:noFill/>
          <a:ln/>
        </p:spPr>
        <p:txBody>
          <a:bodyPr wrap="square" lIns="0" tIns="0" rIns="0" bIns="0" rtlCol="0" anchor="ctr"/>
          <a:lstStyle/>
          <a:p>
            <a:pPr indent="0" marL="0">
              <a:buNone/>
            </a:pPr>
            <a:r>
              <a:rPr lang="en-US" sz="1600" dirty="0">
                <a:solidFill>
                  <a:srgbClr val="E8EDF9"/>
                </a:solidFill>
                <a:latin typeface="Calibri" pitchFamily="34" charset="0"/>
                <a:ea typeface="Calibri" pitchFamily="34" charset="-122"/>
                <a:cs typeface="Calibri" pitchFamily="34" charset="-120"/>
              </a:rPr>
              <a:t>How we verified it, what's next, and a live demo</a:t>
            </a:r>
            <a:endParaRPr lang="en-US" sz="16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01752"/>
            <a:ext cx="11064240" cy="274320"/>
          </a:xfrm>
          <a:prstGeom prst="rect">
            <a:avLst/>
          </a:prstGeom>
          <a:noFill/>
          <a:ln/>
        </p:spPr>
        <p:txBody>
          <a:bodyPr wrap="square" lIns="0" tIns="0" rIns="0" bIns="0" rtlCol="0" anchor="ctr"/>
          <a:lstStyle/>
          <a:p>
            <a:pPr indent="0" marL="0">
              <a:buNone/>
            </a:pPr>
            <a:r>
              <a:rPr lang="en-US" sz="1100" b="1" spc="200" kern="0" dirty="0">
                <a:solidFill>
                  <a:srgbClr val="FF5A5F"/>
                </a:solidFill>
                <a:latin typeface="Calibri" pitchFamily="34" charset="0"/>
                <a:ea typeface="Calibri" pitchFamily="34" charset="-122"/>
                <a:cs typeface="Calibri" pitchFamily="34" charset="-120"/>
              </a:rPr>
              <a:t>08 · QUALITY</a:t>
            </a:r>
            <a:endParaRPr lang="en-US" sz="110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Georgia" pitchFamily="34" charset="0"/>
                <a:ea typeface="Georgia" pitchFamily="34" charset="-122"/>
                <a:cs typeface="Georgia" pitchFamily="34" charset="-120"/>
              </a:rPr>
              <a:t>Verification &amp; quality</a:t>
            </a:r>
            <a:endParaRPr lang="en-US" sz="3000" dirty="0"/>
          </a:p>
        </p:txBody>
      </p:sp>
      <p:graphicFrame>
        <p:nvGraphicFramePr>
          <p:cNvPr id="4" name="Chart 0" descr=""/>
          <p:cNvGraphicFramePr/>
          <p:nvPr/>
        </p:nvGraphicFramePr>
        <p:xfrm>
          <a:off x="640080" y="1691640"/>
          <a:ext cx="6035040" cy="42062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7132320" y="1828800"/>
            <a:ext cx="4572000" cy="4023360"/>
          </a:xfrm>
          <a:prstGeom prst="rect">
            <a:avLst/>
          </a:prstGeom>
          <a:noFill/>
          <a:ln/>
        </p:spPr>
        <p:txBody>
          <a:bodyPr wrap="square" lIns="0" tIns="0" rIns="0" bIns="0" rtlCol="0" anchor="t">
            <a:spAutoFit/>
          </a:bodyPr>
          <a:lstStyle/>
          <a:p>
            <a:pPr marL="203200" indent="-203200">
              <a:spcAft>
                <a:spcPts val="1100"/>
              </a:spcAft>
              <a:buSzPct val="100000"/>
              <a:buChar char="•"/>
            </a:pPr>
            <a:r>
              <a:rPr lang="en-US" sz="1450" b="1" dirty="0">
                <a:solidFill>
                  <a:srgbClr val="1E293B"/>
                </a:solidFill>
                <a:latin typeface="Calibri" pitchFamily="34" charset="0"/>
                <a:ea typeface="Calibri" pitchFamily="34" charset="-122"/>
                <a:cs typeface="Calibri" pitchFamily="34" charset="-120"/>
              </a:rPr>
              <a:t>Green across the board</a:t>
            </a:r>
            <a:endParaRPr lang="en-US" sz="1450" dirty="0"/>
          </a:p>
          <a:p>
            <a:pPr marL="203200" indent="-203200">
              <a:spcAft>
                <a:spcPts val="1100"/>
              </a:spcAft>
              <a:buSzPct val="100000"/>
              <a:buChar char="•"/>
            </a:pPr>
            <a:r>
              <a:rPr lang="en-US" sz="1450" b="1" dirty="0">
                <a:solidFill>
                  <a:srgbClr val="1E293B"/>
                </a:solidFill>
                <a:latin typeface="Calibri" pitchFamily="34" charset="0"/>
                <a:ea typeface="Calibri" pitchFamily="34" charset="-122"/>
                <a:cs typeface="Calibri" pitchFamily="34" charset="-120"/>
              </a:rPr>
              <a:t>API: 46 jest tests + build pass</a:t>
            </a:r>
            <a:endParaRPr lang="en-US" sz="1450" dirty="0"/>
          </a:p>
          <a:p>
            <a:pPr marL="203200" indent="-203200">
              <a:spcAft>
                <a:spcPts val="1100"/>
              </a:spcAft>
              <a:buSzPct val="100000"/>
              <a:buChar char="•"/>
            </a:pPr>
            <a:r>
              <a:rPr lang="en-US" sz="1450" b="1" dirty="0">
                <a:solidFill>
                  <a:srgbClr val="1E293B"/>
                </a:solidFill>
                <a:latin typeface="Calibri" pitchFamily="34" charset="0"/>
                <a:ea typeface="Calibri" pitchFamily="34" charset="-122"/>
                <a:cs typeface="Calibri" pitchFamily="34" charset="-120"/>
              </a:rPr>
              <a:t>Web: 124 vitest tests + tsc -b + build pass</a:t>
            </a:r>
            <a:endParaRPr lang="en-US" sz="1450" dirty="0"/>
          </a:p>
          <a:p>
            <a:pPr marL="203200" indent="-203200">
              <a:spcAft>
                <a:spcPts val="1100"/>
              </a:spcAft>
              <a:buSzPct val="100000"/>
              <a:buChar char="•"/>
            </a:pPr>
            <a:r>
              <a:rPr lang="en-US" sz="1450" b="1" dirty="0">
                <a:solidFill>
                  <a:srgbClr val="1E293B"/>
                </a:solidFill>
                <a:latin typeface="Calibri" pitchFamily="34" charset="0"/>
                <a:ea typeface="Calibri" pitchFamily="34" charset="-122"/>
                <a:cs typeface="Calibri" pitchFamily="34" charset="-120"/>
              </a:rPr>
              <a:t>3 live end-to-end smokes against real DB</a:t>
            </a:r>
            <a:endParaRPr lang="en-US" sz="1450" dirty="0"/>
          </a:p>
          <a:p>
            <a:pPr marL="203200" indent="-203200">
              <a:spcAft>
                <a:spcPts val="1100"/>
              </a:spcAft>
              <a:buSzPct val="100000"/>
              <a:buChar char="•"/>
            </a:pPr>
            <a:r>
              <a:rPr lang="en-US" sz="1450" b="1" dirty="0">
                <a:solidFill>
                  <a:srgbClr val="1E293B"/>
                </a:solidFill>
                <a:latin typeface="Calibri" pitchFamily="34" charset="0"/>
                <a:ea typeface="Calibri" pitchFamily="34" charset="-122"/>
                <a:cs typeface="Calibri" pitchFamily="34" charset="-120"/>
              </a:rPr>
              <a:t>0 failures; integration via PR #5</a:t>
            </a:r>
            <a:endParaRPr lang="en-US" sz="1450" dirty="0"/>
          </a:p>
        </p:txBody>
      </p:sp>
      <p:sp>
        <p:nvSpPr>
          <p:cNvPr id="25" name="Slide Number Placeholder 0"/>
          <p:cNvSpPr>
            <a:spLocks noGrp="1"/>
          </p:cNvSpPr>
          <p:nvPr>
            <p:ph type="sldNum" sz="quarter" idx="4294967295"/>
          </p:nvPr>
        </p:nvSpPr>
        <p:spPr>
          <a:xfrm>
            <a:off x="11612880" y="6455664"/>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latin typeface="Calibri"/>
                <a:ea typeface="Calibri"/>
                <a:cs typeface="Calibri"/>
              </a:defRPr>
            </a:lvl1pPr>
          </a:lstStyle>
          <a:p>
            <a:pPr algn="l"/>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01752"/>
            <a:ext cx="11064240" cy="274320"/>
          </a:xfrm>
          <a:prstGeom prst="rect">
            <a:avLst/>
          </a:prstGeom>
          <a:noFill/>
          <a:ln/>
        </p:spPr>
        <p:txBody>
          <a:bodyPr wrap="square" lIns="0" tIns="0" rIns="0" bIns="0" rtlCol="0" anchor="ctr"/>
          <a:lstStyle/>
          <a:p>
            <a:pPr indent="0" marL="0">
              <a:buNone/>
            </a:pPr>
            <a:r>
              <a:rPr lang="en-US" sz="1100" b="1" spc="200" kern="0" dirty="0">
                <a:solidFill>
                  <a:srgbClr val="FF5A5F"/>
                </a:solidFill>
                <a:latin typeface="Calibri" pitchFamily="34" charset="0"/>
                <a:ea typeface="Calibri" pitchFamily="34" charset="-122"/>
                <a:cs typeface="Calibri" pitchFamily="34" charset="-120"/>
              </a:rPr>
              <a:t>08 · QUALITY</a:t>
            </a:r>
            <a:endParaRPr lang="en-US" sz="110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Georgia" pitchFamily="34" charset="0"/>
                <a:ea typeface="Georgia" pitchFamily="34" charset="-122"/>
                <a:cs typeface="Georgia" pitchFamily="34" charset="-120"/>
              </a:rPr>
              <a:t>Roadmap &amp; backlog</a:t>
            </a:r>
            <a:endParaRPr lang="en-US" sz="3000" dirty="0"/>
          </a:p>
        </p:txBody>
      </p:sp>
      <p:sp>
        <p:nvSpPr>
          <p:cNvPr id="4" name="Shape 2"/>
          <p:cNvSpPr/>
          <p:nvPr/>
        </p:nvSpPr>
        <p:spPr>
          <a:xfrm>
            <a:off x="640080" y="1645920"/>
            <a:ext cx="5394960" cy="4206240"/>
          </a:xfrm>
          <a:prstGeom prst="rect">
            <a:avLst/>
          </a:prstGeom>
          <a:solidFill>
            <a:srgbClr val="F8FAFC"/>
          </a:solidFill>
          <a:ln w="9525">
            <a:solidFill>
              <a:srgbClr val="CBD5E1"/>
            </a:solidFill>
            <a:prstDash val="solid"/>
          </a:ln>
          <a:effectLst>
            <a:outerShdw sx="100000" sy="100000" kx="0" ky="0" algn="bl" rotWithShape="0" blurRad="88900" dist="38100" dir="8100000">
              <a:srgbClr val="000000">
                <a:alpha val="16000"/>
              </a:srgbClr>
            </a:outerShdw>
          </a:effectLst>
        </p:spPr>
      </p:sp>
      <p:sp>
        <p:nvSpPr>
          <p:cNvPr id="5" name="Shape 3"/>
          <p:cNvSpPr/>
          <p:nvPr/>
        </p:nvSpPr>
        <p:spPr>
          <a:xfrm>
            <a:off x="640080" y="1645920"/>
            <a:ext cx="64008" cy="4206240"/>
          </a:xfrm>
          <a:prstGeom prst="rect">
            <a:avLst/>
          </a:prstGeom>
          <a:solidFill>
            <a:srgbClr val="10B981"/>
          </a:solidFill>
          <a:ln/>
        </p:spPr>
      </p:sp>
      <p:sp>
        <p:nvSpPr>
          <p:cNvPr id="6" name="Text 4"/>
          <p:cNvSpPr/>
          <p:nvPr/>
        </p:nvSpPr>
        <p:spPr>
          <a:xfrm>
            <a:off x="868680" y="1828800"/>
            <a:ext cx="4937760" cy="365760"/>
          </a:xfrm>
          <a:prstGeom prst="rect">
            <a:avLst/>
          </a:prstGeom>
          <a:noFill/>
          <a:ln/>
        </p:spPr>
        <p:txBody>
          <a:bodyPr wrap="square" lIns="0" tIns="0" rIns="0" bIns="0" rtlCol="0" anchor="ctr"/>
          <a:lstStyle/>
          <a:p>
            <a:pPr indent="0" marL="0">
              <a:buNone/>
            </a:pPr>
            <a:r>
              <a:rPr lang="en-US" sz="1700" b="1" dirty="0">
                <a:solidFill>
                  <a:srgbClr val="10B981"/>
                </a:solidFill>
                <a:latin typeface="Georgia" pitchFamily="34" charset="0"/>
                <a:ea typeface="Georgia" pitchFamily="34" charset="-122"/>
                <a:cs typeface="Georgia" pitchFamily="34" charset="-120"/>
              </a:rPr>
              <a:t>SHIPPED</a:t>
            </a:r>
            <a:endParaRPr lang="en-US" sz="1700" dirty="0"/>
          </a:p>
        </p:txBody>
      </p:sp>
      <p:sp>
        <p:nvSpPr>
          <p:cNvPr id="7" name="Text 5"/>
          <p:cNvSpPr/>
          <p:nvPr/>
        </p:nvSpPr>
        <p:spPr>
          <a:xfrm>
            <a:off x="868680" y="2331720"/>
            <a:ext cx="4983480" cy="3291840"/>
          </a:xfrm>
          <a:prstGeom prst="rect">
            <a:avLst/>
          </a:prstGeom>
          <a:noFill/>
          <a:ln/>
        </p:spPr>
        <p:txBody>
          <a:bodyPr wrap="square" lIns="0" tIns="0" rIns="0" bIns="0" rtlCol="0" anchor="t">
            <a:spAutoFit/>
          </a:bodyPr>
          <a:lstStyle/>
          <a:p>
            <a:pPr marL="203200" indent="-203200">
              <a:spcAft>
                <a:spcPts val="1100"/>
              </a:spcAft>
              <a:buSzPct val="100000"/>
              <a:buChar char="•"/>
            </a:pPr>
            <a:r>
              <a:rPr lang="en-US" sz="1400" b="1" dirty="0">
                <a:solidFill>
                  <a:srgbClr val="1E293B"/>
                </a:solidFill>
                <a:latin typeface="Calibri" pitchFamily="34" charset="0"/>
                <a:ea typeface="Calibri" pitchFamily="34" charset="-122"/>
                <a:cs typeface="Calibri" pitchFamily="34" charset="-120"/>
              </a:rPr>
              <a:t>Full pipeline: proposal → decision → earnings</a:t>
            </a:r>
            <a:endParaRPr lang="en-US" sz="1400" dirty="0"/>
          </a:p>
          <a:p>
            <a:pPr marL="203200" indent="-203200">
              <a:spcAft>
                <a:spcPts val="1100"/>
              </a:spcAft>
              <a:buSzPct val="100000"/>
              <a:buChar char="•"/>
            </a:pPr>
            <a:r>
              <a:rPr lang="en-US" sz="1400" b="1" dirty="0">
                <a:solidFill>
                  <a:srgbClr val="1E293B"/>
                </a:solidFill>
                <a:latin typeface="Calibri" pitchFamily="34" charset="0"/>
                <a:ea typeface="Calibri" pitchFamily="34" charset="-122"/>
                <a:cs typeface="Calibri" pitchFamily="34" charset="-120"/>
              </a:rPr>
              <a:t>All 5 roles, RBAC, notifications</a:t>
            </a:r>
            <a:endParaRPr lang="en-US" sz="1400" dirty="0"/>
          </a:p>
          <a:p>
            <a:pPr marL="203200" indent="-203200">
              <a:spcAft>
                <a:spcPts val="1100"/>
              </a:spcAft>
              <a:buSzPct val="100000"/>
              <a:buChar char="•"/>
            </a:pPr>
            <a:r>
              <a:rPr lang="en-US" sz="1400" b="1" dirty="0">
                <a:solidFill>
                  <a:srgbClr val="1E293B"/>
                </a:solidFill>
                <a:latin typeface="Calibri" pitchFamily="34" charset="0"/>
                <a:ea typeface="Calibri" pitchFamily="34" charset="-122"/>
                <a:cs typeface="Calibri" pitchFamily="34" charset="-120"/>
              </a:rPr>
              <a:t>In-browser Studio + on-device AI</a:t>
            </a:r>
            <a:endParaRPr lang="en-US" sz="1400" dirty="0"/>
          </a:p>
          <a:p>
            <a:pPr marL="203200" indent="-203200">
              <a:spcAft>
                <a:spcPts val="1100"/>
              </a:spcAft>
              <a:buSzPct val="100000"/>
              <a:buChar char="•"/>
            </a:pPr>
            <a:r>
              <a:rPr lang="en-US" sz="1400" b="1" dirty="0">
                <a:solidFill>
                  <a:srgbClr val="1E293B"/>
                </a:solidFill>
                <a:latin typeface="Calibri" pitchFamily="34" charset="0"/>
                <a:ea typeface="Calibri" pitchFamily="34" charset="-122"/>
                <a:cs typeface="Calibri" pitchFamily="34" charset="-120"/>
              </a:rPr>
              <a:t>29-table schema, enforced state machines</a:t>
            </a:r>
            <a:endParaRPr lang="en-US" sz="1400" dirty="0"/>
          </a:p>
        </p:txBody>
      </p:sp>
      <p:sp>
        <p:nvSpPr>
          <p:cNvPr id="8" name="Shape 6"/>
          <p:cNvSpPr/>
          <p:nvPr/>
        </p:nvSpPr>
        <p:spPr>
          <a:xfrm>
            <a:off x="6309360" y="1645920"/>
            <a:ext cx="5303520" cy="4206240"/>
          </a:xfrm>
          <a:prstGeom prst="rect">
            <a:avLst/>
          </a:prstGeom>
          <a:solidFill>
            <a:srgbClr val="F8FAFC"/>
          </a:solidFill>
          <a:ln w="9525">
            <a:solidFill>
              <a:srgbClr val="CBD5E1"/>
            </a:solidFill>
            <a:prstDash val="solid"/>
          </a:ln>
          <a:effectLst>
            <a:outerShdw sx="100000" sy="100000" kx="0" ky="0" algn="bl" rotWithShape="0" blurRad="88900" dist="38100" dir="8100000">
              <a:srgbClr val="000000">
                <a:alpha val="16000"/>
              </a:srgbClr>
            </a:outerShdw>
          </a:effectLst>
        </p:spPr>
      </p:sp>
      <p:sp>
        <p:nvSpPr>
          <p:cNvPr id="9" name="Shape 7"/>
          <p:cNvSpPr/>
          <p:nvPr/>
        </p:nvSpPr>
        <p:spPr>
          <a:xfrm>
            <a:off x="6309360" y="1645920"/>
            <a:ext cx="64008" cy="4206240"/>
          </a:xfrm>
          <a:prstGeom prst="rect">
            <a:avLst/>
          </a:prstGeom>
          <a:solidFill>
            <a:srgbClr val="FF5A5F"/>
          </a:solidFill>
          <a:ln/>
        </p:spPr>
      </p:sp>
      <p:sp>
        <p:nvSpPr>
          <p:cNvPr id="10" name="Text 8"/>
          <p:cNvSpPr/>
          <p:nvPr/>
        </p:nvSpPr>
        <p:spPr>
          <a:xfrm>
            <a:off x="6537960" y="1828800"/>
            <a:ext cx="4846320" cy="365760"/>
          </a:xfrm>
          <a:prstGeom prst="rect">
            <a:avLst/>
          </a:prstGeom>
          <a:noFill/>
          <a:ln/>
        </p:spPr>
        <p:txBody>
          <a:bodyPr wrap="square" lIns="0" tIns="0" rIns="0" bIns="0" rtlCol="0" anchor="ctr"/>
          <a:lstStyle/>
          <a:p>
            <a:pPr indent="0" marL="0">
              <a:buNone/>
            </a:pPr>
            <a:r>
              <a:rPr lang="en-US" sz="1700" b="1" dirty="0">
                <a:solidFill>
                  <a:srgbClr val="FF5A5F"/>
                </a:solidFill>
                <a:latin typeface="Georgia" pitchFamily="34" charset="0"/>
                <a:ea typeface="Georgia" pitchFamily="34" charset="-122"/>
                <a:cs typeface="Georgia" pitchFamily="34" charset="-120"/>
              </a:rPr>
              <a:t>NEXT</a:t>
            </a:r>
            <a:endParaRPr lang="en-US" sz="1700" dirty="0"/>
          </a:p>
        </p:txBody>
      </p:sp>
      <p:sp>
        <p:nvSpPr>
          <p:cNvPr id="11" name="Text 9"/>
          <p:cNvSpPr/>
          <p:nvPr/>
        </p:nvSpPr>
        <p:spPr>
          <a:xfrm>
            <a:off x="6537960" y="2331720"/>
            <a:ext cx="4892040" cy="3291840"/>
          </a:xfrm>
          <a:prstGeom prst="rect">
            <a:avLst/>
          </a:prstGeom>
          <a:noFill/>
          <a:ln/>
        </p:spPr>
        <p:txBody>
          <a:bodyPr wrap="square" lIns="0" tIns="0" rIns="0" bIns="0" rtlCol="0" anchor="t">
            <a:spAutoFit/>
          </a:bodyPr>
          <a:lstStyle/>
          <a:p>
            <a:pPr marL="203200" indent="-203200">
              <a:spcAft>
                <a:spcPts val="1100"/>
              </a:spcAft>
              <a:buSzPct val="100000"/>
              <a:buChar char="•"/>
            </a:pPr>
            <a:r>
              <a:rPr lang="en-US" sz="1400" b="1" dirty="0">
                <a:solidFill>
                  <a:srgbClr val="1E293B"/>
                </a:solidFill>
                <a:latin typeface="Calibri" pitchFamily="34" charset="0"/>
                <a:ea typeface="Calibri" pitchFamily="34" charset="-122"/>
                <a:cs typeface="Calibri" pitchFamily="34" charset="-120"/>
              </a:rPr>
              <a:t>Wire Audit_Log + System_Config tables</a:t>
            </a:r>
            <a:endParaRPr lang="en-US" sz="1400" dirty="0"/>
          </a:p>
          <a:p>
            <a:pPr marL="203200" indent="-203200">
              <a:spcAft>
                <a:spcPts val="1100"/>
              </a:spcAft>
              <a:buSzPct val="100000"/>
              <a:buChar char="•"/>
            </a:pPr>
            <a:r>
              <a:rPr lang="en-US" sz="1400" b="1" dirty="0">
                <a:solidFill>
                  <a:srgbClr val="1E293B"/>
                </a:solidFill>
                <a:latin typeface="Calibri" pitchFamily="34" charset="0"/>
                <a:ea typeface="Calibri" pitchFamily="34" charset="-122"/>
                <a:cs typeface="Calibri" pitchFamily="34" charset="-120"/>
              </a:rPr>
              <a:t>Profile-edit pages; Task_Price_Rule admin UI</a:t>
            </a:r>
            <a:endParaRPr lang="en-US" sz="1400" dirty="0"/>
          </a:p>
          <a:p>
            <a:pPr marL="203200" indent="-203200">
              <a:spcAft>
                <a:spcPts val="1100"/>
              </a:spcAft>
              <a:buSzPct val="100000"/>
              <a:buChar char="•"/>
            </a:pPr>
            <a:r>
              <a:rPr lang="en-US" sz="1400" b="1" dirty="0">
                <a:solidFill>
                  <a:srgbClr val="1E293B"/>
                </a:solidFill>
                <a:latin typeface="Calibri" pitchFamily="34" charset="0"/>
                <a:ea typeface="Calibri" pitchFamily="34" charset="-122"/>
                <a:cs typeface="Calibri" pitchFamily="34" charset="-120"/>
              </a:rPr>
              <a:t>Production hardening: object storage for uploads</a:t>
            </a:r>
            <a:endParaRPr lang="en-US" sz="1400" dirty="0"/>
          </a:p>
          <a:p>
            <a:pPr marL="203200" indent="-203200">
              <a:spcAft>
                <a:spcPts val="1100"/>
              </a:spcAft>
              <a:buSzPct val="100000"/>
              <a:buChar char="•"/>
            </a:pPr>
            <a:r>
              <a:rPr lang="en-US" sz="1400" b="1" dirty="0">
                <a:solidFill>
                  <a:srgbClr val="1E293B"/>
                </a:solidFill>
                <a:latin typeface="Calibri" pitchFamily="34" charset="0"/>
                <a:ea typeface="Calibri" pitchFamily="34" charset="-122"/>
                <a:cs typeface="Calibri" pitchFamily="34" charset="-120"/>
              </a:rPr>
              <a:t>Refresh-token rotation + rate limiting</a:t>
            </a:r>
            <a:endParaRPr lang="en-US" sz="1400" dirty="0"/>
          </a:p>
        </p:txBody>
      </p:sp>
      <p:sp>
        <p:nvSpPr>
          <p:cNvPr id="25" name="Slide Number Placeholder 0"/>
          <p:cNvSpPr>
            <a:spLocks noGrp="1"/>
          </p:cNvSpPr>
          <p:nvPr>
            <p:ph type="sldNum" sz="quarter" idx="4294967295"/>
          </p:nvPr>
        </p:nvSpPr>
        <p:spPr>
          <a:xfrm>
            <a:off x="11612880" y="6455664"/>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latin typeface="Calibri"/>
                <a:ea typeface="Calibri"/>
                <a:cs typeface="Calibri"/>
              </a:defRPr>
            </a:lvl1pPr>
          </a:lstStyle>
          <a:p>
            <a:pPr algn="l"/>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01752"/>
            <a:ext cx="11064240" cy="274320"/>
          </a:xfrm>
          <a:prstGeom prst="rect">
            <a:avLst/>
          </a:prstGeom>
          <a:noFill/>
          <a:ln/>
        </p:spPr>
        <p:txBody>
          <a:bodyPr wrap="square" lIns="0" tIns="0" rIns="0" bIns="0" rtlCol="0" anchor="ctr"/>
          <a:lstStyle/>
          <a:p>
            <a:pPr indent="0" marL="0">
              <a:buNone/>
            </a:pPr>
            <a:r>
              <a:rPr lang="en-US" sz="1100" b="1" spc="200" kern="0" dirty="0">
                <a:solidFill>
                  <a:srgbClr val="FF5A5F"/>
                </a:solidFill>
                <a:latin typeface="Calibri" pitchFamily="34" charset="0"/>
                <a:ea typeface="Calibri" pitchFamily="34" charset="-122"/>
                <a:cs typeface="Calibri" pitchFamily="34" charset="-120"/>
              </a:rPr>
              <a:t>08 · QUALITY</a:t>
            </a:r>
            <a:endParaRPr lang="en-US" sz="110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Georgia" pitchFamily="34" charset="0"/>
                <a:ea typeface="Georgia" pitchFamily="34" charset="-122"/>
                <a:cs typeface="Georgia" pitchFamily="34" charset="-120"/>
              </a:rPr>
              <a:t>Live demo script</a:t>
            </a:r>
            <a:endParaRPr lang="en-US" sz="3000" dirty="0"/>
          </a:p>
        </p:txBody>
      </p:sp>
      <p:sp>
        <p:nvSpPr>
          <p:cNvPr id="4" name="Text 2"/>
          <p:cNvSpPr/>
          <p:nvPr/>
        </p:nvSpPr>
        <p:spPr>
          <a:xfrm>
            <a:off x="640080" y="1600200"/>
            <a:ext cx="6675120" cy="4389120"/>
          </a:xfrm>
          <a:prstGeom prst="rect">
            <a:avLst/>
          </a:prstGeom>
          <a:noFill/>
          <a:ln/>
        </p:spPr>
        <p:txBody>
          <a:bodyPr wrap="square" lIns="0" tIns="0" rIns="0" bIns="0" rtlCol="0" anchor="t"/>
          <a:lstStyle/>
          <a:p>
            <a:pPr marL="342900" indent="-342900">
              <a:spcAft>
                <a:spcPts val="1000"/>
              </a:spcAft>
              <a:buSzPct val="100000"/>
              <a:buFont typeface="+mj-lt"/>
              <a:buAutoNum type="arabicPeriod" startAt="1"/>
            </a:pPr>
            <a:r>
              <a:rPr lang="en-US" sz="1450" dirty="0">
                <a:solidFill>
                  <a:srgbClr val="1E293B"/>
                </a:solidFill>
                <a:latin typeface="Calibri" pitchFamily="34" charset="0"/>
                <a:ea typeface="Calibri" pitchFamily="34" charset="-122"/>
                <a:cs typeface="Calibri" pitchFamily="34" charset="-120"/>
              </a:rPr>
              <a:t>Board logs in → approves a proposal → a Series appears</a:t>
            </a:r>
            <a:endParaRPr lang="en-US" sz="1450" dirty="0"/>
          </a:p>
          <a:p>
            <a:pPr marL="342900" indent="-342900">
              <a:spcAft>
                <a:spcPts val="1000"/>
              </a:spcAft>
              <a:buSzPct val="100000"/>
              <a:buFont typeface="+mj-lt"/>
              <a:buAutoNum type="arabicPeriod" startAt="1"/>
            </a:pPr>
            <a:r>
              <a:rPr lang="en-US" sz="1450" dirty="0">
                <a:solidFill>
                  <a:srgbClr val="1E293B"/>
                </a:solidFill>
                <a:latin typeface="Calibri" pitchFamily="34" charset="0"/>
                <a:ea typeface="Calibri" pitchFamily="34" charset="-122"/>
                <a:cs typeface="Calibri" pitchFamily="34" charset="-120"/>
              </a:rPr>
              <a:t>Board assigns a Tantou editor to the new series</a:t>
            </a:r>
            <a:endParaRPr lang="en-US" sz="1450" dirty="0"/>
          </a:p>
          <a:p>
            <a:pPr marL="342900" indent="-342900">
              <a:spcAft>
                <a:spcPts val="1000"/>
              </a:spcAft>
              <a:buSzPct val="100000"/>
              <a:buFont typeface="+mj-lt"/>
              <a:buAutoNum type="arabicPeriod" startAt="1"/>
            </a:pPr>
            <a:r>
              <a:rPr lang="en-US" sz="1450" dirty="0">
                <a:solidFill>
                  <a:srgbClr val="1E293B"/>
                </a:solidFill>
                <a:latin typeface="Calibri" pitchFamily="34" charset="0"/>
                <a:ea typeface="Calibri" pitchFamily="34" charset="-122"/>
                <a:cs typeface="Calibri" pitchFamily="34" charset="-120"/>
              </a:rPr>
              <a:t>Mangaka builds a chapter, marks regions, creates priced tasks</a:t>
            </a:r>
            <a:endParaRPr lang="en-US" sz="1450" dirty="0"/>
          </a:p>
          <a:p>
            <a:pPr marL="342900" indent="-342900">
              <a:spcAft>
                <a:spcPts val="1000"/>
              </a:spcAft>
              <a:buSzPct val="100000"/>
              <a:buFont typeface="+mj-lt"/>
              <a:buAutoNum type="arabicPeriod" startAt="1"/>
            </a:pPr>
            <a:r>
              <a:rPr lang="en-US" sz="1450" dirty="0">
                <a:solidFill>
                  <a:srgbClr val="1E293B"/>
                </a:solidFill>
                <a:latin typeface="Calibri" pitchFamily="34" charset="0"/>
                <a:ea typeface="Calibri" pitchFamily="34" charset="-122"/>
                <a:cs typeface="Calibri" pitchFamily="34" charset="-120"/>
              </a:rPr>
              <a:t>Assistant starts a task, draws in Studio, submits work</a:t>
            </a:r>
            <a:endParaRPr lang="en-US" sz="1450" dirty="0"/>
          </a:p>
          <a:p>
            <a:pPr marL="342900" indent="-342900">
              <a:spcAft>
                <a:spcPts val="1000"/>
              </a:spcAft>
              <a:buSzPct val="100000"/>
              <a:buFont typeface="+mj-lt"/>
              <a:buAutoNum type="arabicPeriod" startAt="1"/>
            </a:pPr>
            <a:r>
              <a:rPr lang="en-US" sz="1450" dirty="0">
                <a:solidFill>
                  <a:srgbClr val="1E293B"/>
                </a:solidFill>
                <a:latin typeface="Calibri" pitchFamily="34" charset="0"/>
                <a:ea typeface="Calibri" pitchFamily="34" charset="-122"/>
                <a:cs typeface="Calibri" pitchFamily="34" charset="-120"/>
              </a:rPr>
              <a:t>Mangaka approves → assistant's earnings increase</a:t>
            </a:r>
            <a:endParaRPr lang="en-US" sz="1450" dirty="0"/>
          </a:p>
          <a:p>
            <a:pPr marL="342900" indent="-342900">
              <a:spcAft>
                <a:spcPts val="1000"/>
              </a:spcAft>
              <a:buSzPct val="100000"/>
              <a:buFont typeface="+mj-lt"/>
              <a:buAutoNum type="arabicPeriod" startAt="1"/>
            </a:pPr>
            <a:r>
              <a:rPr lang="en-US" sz="1450" dirty="0">
                <a:solidFill>
                  <a:srgbClr val="1E293B"/>
                </a:solidFill>
                <a:latin typeface="Calibri" pitchFamily="34" charset="0"/>
                <a:ea typeface="Calibri" pitchFamily="34" charset="-122"/>
                <a:cs typeface="Calibri" pitchFamily="34" charset="-120"/>
              </a:rPr>
              <a:t>Editor approves the chapter → publish → board votes → decides</a:t>
            </a:r>
            <a:endParaRPr lang="en-US" sz="1450" dirty="0"/>
          </a:p>
        </p:txBody>
      </p:sp>
      <p:sp>
        <p:nvSpPr>
          <p:cNvPr id="5" name="Shape 3"/>
          <p:cNvSpPr/>
          <p:nvPr/>
        </p:nvSpPr>
        <p:spPr>
          <a:xfrm>
            <a:off x="7589520" y="1645920"/>
            <a:ext cx="4023360" cy="4297680"/>
          </a:xfrm>
          <a:prstGeom prst="rect">
            <a:avLst/>
          </a:prstGeom>
          <a:solidFill>
            <a:srgbClr val="F8FAFC"/>
          </a:solidFill>
          <a:ln w="9525">
            <a:solidFill>
              <a:srgbClr val="CBD5E1"/>
            </a:solidFill>
            <a:prstDash val="solid"/>
          </a:ln>
          <a:effectLst>
            <a:outerShdw sx="100000" sy="100000" kx="0" ky="0" algn="bl" rotWithShape="0" blurRad="88900" dist="38100" dir="8100000">
              <a:srgbClr val="000000">
                <a:alpha val="16000"/>
              </a:srgbClr>
            </a:outerShdw>
          </a:effectLst>
        </p:spPr>
      </p:sp>
      <p:sp>
        <p:nvSpPr>
          <p:cNvPr id="6" name="Text 4"/>
          <p:cNvSpPr/>
          <p:nvPr/>
        </p:nvSpPr>
        <p:spPr>
          <a:xfrm>
            <a:off x="7818120" y="1810512"/>
            <a:ext cx="3657600" cy="320040"/>
          </a:xfrm>
          <a:prstGeom prst="rect">
            <a:avLst/>
          </a:prstGeom>
          <a:noFill/>
          <a:ln/>
        </p:spPr>
        <p:txBody>
          <a:bodyPr wrap="square" lIns="0" tIns="0" rIns="0" bIns="0" rtlCol="0" anchor="ctr"/>
          <a:lstStyle/>
          <a:p>
            <a:pPr indent="0" marL="0">
              <a:buNone/>
            </a:pPr>
            <a:r>
              <a:rPr lang="en-US" sz="1350" b="1" dirty="0">
                <a:solidFill>
                  <a:srgbClr val="1E2761"/>
                </a:solidFill>
                <a:latin typeface="Georgia" pitchFamily="34" charset="0"/>
                <a:ea typeface="Georgia" pitchFamily="34" charset="-122"/>
                <a:cs typeface="Georgia" pitchFamily="34" charset="-120"/>
              </a:rPr>
              <a:t>DEMO LOGINS</a:t>
            </a:r>
            <a:endParaRPr lang="en-US" sz="1350" dirty="0"/>
          </a:p>
        </p:txBody>
      </p:sp>
      <p:sp>
        <p:nvSpPr>
          <p:cNvPr id="7" name="Text 5"/>
          <p:cNvSpPr/>
          <p:nvPr/>
        </p:nvSpPr>
        <p:spPr>
          <a:xfrm>
            <a:off x="7818120" y="2194560"/>
            <a:ext cx="3657600" cy="3657600"/>
          </a:xfrm>
          <a:prstGeom prst="rect">
            <a:avLst/>
          </a:prstGeom>
          <a:noFill/>
          <a:ln/>
        </p:spPr>
        <p:txBody>
          <a:bodyPr wrap="square" lIns="0" tIns="0" rIns="0" bIns="0" rtlCol="0" anchor="t"/>
          <a:lstStyle/>
          <a:p>
            <a:pPr indent="0" marL="0">
              <a:spcAft>
                <a:spcPts val="300"/>
              </a:spcAft>
              <a:buNone/>
            </a:pPr>
            <a:r>
              <a:rPr lang="en-US" sz="1300" b="1" dirty="0">
                <a:solidFill>
                  <a:srgbClr val="7C3AED"/>
                </a:solidFill>
                <a:latin typeface="Calibri" pitchFamily="34" charset="0"/>
                <a:ea typeface="Calibri" pitchFamily="34" charset="-122"/>
                <a:cs typeface="Calibri" pitchFamily="34" charset="-120"/>
              </a:rPr>
              <a:t>mangaka</a:t>
            </a:r>
            <a:endParaRPr lang="en-US" sz="1300" dirty="0"/>
          </a:p>
          <a:p>
            <a:pPr indent="0" marL="0">
              <a:spcAft>
                <a:spcPts val="300"/>
              </a:spcAft>
              <a:buNone/>
            </a:pPr>
            <a:r>
              <a:rPr lang="en-US" sz="1100" dirty="0">
                <a:solidFill>
                  <a:srgbClr val="64748B"/>
                </a:solidFill>
                <a:latin typeface="Calibri" pitchFamily="34" charset="0"/>
                <a:ea typeface="Calibri" pitchFamily="34" charset="-122"/>
                <a:cs typeface="Calibri" pitchFamily="34" charset="-120"/>
              </a:rPr>
              <a:t>dungminer69@gmail.com</a:t>
            </a:r>
            <a:endParaRPr lang="en-US" sz="1300" dirty="0"/>
          </a:p>
          <a:p>
            <a:pPr indent="0" marL="0">
              <a:spcAft>
                <a:spcPts val="300"/>
              </a:spcAft>
              <a:buNone/>
            </a:pPr>
            <a:r>
              <a:rPr lang="en-US" sz="1300" b="1" dirty="0">
                <a:solidFill>
                  <a:srgbClr val="0EA5E9"/>
                </a:solidFill>
                <a:latin typeface="Calibri" pitchFamily="34" charset="0"/>
                <a:ea typeface="Calibri" pitchFamily="34" charset="-122"/>
                <a:cs typeface="Calibri" pitchFamily="34" charset="-120"/>
              </a:rPr>
              <a:t>assistant</a:t>
            </a:r>
            <a:endParaRPr lang="en-US" sz="1300" dirty="0"/>
          </a:p>
          <a:p>
            <a:pPr indent="0" marL="0">
              <a:spcAft>
                <a:spcPts val="300"/>
              </a:spcAft>
              <a:buNone/>
            </a:pPr>
            <a:r>
              <a:rPr lang="en-US" sz="1100" dirty="0">
                <a:solidFill>
                  <a:srgbClr val="64748B"/>
                </a:solidFill>
                <a:latin typeface="Calibri" pitchFamily="34" charset="0"/>
                <a:ea typeface="Calibri" pitchFamily="34" charset="-122"/>
                <a:cs typeface="Calibri" pitchFamily="34" charset="-120"/>
              </a:rPr>
              <a:t>mai.assistant@inkframe.studio</a:t>
            </a:r>
            <a:endParaRPr lang="en-US" sz="1300" dirty="0"/>
          </a:p>
          <a:p>
            <a:pPr indent="0" marL="0">
              <a:spcAft>
                <a:spcPts val="300"/>
              </a:spcAft>
              <a:buNone/>
            </a:pPr>
            <a:r>
              <a:rPr lang="en-US" sz="1300" b="1" dirty="0">
                <a:solidFill>
                  <a:srgbClr val="F59E0B"/>
                </a:solidFill>
                <a:latin typeface="Calibri" pitchFamily="34" charset="0"/>
                <a:ea typeface="Calibri" pitchFamily="34" charset="-122"/>
                <a:cs typeface="Calibri" pitchFamily="34" charset="-120"/>
              </a:rPr>
              <a:t>editor</a:t>
            </a:r>
            <a:endParaRPr lang="en-US" sz="1300" dirty="0"/>
          </a:p>
          <a:p>
            <a:pPr indent="0" marL="0">
              <a:spcAft>
                <a:spcPts val="300"/>
              </a:spcAft>
              <a:buNone/>
            </a:pPr>
            <a:r>
              <a:rPr lang="en-US" sz="1100" dirty="0">
                <a:solidFill>
                  <a:srgbClr val="64748B"/>
                </a:solidFill>
                <a:latin typeface="Calibri" pitchFamily="34" charset="0"/>
                <a:ea typeface="Calibri" pitchFamily="34" charset="-122"/>
                <a:cs typeface="Calibri" pitchFamily="34" charset="-120"/>
              </a:rPr>
              <a:t>hiroshi.editor@inkframe.studio</a:t>
            </a:r>
            <a:endParaRPr lang="en-US" sz="1300" dirty="0"/>
          </a:p>
          <a:p>
            <a:pPr indent="0" marL="0">
              <a:spcAft>
                <a:spcPts val="300"/>
              </a:spcAft>
              <a:buNone/>
            </a:pPr>
            <a:r>
              <a:rPr lang="en-US" sz="1300" b="1" dirty="0">
                <a:solidFill>
                  <a:srgbClr val="10B981"/>
                </a:solidFill>
                <a:latin typeface="Calibri" pitchFamily="34" charset="0"/>
                <a:ea typeface="Calibri" pitchFamily="34" charset="-122"/>
                <a:cs typeface="Calibri" pitchFamily="34" charset="-120"/>
              </a:rPr>
              <a:t>board</a:t>
            </a:r>
            <a:endParaRPr lang="en-US" sz="1300" dirty="0"/>
          </a:p>
          <a:p>
            <a:pPr indent="0" marL="0">
              <a:spcAft>
                <a:spcPts val="300"/>
              </a:spcAft>
              <a:buNone/>
            </a:pPr>
            <a:r>
              <a:rPr lang="en-US" sz="1100" dirty="0">
                <a:solidFill>
                  <a:srgbClr val="64748B"/>
                </a:solidFill>
                <a:latin typeface="Calibri" pitchFamily="34" charset="0"/>
                <a:ea typeface="Calibri" pitchFamily="34" charset="-122"/>
                <a:cs typeface="Calibri" pitchFamily="34" charset="-120"/>
              </a:rPr>
              <a:t>yamamoto.board@inkframe.studio</a:t>
            </a:r>
            <a:endParaRPr lang="en-US" sz="1300" dirty="0"/>
          </a:p>
          <a:p>
            <a:pPr indent="0" marL="0">
              <a:spcAft>
                <a:spcPts val="300"/>
              </a:spcAft>
              <a:buNone/>
            </a:pPr>
            <a:r>
              <a:rPr lang="en-US" sz="1300" b="1" dirty="0">
                <a:solidFill>
                  <a:srgbClr val="EF4444"/>
                </a:solidFill>
                <a:latin typeface="Calibri" pitchFamily="34" charset="0"/>
                <a:ea typeface="Calibri" pitchFamily="34" charset="-122"/>
                <a:cs typeface="Calibri" pitchFamily="34" charset="-120"/>
              </a:rPr>
              <a:t>admin</a:t>
            </a:r>
            <a:endParaRPr lang="en-US" sz="1300" dirty="0"/>
          </a:p>
          <a:p>
            <a:pPr indent="0" marL="0">
              <a:spcAft>
                <a:spcPts val="300"/>
              </a:spcAft>
              <a:buNone/>
            </a:pPr>
            <a:r>
              <a:rPr lang="en-US" sz="1100" dirty="0">
                <a:solidFill>
                  <a:srgbClr val="64748B"/>
                </a:solidFill>
                <a:latin typeface="Calibri" pitchFamily="34" charset="0"/>
                <a:ea typeface="Calibri" pitchFamily="34" charset="-122"/>
                <a:cs typeface="Calibri" pitchFamily="34" charset="-120"/>
              </a:rPr>
              <a:t>admin@inkframe.studio</a:t>
            </a:r>
            <a:endParaRPr lang="en-US" sz="1300" dirty="0"/>
          </a:p>
          <a:p>
            <a:pPr indent="0" marL="0">
              <a:spcAft>
                <a:spcPts val="300"/>
              </a:spcAft>
              <a:buNone/>
            </a:pPr>
            <a:r>
              <a:rPr lang="en-US" sz="1050" i="1" dirty="0">
                <a:solidFill>
                  <a:srgbClr val="64748B"/>
                </a:solidFill>
                <a:latin typeface="Calibri" pitchFamily="34" charset="0"/>
                <a:ea typeface="Calibri" pitchFamily="34" charset="-122"/>
                <a:cs typeface="Calibri" pitchFamily="34" charset="-120"/>
              </a:rPr>
              <a:t>password: Dung123456@  (local demo seed)</a:t>
            </a:r>
            <a:endParaRPr lang="en-US" sz="1300" dirty="0"/>
          </a:p>
        </p:txBody>
      </p:sp>
      <p:sp>
        <p:nvSpPr>
          <p:cNvPr id="25" name="Slide Number Placeholder 0"/>
          <p:cNvSpPr>
            <a:spLocks noGrp="1"/>
          </p:cNvSpPr>
          <p:nvPr>
            <p:ph type="sldNum" sz="quarter" idx="4294967295"/>
          </p:nvPr>
        </p:nvSpPr>
        <p:spPr>
          <a:xfrm>
            <a:off x="11612880" y="6455664"/>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latin typeface="Calibri"/>
                <a:ea typeface="Calibri"/>
                <a:cs typeface="Calibri"/>
              </a:defRPr>
            </a:lvl1pPr>
          </a:lstStyle>
          <a:p>
            <a:pPr algn="l"/>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14142B"/>
        </a:solidFill>
      </p:bgPr>
    </p:bg>
    <p:spTree>
      <p:nvGrpSpPr>
        <p:cNvPr id="1" name=""/>
        <p:cNvGrpSpPr/>
        <p:nvPr/>
      </p:nvGrpSpPr>
      <p:grpSpPr>
        <a:xfrm>
          <a:off x="0" y="0"/>
          <a:ext cx="0" cy="0"/>
          <a:chOff x="0" y="0"/>
          <a:chExt cx="0" cy="0"/>
        </a:xfrm>
      </p:grpSpPr>
      <p:sp>
        <p:nvSpPr>
          <p:cNvPr id="2" name="Shape 0"/>
          <p:cNvSpPr/>
          <p:nvPr/>
        </p:nvSpPr>
        <p:spPr>
          <a:xfrm>
            <a:off x="9875520" y="4480560"/>
            <a:ext cx="3474720" cy="3474720"/>
          </a:xfrm>
          <a:prstGeom prst="ellipse">
            <a:avLst/>
          </a:prstGeom>
          <a:solidFill>
            <a:srgbClr val="1E2761"/>
          </a:solidFill>
          <a:ln/>
        </p:spPr>
      </p:sp>
      <p:sp>
        <p:nvSpPr>
          <p:cNvPr id="3" name="Text 1"/>
          <p:cNvSpPr/>
          <p:nvPr/>
        </p:nvSpPr>
        <p:spPr>
          <a:xfrm>
            <a:off x="822960" y="2194560"/>
            <a:ext cx="10058400" cy="1097280"/>
          </a:xfrm>
          <a:prstGeom prst="rect">
            <a:avLst/>
          </a:prstGeom>
          <a:noFill/>
          <a:ln/>
        </p:spPr>
        <p:txBody>
          <a:bodyPr wrap="square" lIns="0" tIns="0" rIns="0" bIns="0" rtlCol="0" anchor="ctr"/>
          <a:lstStyle/>
          <a:p>
            <a:pPr indent="0" marL="0">
              <a:buNone/>
            </a:pPr>
            <a:r>
              <a:rPr lang="en-US" sz="5400" b="1" dirty="0">
                <a:solidFill>
                  <a:srgbClr val="FFFFFF"/>
                </a:solidFill>
                <a:latin typeface="Georgia" pitchFamily="34" charset="0"/>
                <a:ea typeface="Georgia" pitchFamily="34" charset="-122"/>
                <a:cs typeface="Georgia" pitchFamily="34" charset="-120"/>
              </a:rPr>
              <a:t>Thank you</a:t>
            </a:r>
            <a:endParaRPr lang="en-US" sz="5400" dirty="0"/>
          </a:p>
        </p:txBody>
      </p:sp>
      <p:sp>
        <p:nvSpPr>
          <p:cNvPr id="4" name="Text 2"/>
          <p:cNvSpPr/>
          <p:nvPr/>
        </p:nvSpPr>
        <p:spPr>
          <a:xfrm>
            <a:off x="868680" y="3383280"/>
            <a:ext cx="10058400" cy="548640"/>
          </a:xfrm>
          <a:prstGeom prst="rect">
            <a:avLst/>
          </a:prstGeom>
          <a:noFill/>
          <a:ln/>
        </p:spPr>
        <p:txBody>
          <a:bodyPr wrap="square" lIns="0" tIns="0" rIns="0" bIns="0" rtlCol="0" anchor="ctr"/>
          <a:lstStyle/>
          <a:p>
            <a:pPr indent="0" marL="0">
              <a:buNone/>
            </a:pPr>
            <a:r>
              <a:rPr lang="en-US" sz="2000" dirty="0">
                <a:solidFill>
                  <a:srgbClr val="FF5A5F"/>
                </a:solidFill>
                <a:latin typeface="Calibri" pitchFamily="34" charset="0"/>
                <a:ea typeface="Calibri" pitchFamily="34" charset="-122"/>
                <a:cs typeface="Calibri" pitchFamily="34" charset="-120"/>
              </a:rPr>
              <a:t>Questions &amp; live demo</a:t>
            </a:r>
            <a:endParaRPr lang="en-US" sz="2000" dirty="0"/>
          </a:p>
        </p:txBody>
      </p:sp>
      <p:sp>
        <p:nvSpPr>
          <p:cNvPr id="5" name="Text 3"/>
          <p:cNvSpPr/>
          <p:nvPr/>
        </p:nvSpPr>
        <p:spPr>
          <a:xfrm>
            <a:off x="868680" y="4206240"/>
            <a:ext cx="9601200" cy="914400"/>
          </a:xfrm>
          <a:prstGeom prst="rect">
            <a:avLst/>
          </a:prstGeom>
          <a:noFill/>
          <a:ln/>
        </p:spPr>
        <p:txBody>
          <a:bodyPr wrap="square" lIns="0" tIns="0" rIns="0" bIns="0" rtlCol="0" anchor="ctr"/>
          <a:lstStyle/>
          <a:p>
            <a:pPr indent="0" marL="0">
              <a:buNone/>
            </a:pPr>
            <a:r>
              <a:rPr lang="en-US" sz="1400" dirty="0">
                <a:solidFill>
                  <a:srgbClr val="E8EDF9"/>
                </a:solidFill>
                <a:latin typeface="Calibri" pitchFamily="34" charset="0"/>
                <a:ea typeface="Calibri" pitchFamily="34" charset="-122"/>
                <a:cs typeface="Calibri" pitchFamily="34" charset="-120"/>
              </a:rPr>
              <a:t>Full technical docs: documents/ — overview, architecture, database design, API reference (66 endpoints), diagrams, and per-role guides.</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41</Slides>
  <Notes>41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41</vt:i4>
      </vt:variant>
    </vt:vector>
  </HeadingPairs>
  <TitlesOfParts>
    <vt:vector size="4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Manga Creation Workflow &amp; Publishing Management System</dc:title>
  <dc:subject>PptxGenJS Presentation</dc:subject>
  <dc:creator>SWP391 Team</dc:creator>
  <cp:lastModifiedBy>SWP391 Team</cp:lastModifiedBy>
  <cp:revision>1</cp:revision>
  <dcterms:created xsi:type="dcterms:W3CDTF">2026-05-31T19:09:37Z</dcterms:created>
  <dcterms:modified xsi:type="dcterms:W3CDTF">2026-05-31T19:09:37Z</dcterms:modified>
</cp:coreProperties>
</file>